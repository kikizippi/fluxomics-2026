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0"/>
  </p:notesMasterIdLst>
  <p:sldIdLst>
    <p:sldId id="256" r:id="rId2"/>
    <p:sldId id="305" r:id="rId3"/>
    <p:sldId id="306" r:id="rId4"/>
    <p:sldId id="259" r:id="rId5"/>
    <p:sldId id="307" r:id="rId6"/>
    <p:sldId id="257" r:id="rId7"/>
    <p:sldId id="308" r:id="rId8"/>
    <p:sldId id="311" r:id="rId9"/>
    <p:sldId id="313" r:id="rId10"/>
    <p:sldId id="314" r:id="rId11"/>
    <p:sldId id="315" r:id="rId12"/>
    <p:sldId id="261" r:id="rId13"/>
    <p:sldId id="262" r:id="rId14"/>
    <p:sldId id="271" r:id="rId15"/>
    <p:sldId id="316" r:id="rId16"/>
    <p:sldId id="317" r:id="rId17"/>
    <p:sldId id="266" r:id="rId18"/>
    <p:sldId id="283" r:id="rId19"/>
  </p:sldIdLst>
  <p:sldSz cx="9144000" cy="5143500" type="screen16x9"/>
  <p:notesSz cx="6858000" cy="9144000"/>
  <p:embeddedFontLst>
    <p:embeddedFont>
      <p:font typeface="Archivo" panose="020B0604020202020204" charset="0"/>
      <p:regular r:id="rId21"/>
      <p:bold r:id="rId22"/>
      <p:italic r:id="rId23"/>
      <p:boldItalic r:id="rId24"/>
    </p:embeddedFont>
    <p:embeddedFont>
      <p:font typeface="Archivo ExtraBold" panose="020B0604020202020204" charset="0"/>
      <p:bold r:id="rId25"/>
      <p:boldItalic r:id="rId26"/>
    </p:embeddedFont>
    <p:embeddedFont>
      <p:font typeface="Archivo SemiBold" panose="020B0604020202020204" charset="0"/>
      <p:regular r:id="rId27"/>
      <p:bold r:id="rId28"/>
      <p:italic r:id="rId29"/>
      <p:boldItalic r:id="rId30"/>
    </p:embeddedFont>
    <p:embeddedFont>
      <p:font typeface="Manrope" panose="020B0604020202020204" charset="0"/>
      <p:regular r:id="rId31"/>
      <p:bold r:id="rId32"/>
    </p:embeddedFont>
    <p:embeddedFont>
      <p:font typeface="Manrope Medium" panose="020B0604020202020204" charset="0"/>
      <p:regular r:id="rId33"/>
      <p:bold r:id="rId34"/>
    </p:embeddedFont>
    <p:embeddedFont>
      <p:font typeface="Nunito Light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B40B1C-C6FC-4F9A-9B64-01A4D7B7A8F9}">
  <a:tblStyle styleId="{7DB40B1C-C6FC-4F9A-9B64-01A4D7B7A8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0719" autoAdjust="0"/>
  </p:normalViewPr>
  <p:slideViewPr>
    <p:cSldViewPr snapToGrid="0">
      <p:cViewPr varScale="1">
        <p:scale>
          <a:sx n="99" d="100"/>
          <a:sy n="99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>
          <a:extLst>
            <a:ext uri="{FF2B5EF4-FFF2-40B4-BE49-F238E27FC236}">
              <a16:creationId xmlns:a16="http://schemas.microsoft.com/office/drawing/2014/main" id="{38721E26-F067-BF4E-F6CA-E4F65B49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2161ca7da69_2_7:notes">
            <a:extLst>
              <a:ext uri="{FF2B5EF4-FFF2-40B4-BE49-F238E27FC236}">
                <a16:creationId xmlns:a16="http://schemas.microsoft.com/office/drawing/2014/main" id="{56445845-FEBC-6C9F-5075-B3E43CC93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161ca7da69_2_7:notes">
            <a:extLst>
              <a:ext uri="{FF2B5EF4-FFF2-40B4-BE49-F238E27FC236}">
                <a16:creationId xmlns:a16="http://schemas.microsoft.com/office/drawing/2014/main" id="{319EF7F3-12FE-D046-C5C3-C75C8F437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878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>
          <a:extLst>
            <a:ext uri="{FF2B5EF4-FFF2-40B4-BE49-F238E27FC236}">
              <a16:creationId xmlns:a16="http://schemas.microsoft.com/office/drawing/2014/main" id="{105F74C1-C626-C26E-4B17-61EDEA46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133f6155f6d_0_30:notes">
            <a:extLst>
              <a:ext uri="{FF2B5EF4-FFF2-40B4-BE49-F238E27FC236}">
                <a16:creationId xmlns:a16="http://schemas.microsoft.com/office/drawing/2014/main" id="{21B74D82-7497-4228-26F8-B5BC50995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133f6155f6d_0_30:notes">
            <a:extLst>
              <a:ext uri="{FF2B5EF4-FFF2-40B4-BE49-F238E27FC236}">
                <a16:creationId xmlns:a16="http://schemas.microsoft.com/office/drawing/2014/main" id="{AD966450-61E8-E50D-2746-6D56E8782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9779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6">
          <a:extLst>
            <a:ext uri="{FF2B5EF4-FFF2-40B4-BE49-F238E27FC236}">
              <a16:creationId xmlns:a16="http://schemas.microsoft.com/office/drawing/2014/main" id="{F3E4ABB0-D1D9-127E-713F-7A10C7B0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117b871a421_0_0:notes">
            <a:extLst>
              <a:ext uri="{FF2B5EF4-FFF2-40B4-BE49-F238E27FC236}">
                <a16:creationId xmlns:a16="http://schemas.microsoft.com/office/drawing/2014/main" id="{BCA2DE28-0BD6-E149-EE44-D7CDFE37E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117b871a421_0_0:notes">
            <a:extLst>
              <a:ext uri="{FF2B5EF4-FFF2-40B4-BE49-F238E27FC236}">
                <a16:creationId xmlns:a16="http://schemas.microsoft.com/office/drawing/2014/main" id="{AC015A54-E9B2-B771-C0E7-897FC7304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1759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8">
          <a:extLst>
            <a:ext uri="{FF2B5EF4-FFF2-40B4-BE49-F238E27FC236}">
              <a16:creationId xmlns:a16="http://schemas.microsoft.com/office/drawing/2014/main" id="{A29B7D2D-4980-B8CF-29B6-332AF1D73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54dda1946d_4_2679:notes">
            <a:extLst>
              <a:ext uri="{FF2B5EF4-FFF2-40B4-BE49-F238E27FC236}">
                <a16:creationId xmlns:a16="http://schemas.microsoft.com/office/drawing/2014/main" id="{4C4B78F3-022D-BED7-07D8-0317B9BB2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54dda1946d_4_2679:notes">
            <a:extLst>
              <a:ext uri="{FF2B5EF4-FFF2-40B4-BE49-F238E27FC236}">
                <a16:creationId xmlns:a16="http://schemas.microsoft.com/office/drawing/2014/main" id="{57D276AD-D233-EFB6-A2A1-D2FA1D016A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359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7">
          <a:extLst>
            <a:ext uri="{FF2B5EF4-FFF2-40B4-BE49-F238E27FC236}">
              <a16:creationId xmlns:a16="http://schemas.microsoft.com/office/drawing/2014/main" id="{6C69BBA6-DAA2-AA10-F68B-0C43282D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7a75a1ee5a_0_664:notes">
            <a:extLst>
              <a:ext uri="{FF2B5EF4-FFF2-40B4-BE49-F238E27FC236}">
                <a16:creationId xmlns:a16="http://schemas.microsoft.com/office/drawing/2014/main" id="{910627CC-D454-1AC6-055B-798EC568C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27a75a1ee5a_0_664:notes">
            <a:extLst>
              <a:ext uri="{FF2B5EF4-FFF2-40B4-BE49-F238E27FC236}">
                <a16:creationId xmlns:a16="http://schemas.microsoft.com/office/drawing/2014/main" id="{59605895-F745-2B64-830B-96AC5BA3DA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2301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>
          <a:extLst>
            <a:ext uri="{FF2B5EF4-FFF2-40B4-BE49-F238E27FC236}">
              <a16:creationId xmlns:a16="http://schemas.microsoft.com/office/drawing/2014/main" id="{DD034678-C52E-FC1B-A285-29BB9226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ed9256fe6f_0_23:notes">
            <a:extLst>
              <a:ext uri="{FF2B5EF4-FFF2-40B4-BE49-F238E27FC236}">
                <a16:creationId xmlns:a16="http://schemas.microsoft.com/office/drawing/2014/main" id="{BA33FCE6-D4E7-7C0B-C3CF-5C6DDF7BA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ed9256fe6f_0_23:notes">
            <a:extLst>
              <a:ext uri="{FF2B5EF4-FFF2-40B4-BE49-F238E27FC236}">
                <a16:creationId xmlns:a16="http://schemas.microsoft.com/office/drawing/2014/main" id="{76778754-1E5E-FCC6-9BCC-923167294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1436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930480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>
          <a:extLst>
            <a:ext uri="{FF2B5EF4-FFF2-40B4-BE49-F238E27FC236}">
              <a16:creationId xmlns:a16="http://schemas.microsoft.com/office/drawing/2014/main" id="{D29B8825-16FE-1972-2010-67FD8AA5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133f6155f6d_0_30:notes">
            <a:extLst>
              <a:ext uri="{FF2B5EF4-FFF2-40B4-BE49-F238E27FC236}">
                <a16:creationId xmlns:a16="http://schemas.microsoft.com/office/drawing/2014/main" id="{8B42615B-3DBE-8767-783E-227E1F2814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133f6155f6d_0_30:notes">
            <a:extLst>
              <a:ext uri="{FF2B5EF4-FFF2-40B4-BE49-F238E27FC236}">
                <a16:creationId xmlns:a16="http://schemas.microsoft.com/office/drawing/2014/main" id="{DBBF67EE-545F-08A1-C34C-4289381D8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900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9F9A25EB-CB44-ADB3-3002-C2FE653A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54dda1946d_6_322:notes">
            <a:extLst>
              <a:ext uri="{FF2B5EF4-FFF2-40B4-BE49-F238E27FC236}">
                <a16:creationId xmlns:a16="http://schemas.microsoft.com/office/drawing/2014/main" id="{186428D3-962E-9B12-3C68-BF2F02B3E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54dda1946d_6_322:notes">
            <a:extLst>
              <a:ext uri="{FF2B5EF4-FFF2-40B4-BE49-F238E27FC236}">
                <a16:creationId xmlns:a16="http://schemas.microsoft.com/office/drawing/2014/main" id="{C48FD715-25AA-9BA7-7B1A-CF0156A70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459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6">
          <a:extLst>
            <a:ext uri="{FF2B5EF4-FFF2-40B4-BE49-F238E27FC236}">
              <a16:creationId xmlns:a16="http://schemas.microsoft.com/office/drawing/2014/main" id="{8CD49AC8-76D2-446C-2B24-EC31B9A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54dda1946d_6_322:notes">
            <a:extLst>
              <a:ext uri="{FF2B5EF4-FFF2-40B4-BE49-F238E27FC236}">
                <a16:creationId xmlns:a16="http://schemas.microsoft.com/office/drawing/2014/main" id="{8BE9D977-2CF5-3A05-9E54-48CEFF193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54dda1946d_6_322:notes">
            <a:extLst>
              <a:ext uri="{FF2B5EF4-FFF2-40B4-BE49-F238E27FC236}">
                <a16:creationId xmlns:a16="http://schemas.microsoft.com/office/drawing/2014/main" id="{520D4992-069A-441F-0914-FA2926B2C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0717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1340135a0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1340135a0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74481" y="-126454"/>
            <a:ext cx="9768655" cy="7207936"/>
            <a:chOff x="-374481" y="-126454"/>
            <a:chExt cx="9768655" cy="720793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24551" y="-11"/>
              <a:ext cx="2900789" cy="3300787"/>
              <a:chOff x="-324551" y="-11"/>
              <a:chExt cx="2900789" cy="330078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454705" y="329973"/>
                <a:ext cx="121533" cy="10491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-324551" y="-11"/>
                <a:ext cx="2478457" cy="3300787"/>
                <a:chOff x="-324551" y="-11"/>
                <a:chExt cx="2478457" cy="3300787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324551" y="2400005"/>
                  <a:ext cx="299888" cy="25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410441" y="197665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410441" y="169442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-324551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410441" y="112892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-324551" y="70557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499626" y="2875288"/>
                  <a:ext cx="121533" cy="105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737"/>
                      </a:lnTo>
                      <a:lnTo>
                        <a:pt x="5804" y="6737"/>
                      </a:lnTo>
                      <a:lnTo>
                        <a:pt x="7736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98803" y="3195943"/>
                  <a:ext cx="121533" cy="10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5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198361" y="87190"/>
                  <a:ext cx="120590" cy="10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6" h="6673" extrusionOk="0">
                      <a:moveTo>
                        <a:pt x="1872" y="1"/>
                      </a:moveTo>
                      <a:lnTo>
                        <a:pt x="0" y="3369"/>
                      </a:lnTo>
                      <a:lnTo>
                        <a:pt x="1872" y="6673"/>
                      </a:lnTo>
                      <a:lnTo>
                        <a:pt x="5739" y="6673"/>
                      </a:lnTo>
                      <a:lnTo>
                        <a:pt x="7675" y="3369"/>
                      </a:lnTo>
                      <a:lnTo>
                        <a:pt x="5739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2032357" y="131293"/>
                  <a:ext cx="121548" cy="104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7" h="6679" extrusionOk="0">
                      <a:moveTo>
                        <a:pt x="1932" y="1"/>
                      </a:moveTo>
                      <a:lnTo>
                        <a:pt x="1" y="3369"/>
                      </a:lnTo>
                      <a:lnTo>
                        <a:pt x="1932" y="6678"/>
                      </a:lnTo>
                      <a:lnTo>
                        <a:pt x="5800" y="6678"/>
                      </a:lnTo>
                      <a:lnTo>
                        <a:pt x="7736" y="3369"/>
                      </a:lnTo>
                      <a:lnTo>
                        <a:pt x="5800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133144" y="2666573"/>
                  <a:ext cx="184263" cy="15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9" h="10166" extrusionOk="0">
                      <a:moveTo>
                        <a:pt x="2930" y="0"/>
                      </a:moveTo>
                      <a:lnTo>
                        <a:pt x="1" y="5115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11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739499" y="870932"/>
                  <a:ext cx="184247" cy="15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329680" y="220510"/>
                  <a:ext cx="185268" cy="159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3" h="10167" extrusionOk="0">
                      <a:moveTo>
                        <a:pt x="2934" y="1"/>
                      </a:moveTo>
                      <a:lnTo>
                        <a:pt x="0" y="5116"/>
                      </a:lnTo>
                      <a:lnTo>
                        <a:pt x="2934" y="10166"/>
                      </a:lnTo>
                      <a:lnTo>
                        <a:pt x="8798" y="10166"/>
                      </a:lnTo>
                      <a:lnTo>
                        <a:pt x="11792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323266" y="2308824"/>
                  <a:ext cx="184247" cy="15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0" y="1"/>
                      </a:moveTo>
                      <a:lnTo>
                        <a:pt x="0" y="5056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056"/>
                      </a:lnTo>
                      <a:lnTo>
                        <a:pt x="8793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26008" y="2481305"/>
                  <a:ext cx="184247" cy="15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4" y="1"/>
                      </a:moveTo>
                      <a:lnTo>
                        <a:pt x="0" y="5056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05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503546" y="2592102"/>
                  <a:ext cx="184247" cy="159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0" y="1"/>
                      </a:moveTo>
                      <a:lnTo>
                        <a:pt x="1" y="5051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1"/>
                      </a:lnTo>
                      <a:lnTo>
                        <a:pt x="879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1675646" y="495859"/>
                  <a:ext cx="184263" cy="15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9" h="10171" extrusionOk="0">
                      <a:moveTo>
                        <a:pt x="2930" y="0"/>
                      </a:moveTo>
                      <a:lnTo>
                        <a:pt x="1" y="5055"/>
                      </a:lnTo>
                      <a:lnTo>
                        <a:pt x="2930" y="10171"/>
                      </a:lnTo>
                      <a:lnTo>
                        <a:pt x="8794" y="10171"/>
                      </a:lnTo>
                      <a:lnTo>
                        <a:pt x="11728" y="505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900436" y="28221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-79554" y="-11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-79554" y="197665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65444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65444" y="987802"/>
                  <a:ext cx="299888" cy="259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-79554" y="56444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410441" y="28221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-324551" y="141096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-79554" y="2258898"/>
                  <a:ext cx="299888" cy="25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165444" y="1835529"/>
                  <a:ext cx="299888" cy="25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70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-79554" y="169442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655439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-79554" y="1411155"/>
                  <a:ext cx="299888" cy="259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43;p2"/>
                <p:cNvGrpSpPr/>
                <p:nvPr/>
              </p:nvGrpSpPr>
              <p:grpSpPr>
                <a:xfrm>
                  <a:off x="-324551" y="141096"/>
                  <a:ext cx="789883" cy="1953177"/>
                  <a:chOff x="2886825" y="590200"/>
                  <a:chExt cx="1256975" cy="3108175"/>
                </a:xfrm>
              </p:grpSpPr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2886825" y="3286625"/>
                    <a:ext cx="477225" cy="41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470" extrusionOk="0">
                        <a:moveTo>
                          <a:pt x="4742" y="1"/>
                        </a:moveTo>
                        <a:lnTo>
                          <a:pt x="1" y="8235"/>
                        </a:lnTo>
                        <a:lnTo>
                          <a:pt x="4742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2886825" y="1039350"/>
                    <a:ext cx="477225" cy="41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534" extrusionOk="0">
                        <a:moveTo>
                          <a:pt x="4742" y="0"/>
                        </a:moveTo>
                        <a:lnTo>
                          <a:pt x="1" y="8234"/>
                        </a:lnTo>
                        <a:lnTo>
                          <a:pt x="4742" y="16533"/>
                        </a:lnTo>
                        <a:lnTo>
                          <a:pt x="14288" y="16533"/>
                        </a:lnTo>
                        <a:lnTo>
                          <a:pt x="19089" y="8234"/>
                        </a:lnTo>
                        <a:lnTo>
                          <a:pt x="1428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3666575" y="590200"/>
                    <a:ext cx="477225" cy="411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469" extrusionOk="0">
                        <a:moveTo>
                          <a:pt x="4806" y="1"/>
                        </a:moveTo>
                        <a:lnTo>
                          <a:pt x="1" y="8235"/>
                        </a:lnTo>
                        <a:lnTo>
                          <a:pt x="4806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" name="Google Shape;47;p2"/>
                <p:cNvSpPr/>
                <p:nvPr/>
              </p:nvSpPr>
              <p:spPr>
                <a:xfrm>
                  <a:off x="165444" y="1270048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-79554" y="112892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-324551" y="1270048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-79554" y="84669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10441" y="56444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655439" y="42334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165444" y="42334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410441" y="-11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5" name="Google Shape;55;p2"/>
            <p:cNvGrpSpPr/>
            <p:nvPr/>
          </p:nvGrpSpPr>
          <p:grpSpPr>
            <a:xfrm>
              <a:off x="6895449" y="2765296"/>
              <a:ext cx="2498725" cy="2732343"/>
              <a:chOff x="6895449" y="2765296"/>
              <a:chExt cx="2498725" cy="2732343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7530303" y="5008897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8728155" y="4663924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728155" y="3627738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8129229" y="3627738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54889" y="3984693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6895449" y="4883082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8373600" y="3195355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247623" y="4989732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9027618" y="2765296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9027618" y="518139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428692" y="4836420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530303" y="4663924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8428692" y="414520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9027618" y="345524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8728155" y="293777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829766" y="518139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728155" y="5008897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8728155" y="328276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8428692" y="5181393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9027618" y="4836420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129229" y="5008897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9027618" y="4490179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8428692" y="4490179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129229" y="4663924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7829766" y="4490179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9027618" y="414520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728155" y="4317703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7618" y="3800234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428692" y="3800234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8129229" y="3972710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2"/>
            <p:cNvGrpSpPr/>
            <p:nvPr/>
          </p:nvGrpSpPr>
          <p:grpSpPr>
            <a:xfrm>
              <a:off x="-374481" y="3970996"/>
              <a:ext cx="2941933" cy="3110486"/>
              <a:chOff x="-374481" y="3970996"/>
              <a:chExt cx="2941933" cy="3110486"/>
            </a:xfrm>
          </p:grpSpPr>
          <p:grpSp>
            <p:nvGrpSpPr>
              <p:cNvPr id="87" name="Google Shape;87;p2"/>
              <p:cNvGrpSpPr/>
              <p:nvPr/>
            </p:nvGrpSpPr>
            <p:grpSpPr>
              <a:xfrm rot="-5400000">
                <a:off x="-458757" y="4055272"/>
                <a:ext cx="3110486" cy="2941933"/>
                <a:chOff x="363575" y="365650"/>
                <a:chExt cx="4949850" cy="4681625"/>
              </a:xfrm>
            </p:grpSpPr>
            <p:sp>
              <p:nvSpPr>
                <p:cNvPr id="88" name="Google Shape;88;p2"/>
                <p:cNvSpPr/>
                <p:nvPr/>
              </p:nvSpPr>
              <p:spPr>
                <a:xfrm>
                  <a:off x="132732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54757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2886825" y="418490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54757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405645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1327325" y="3286625"/>
                  <a:ext cx="4757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28868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405645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2886825" y="14884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2107075" y="1488475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1489525" y="1953200"/>
                  <a:ext cx="293200" cy="2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756550" y="2436650"/>
                  <a:ext cx="29485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71" extrusionOk="0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903150" y="987950"/>
                  <a:ext cx="193400" cy="16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500800" y="3122825"/>
                  <a:ext cx="193400" cy="16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2425225" y="925550"/>
                  <a:ext cx="293200" cy="25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959300" y="3261675"/>
                  <a:ext cx="293200" cy="25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07" extrusionOk="0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4580094" y="1751619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626750" y="1337275"/>
                  <a:ext cx="29485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66" extrusionOk="0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363575" y="4242550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902850" y="376625"/>
                  <a:ext cx="29320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6" extrusionOk="0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4836200" y="8147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327670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0" name="Google Shape;110;p2"/>
              <p:cNvGrpSpPr/>
              <p:nvPr/>
            </p:nvGrpSpPr>
            <p:grpSpPr>
              <a:xfrm rot="-5400000">
                <a:off x="-174571" y="4016084"/>
                <a:ext cx="2259868" cy="2659687"/>
                <a:chOff x="1327325" y="365650"/>
                <a:chExt cx="3596225" cy="4232475"/>
              </a:xfrm>
            </p:grpSpPr>
            <p:sp>
              <p:nvSpPr>
                <p:cNvPr id="111" name="Google Shape;111;p2"/>
                <p:cNvSpPr/>
                <p:nvPr/>
              </p:nvSpPr>
              <p:spPr>
                <a:xfrm>
                  <a:off x="3276700" y="396035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2107075" y="4184900"/>
                  <a:ext cx="4772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2496950" y="35112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132732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327670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107075" y="3286625"/>
                  <a:ext cx="4772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44463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3276700" y="2611300"/>
                  <a:ext cx="477225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2496950" y="26113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2107075" y="28375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1717200" y="2611300"/>
                  <a:ext cx="4757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366657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327670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288682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3276700" y="17130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2496950" y="1713050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2107075" y="19376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4056450" y="126390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44463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366657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405645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2" name="Google Shape;132;p2"/>
            <p:cNvGrpSpPr/>
            <p:nvPr/>
          </p:nvGrpSpPr>
          <p:grpSpPr>
            <a:xfrm>
              <a:off x="7508523" y="-126454"/>
              <a:ext cx="1878185" cy="1451618"/>
              <a:chOff x="7508523" y="-126454"/>
              <a:chExt cx="1878185" cy="1451618"/>
            </a:xfrm>
          </p:grpSpPr>
          <p:sp>
            <p:nvSpPr>
              <p:cNvPr id="133" name="Google Shape;133;p2"/>
              <p:cNvSpPr/>
              <p:nvPr/>
            </p:nvSpPr>
            <p:spPr>
              <a:xfrm rot="-5400000">
                <a:off x="9107400" y="-105874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 rot="-5400000">
                <a:off x="8260183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 rot="-5400000">
                <a:off x="8260175" y="383602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 rot="-5400000">
                <a:off x="8560063" y="879473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 rot="-5400000">
                <a:off x="7500173" y="163793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 rot="-5400000">
                <a:off x="7914249" y="291518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 rot="-5400000">
                <a:off x="8172451" y="792769"/>
                <a:ext cx="185284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 rot="-5400000">
                <a:off x="9017097" y="1153186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 rot="-5400000">
                <a:off x="8965766" y="13859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 rot="-5400000">
                <a:off x="9107392" y="384113"/>
                <a:ext cx="299904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 rot="-5400000">
                <a:off x="8966238" y="629063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 rot="-5400000">
                <a:off x="8824659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 rot="-5400000">
                <a:off x="8401298" y="138605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 rot="-5400000">
                <a:off x="8542413" y="383594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7" name="Google Shape;147;p2"/>
          <p:cNvSpPr txBox="1">
            <a:spLocks noGrp="1"/>
          </p:cNvSpPr>
          <p:nvPr>
            <p:ph type="ctrTitle"/>
          </p:nvPr>
        </p:nvSpPr>
        <p:spPr>
          <a:xfrm>
            <a:off x="1765200" y="1513275"/>
            <a:ext cx="5613600" cy="1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"/>
          <p:cNvSpPr txBox="1">
            <a:spLocks noGrp="1"/>
          </p:cNvSpPr>
          <p:nvPr>
            <p:ph type="subTitle" idx="1"/>
          </p:nvPr>
        </p:nvSpPr>
        <p:spPr>
          <a:xfrm>
            <a:off x="2734625" y="3157325"/>
            <a:ext cx="3674700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9" name="Google Shape;149;p2"/>
          <p:cNvGrpSpPr/>
          <p:nvPr/>
        </p:nvGrpSpPr>
        <p:grpSpPr>
          <a:xfrm>
            <a:off x="-1342317" y="-932211"/>
            <a:ext cx="10570541" cy="6075710"/>
            <a:chOff x="-1342317" y="-932211"/>
            <a:chExt cx="10570541" cy="6075710"/>
          </a:xfrm>
        </p:grpSpPr>
        <p:pic>
          <p:nvPicPr>
            <p:cNvPr id="150" name="Google Shape;150;p2"/>
            <p:cNvPicPr preferRelativeResize="0"/>
            <p:nvPr/>
          </p:nvPicPr>
          <p:blipFill rotWithShape="1">
            <a:blip r:embed="rId2">
              <a:alphaModFix/>
            </a:blip>
            <a:srcRect b="27092"/>
            <a:stretch/>
          </p:blipFill>
          <p:spPr>
            <a:xfrm rot="-985196">
              <a:off x="7802603" y="4016887"/>
              <a:ext cx="1316795" cy="960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"/>
            <p:cNvPicPr preferRelativeResize="0"/>
            <p:nvPr/>
          </p:nvPicPr>
          <p:blipFill rotWithShape="1">
            <a:blip r:embed="rId3">
              <a:alphaModFix/>
            </a:blip>
            <a:srcRect t="13843" b="16241"/>
            <a:stretch/>
          </p:blipFill>
          <p:spPr>
            <a:xfrm rot="-3039005">
              <a:off x="-1058351" y="-91172"/>
              <a:ext cx="3250800" cy="22728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3"/>
          <p:cNvGrpSpPr/>
          <p:nvPr/>
        </p:nvGrpSpPr>
        <p:grpSpPr>
          <a:xfrm>
            <a:off x="-2028666" y="-396704"/>
            <a:ext cx="15057473" cy="5703079"/>
            <a:chOff x="-2028666" y="-396704"/>
            <a:chExt cx="15057473" cy="5703079"/>
          </a:xfrm>
        </p:grpSpPr>
        <p:grpSp>
          <p:nvGrpSpPr>
            <p:cNvPr id="154" name="Google Shape;154;p3"/>
            <p:cNvGrpSpPr/>
            <p:nvPr/>
          </p:nvGrpSpPr>
          <p:grpSpPr>
            <a:xfrm>
              <a:off x="-2028666" y="1882896"/>
              <a:ext cx="5483773" cy="3423479"/>
              <a:chOff x="-2028666" y="1882896"/>
              <a:chExt cx="5483773" cy="3423479"/>
            </a:xfrm>
          </p:grpSpPr>
          <p:sp>
            <p:nvSpPr>
              <p:cNvPr id="155" name="Google Shape;155;p3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 rot="10800000" flipH="1">
                <a:off x="-1163824" y="406412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 rot="10800000" flipH="1">
                <a:off x="-1726822" y="36928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 rot="10800000" flipH="1">
                <a:off x="-1923263" y="32316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 rot="10800000" flipH="1">
                <a:off x="-1058421" y="4537334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3"/>
            <p:cNvGrpSpPr/>
            <p:nvPr/>
          </p:nvGrpSpPr>
          <p:grpSpPr>
            <a:xfrm>
              <a:off x="7225437" y="-396704"/>
              <a:ext cx="5803371" cy="3423479"/>
              <a:chOff x="-2348263" y="1882896"/>
              <a:chExt cx="5803371" cy="3423479"/>
            </a:xfrm>
          </p:grpSpPr>
          <p:sp>
            <p:nvSpPr>
              <p:cNvPr id="215" name="Google Shape;215;p3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3"/>
              <p:cNvSpPr/>
              <p:nvPr/>
            </p:nvSpPr>
            <p:spPr>
              <a:xfrm rot="10800000" flipH="1">
                <a:off x="-1025599" y="3961114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/>
              <p:nvPr/>
            </p:nvSpPr>
            <p:spPr>
              <a:xfrm rot="10800000" flipH="1">
                <a:off x="-2199722" y="25010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 rot="10800000" flipH="1">
                <a:off x="-2348263" y="27177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 rot="10800000" flipH="1">
                <a:off x="-1026234" y="4472659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3"/>
            <p:cNvGrpSpPr/>
            <p:nvPr/>
          </p:nvGrpSpPr>
          <p:grpSpPr>
            <a:xfrm>
              <a:off x="0" y="0"/>
              <a:ext cx="2525467" cy="1155154"/>
              <a:chOff x="0" y="0"/>
              <a:chExt cx="2525467" cy="1155154"/>
            </a:xfrm>
          </p:grpSpPr>
          <p:sp>
            <p:nvSpPr>
              <p:cNvPr id="275" name="Google Shape;275;p3"/>
              <p:cNvSpPr/>
              <p:nvPr/>
            </p:nvSpPr>
            <p:spPr>
              <a:xfrm>
                <a:off x="1119084" y="0"/>
                <a:ext cx="306347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118102" y="576567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1619574" y="288276"/>
                <a:ext cx="306331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118102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426923" y="992015"/>
                <a:ext cx="188221" cy="16313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1925893" y="69992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2337262" y="246166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0" y="325279"/>
                <a:ext cx="188205" cy="16321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1119084" y="576567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86883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18593" y="28827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36834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868838" y="432421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1369329" y="14414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1119084" y="28827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618593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1" name="Google Shape;291;p3"/>
          <p:cNvGrpSpPr/>
          <p:nvPr/>
        </p:nvGrpSpPr>
        <p:grpSpPr>
          <a:xfrm>
            <a:off x="-989428" y="-354917"/>
            <a:ext cx="10390893" cy="7697871"/>
            <a:chOff x="-989428" y="-354917"/>
            <a:chExt cx="10390893" cy="7697871"/>
          </a:xfrm>
        </p:grpSpPr>
        <p:pic>
          <p:nvPicPr>
            <p:cNvPr id="292" name="Google Shape;292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8366432">
              <a:off x="7836502" y="-88696"/>
              <a:ext cx="1298742" cy="12987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3"/>
            <p:cNvPicPr preferRelativeResize="0"/>
            <p:nvPr/>
          </p:nvPicPr>
          <p:blipFill rotWithShape="1">
            <a:blip r:embed="rId3">
              <a:alphaModFix/>
            </a:blip>
            <a:srcRect t="12372" b="17295"/>
            <a:stretch/>
          </p:blipFill>
          <p:spPr>
            <a:xfrm rot="-7534173" flipH="1">
              <a:off x="-698083" y="3694317"/>
              <a:ext cx="3789110" cy="2664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p3"/>
          <p:cNvSpPr txBox="1">
            <a:spLocks noGrp="1"/>
          </p:cNvSpPr>
          <p:nvPr>
            <p:ph type="title"/>
          </p:nvPr>
        </p:nvSpPr>
        <p:spPr>
          <a:xfrm>
            <a:off x="2038200" y="2307325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3"/>
          <p:cNvSpPr txBox="1">
            <a:spLocks noGrp="1"/>
          </p:cNvSpPr>
          <p:nvPr>
            <p:ph type="title" idx="2" hasCustomPrompt="1"/>
          </p:nvPr>
        </p:nvSpPr>
        <p:spPr>
          <a:xfrm>
            <a:off x="3909900" y="1400063"/>
            <a:ext cx="1324200" cy="841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6" name="Google Shape;296;p3"/>
          <p:cNvSpPr txBox="1">
            <a:spLocks noGrp="1"/>
          </p:cNvSpPr>
          <p:nvPr>
            <p:ph type="subTitle" idx="1"/>
          </p:nvPr>
        </p:nvSpPr>
        <p:spPr>
          <a:xfrm>
            <a:off x="2509100" y="3225350"/>
            <a:ext cx="4125900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4"/>
          <p:cNvSpPr txBox="1">
            <a:spLocks noGrp="1"/>
          </p:cNvSpPr>
          <p:nvPr>
            <p:ph type="body" idx="1"/>
          </p:nvPr>
        </p:nvSpPr>
        <p:spPr>
          <a:xfrm>
            <a:off x="720000" y="1151425"/>
            <a:ext cx="7704000" cy="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00" name="Google Shape;300;p4"/>
          <p:cNvGrpSpPr/>
          <p:nvPr/>
        </p:nvGrpSpPr>
        <p:grpSpPr>
          <a:xfrm>
            <a:off x="-456006" y="-159619"/>
            <a:ext cx="9860098" cy="2667350"/>
            <a:chOff x="-456006" y="-159619"/>
            <a:chExt cx="9860098" cy="2667350"/>
          </a:xfrm>
        </p:grpSpPr>
        <p:grpSp>
          <p:nvGrpSpPr>
            <p:cNvPr id="301" name="Google Shape;301;p4"/>
            <p:cNvGrpSpPr/>
            <p:nvPr/>
          </p:nvGrpSpPr>
          <p:grpSpPr>
            <a:xfrm>
              <a:off x="8414533" y="-159619"/>
              <a:ext cx="989559" cy="1934712"/>
              <a:chOff x="8414533" y="-159619"/>
              <a:chExt cx="989559" cy="1934712"/>
            </a:xfrm>
          </p:grpSpPr>
          <p:sp>
            <p:nvSpPr>
              <p:cNvPr id="302" name="Google Shape;302;p4"/>
              <p:cNvSpPr/>
              <p:nvPr/>
            </p:nvSpPr>
            <p:spPr>
              <a:xfrm rot="-5400000">
                <a:off x="9072641" y="1035926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 rot="-5400000">
                <a:off x="8920234" y="1506419"/>
                <a:ext cx="287973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 rot="-5400000">
                <a:off x="9238931" y="117713"/>
                <a:ext cx="176917" cy="15340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 rot="-5400000">
                <a:off x="8666198" y="-140327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4"/>
              <p:cNvSpPr/>
              <p:nvPr/>
            </p:nvSpPr>
            <p:spPr>
              <a:xfrm rot="-5400000">
                <a:off x="8937155" y="800675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 rot="-5400000">
                <a:off x="8666198" y="330174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4"/>
              <p:cNvSpPr/>
              <p:nvPr/>
            </p:nvSpPr>
            <p:spPr>
              <a:xfrm rot="-5400000">
                <a:off x="8801684" y="1035926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 rot="-5400000">
                <a:off x="8530222" y="565915"/>
                <a:ext cx="287958" cy="2483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4"/>
              <p:cNvSpPr/>
              <p:nvPr/>
            </p:nvSpPr>
            <p:spPr>
              <a:xfrm rot="-5400000">
                <a:off x="8937155" y="330174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4"/>
              <p:cNvSpPr/>
              <p:nvPr/>
            </p:nvSpPr>
            <p:spPr>
              <a:xfrm rot="-5400000">
                <a:off x="8801684" y="94923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 rot="-5400000">
                <a:off x="8801684" y="565425"/>
                <a:ext cx="287958" cy="24937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4"/>
              <p:cNvSpPr/>
              <p:nvPr/>
            </p:nvSpPr>
            <p:spPr>
              <a:xfrm rot="-5400000">
                <a:off x="8394751" y="330664"/>
                <a:ext cx="287958" cy="2483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4"/>
            <p:cNvGrpSpPr/>
            <p:nvPr/>
          </p:nvGrpSpPr>
          <p:grpSpPr>
            <a:xfrm rot="-5400000">
              <a:off x="-1088256" y="813220"/>
              <a:ext cx="2326761" cy="1062260"/>
              <a:chOff x="1717200" y="1713050"/>
              <a:chExt cx="3856083" cy="1760750"/>
            </a:xfrm>
          </p:grpSpPr>
          <p:sp>
            <p:nvSpPr>
              <p:cNvPr id="315" name="Google Shape;315;p4"/>
              <p:cNvSpPr/>
              <p:nvPr/>
            </p:nvSpPr>
            <p:spPr>
              <a:xfrm>
                <a:off x="3276700" y="3062075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4"/>
              <p:cNvSpPr/>
              <p:nvPr/>
            </p:nvSpPr>
            <p:spPr>
              <a:xfrm>
                <a:off x="5096033" y="2800776"/>
                <a:ext cx="477250" cy="4117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4"/>
              <p:cNvSpPr/>
              <p:nvPr/>
            </p:nvSpPr>
            <p:spPr>
              <a:xfrm>
                <a:off x="4057943" y="2725201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3276700" y="2611300"/>
                <a:ext cx="477225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4"/>
              <p:cNvSpPr/>
              <p:nvPr/>
            </p:nvSpPr>
            <p:spPr>
              <a:xfrm>
                <a:off x="2496950" y="2611300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2107075" y="2837500"/>
                <a:ext cx="4772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1717200" y="2611300"/>
                <a:ext cx="4757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4"/>
              <p:cNvSpPr/>
              <p:nvPr/>
            </p:nvSpPr>
            <p:spPr>
              <a:xfrm>
                <a:off x="366657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4"/>
              <p:cNvSpPr/>
              <p:nvPr/>
            </p:nvSpPr>
            <p:spPr>
              <a:xfrm>
                <a:off x="3276700" y="2162175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4"/>
              <p:cNvSpPr/>
              <p:nvPr/>
            </p:nvSpPr>
            <p:spPr>
              <a:xfrm>
                <a:off x="288682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4"/>
              <p:cNvSpPr/>
              <p:nvPr/>
            </p:nvSpPr>
            <p:spPr>
              <a:xfrm>
                <a:off x="3276700" y="17130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4"/>
              <p:cNvSpPr/>
              <p:nvPr/>
            </p:nvSpPr>
            <p:spPr>
              <a:xfrm>
                <a:off x="2496950" y="1713050"/>
                <a:ext cx="477250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4"/>
              <p:cNvSpPr/>
              <p:nvPr/>
            </p:nvSpPr>
            <p:spPr>
              <a:xfrm>
                <a:off x="2107034" y="2386713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4"/>
              <p:cNvSpPr/>
              <p:nvPr/>
            </p:nvSpPr>
            <p:spPr>
              <a:xfrm>
                <a:off x="473552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395577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30" name="Google Shape;330;p4"/>
          <p:cNvPicPr preferRelativeResize="0"/>
          <p:nvPr/>
        </p:nvPicPr>
        <p:blipFill rotWithShape="1">
          <a:blip r:embed="rId2">
            <a:alphaModFix/>
          </a:blip>
          <a:srcRect r="28011"/>
          <a:stretch/>
        </p:blipFill>
        <p:spPr>
          <a:xfrm rot="-9007818">
            <a:off x="161605" y="271596"/>
            <a:ext cx="578169" cy="803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84" name="Google Shape;384;p6"/>
          <p:cNvGrpSpPr/>
          <p:nvPr/>
        </p:nvGrpSpPr>
        <p:grpSpPr>
          <a:xfrm>
            <a:off x="-145710" y="1386445"/>
            <a:ext cx="9383341" cy="3832482"/>
            <a:chOff x="-145710" y="1386445"/>
            <a:chExt cx="9383341" cy="3832482"/>
          </a:xfrm>
        </p:grpSpPr>
        <p:grpSp>
          <p:nvGrpSpPr>
            <p:cNvPr id="385" name="Google Shape;385;p6"/>
            <p:cNvGrpSpPr/>
            <p:nvPr/>
          </p:nvGrpSpPr>
          <p:grpSpPr>
            <a:xfrm>
              <a:off x="-145710" y="1386445"/>
              <a:ext cx="736979" cy="1645115"/>
              <a:chOff x="-145710" y="1386445"/>
              <a:chExt cx="736979" cy="1645115"/>
            </a:xfrm>
          </p:grpSpPr>
          <p:grpSp>
            <p:nvGrpSpPr>
              <p:cNvPr id="386" name="Google Shape;386;p6"/>
              <p:cNvGrpSpPr/>
              <p:nvPr/>
            </p:nvGrpSpPr>
            <p:grpSpPr>
              <a:xfrm>
                <a:off x="-145710" y="1824882"/>
                <a:ext cx="736979" cy="1206678"/>
                <a:chOff x="-145710" y="-63843"/>
                <a:chExt cx="736979" cy="1206678"/>
              </a:xfrm>
            </p:grpSpPr>
            <p:sp>
              <p:nvSpPr>
                <p:cNvPr id="387" name="Google Shape;387;p6"/>
                <p:cNvSpPr/>
                <p:nvPr/>
              </p:nvSpPr>
              <p:spPr>
                <a:xfrm rot="5400000">
                  <a:off x="239847" y="988593"/>
                  <a:ext cx="165662" cy="142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3" h="10167" extrusionOk="0">
                      <a:moveTo>
                        <a:pt x="2934" y="1"/>
                      </a:moveTo>
                      <a:lnTo>
                        <a:pt x="0" y="5116"/>
                      </a:lnTo>
                      <a:lnTo>
                        <a:pt x="2934" y="10166"/>
                      </a:lnTo>
                      <a:lnTo>
                        <a:pt x="8798" y="10166"/>
                      </a:lnTo>
                      <a:lnTo>
                        <a:pt x="11792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6"/>
                <p:cNvSpPr/>
                <p:nvPr/>
              </p:nvSpPr>
              <p:spPr>
                <a:xfrm rot="5400000">
                  <a:off x="88704" y="611304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4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6"/>
                <p:cNvSpPr/>
                <p:nvPr/>
              </p:nvSpPr>
              <p:spPr>
                <a:xfrm rot="5400000">
                  <a:off x="88704" y="173170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6"/>
                <p:cNvSpPr/>
                <p:nvPr/>
              </p:nvSpPr>
              <p:spPr>
                <a:xfrm rot="5400000">
                  <a:off x="215347" y="-45441"/>
                  <a:ext cx="268153" cy="231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6"/>
                <p:cNvSpPr/>
                <p:nvPr/>
              </p:nvSpPr>
              <p:spPr>
                <a:xfrm rot="5400000">
                  <a:off x="-163655" y="173170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6"/>
                <p:cNvSpPr/>
                <p:nvPr/>
              </p:nvSpPr>
              <p:spPr>
                <a:xfrm rot="5400000">
                  <a:off x="-37483" y="392237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6"/>
                <p:cNvSpPr/>
                <p:nvPr/>
              </p:nvSpPr>
              <p:spPr>
                <a:xfrm rot="5400000">
                  <a:off x="-37483" y="-45897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6"/>
                <p:cNvSpPr/>
                <p:nvPr/>
              </p:nvSpPr>
              <p:spPr>
                <a:xfrm rot="5400000">
                  <a:off x="341519" y="173627"/>
                  <a:ext cx="268153" cy="231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6"/>
                <p:cNvSpPr/>
                <p:nvPr/>
              </p:nvSpPr>
              <p:spPr>
                <a:xfrm>
                  <a:off x="471557" y="539509"/>
                  <a:ext cx="115789" cy="100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" name="Google Shape;396;p6"/>
              <p:cNvGrpSpPr/>
              <p:nvPr/>
            </p:nvGrpSpPr>
            <p:grpSpPr>
              <a:xfrm>
                <a:off x="-23637" y="1386445"/>
                <a:ext cx="358448" cy="487220"/>
                <a:chOff x="-19537" y="-63843"/>
                <a:chExt cx="358448" cy="487220"/>
              </a:xfrm>
            </p:grpSpPr>
            <p:sp>
              <p:nvSpPr>
                <p:cNvPr id="397" name="Google Shape;397;p6"/>
                <p:cNvSpPr/>
                <p:nvPr/>
              </p:nvSpPr>
              <p:spPr>
                <a:xfrm rot="5400000">
                  <a:off x="88704" y="173170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6"/>
                <p:cNvSpPr/>
                <p:nvPr/>
              </p:nvSpPr>
              <p:spPr>
                <a:xfrm rot="5400000">
                  <a:off x="-37483" y="-45897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9" name="Google Shape;399;p6"/>
            <p:cNvGrpSpPr/>
            <p:nvPr/>
          </p:nvGrpSpPr>
          <p:grpSpPr>
            <a:xfrm>
              <a:off x="7623926" y="4379978"/>
              <a:ext cx="1613705" cy="838949"/>
              <a:chOff x="7623926" y="4379978"/>
              <a:chExt cx="1613705" cy="838949"/>
            </a:xfrm>
          </p:grpSpPr>
          <p:sp>
            <p:nvSpPr>
              <p:cNvPr id="400" name="Google Shape;400;p6"/>
              <p:cNvSpPr/>
              <p:nvPr/>
            </p:nvSpPr>
            <p:spPr>
              <a:xfrm rot="10800000">
                <a:off x="8363353" y="4641833"/>
                <a:ext cx="253359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6"/>
              <p:cNvSpPr/>
              <p:nvPr/>
            </p:nvSpPr>
            <p:spPr>
              <a:xfrm rot="10800000">
                <a:off x="7742433" y="499947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6"/>
              <p:cNvSpPr/>
              <p:nvPr/>
            </p:nvSpPr>
            <p:spPr>
              <a:xfrm rot="10800000">
                <a:off x="8619165" y="4473560"/>
                <a:ext cx="155660" cy="1350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6"/>
              <p:cNvSpPr/>
              <p:nvPr/>
            </p:nvSpPr>
            <p:spPr>
              <a:xfrm rot="10800000">
                <a:off x="7949407" y="4641833"/>
                <a:ext cx="253359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6"/>
              <p:cNvSpPr/>
              <p:nvPr/>
            </p:nvSpPr>
            <p:spPr>
              <a:xfrm rot="10800000">
                <a:off x="8570313" y="4999479"/>
                <a:ext cx="253372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 rot="10800000">
                <a:off x="8823675" y="4379978"/>
                <a:ext cx="253359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 rot="10800000">
                <a:off x="8156380" y="4761039"/>
                <a:ext cx="253359" cy="2194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 rot="10800000">
                <a:off x="8570313" y="4761039"/>
                <a:ext cx="253372" cy="219461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 rot="10800000">
                <a:off x="8777286" y="4641833"/>
                <a:ext cx="253372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 rot="10800000">
                <a:off x="8985056" y="4761039"/>
                <a:ext cx="252576" cy="219461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 rot="10800000">
                <a:off x="7949407" y="488025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 rot="10800000">
                <a:off x="8156380" y="499947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 rot="10800000">
                <a:off x="8363353" y="488025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 rot="-5400000" flipH="1">
                <a:off x="7616567" y="4943524"/>
                <a:ext cx="107627" cy="92908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14" name="Google Shape;414;p6"/>
          <p:cNvPicPr preferRelativeResize="0"/>
          <p:nvPr/>
        </p:nvPicPr>
        <p:blipFill rotWithShape="1">
          <a:blip r:embed="rId2">
            <a:alphaModFix/>
          </a:blip>
          <a:srcRect l="19248" t="9344" r="24635" b="21748"/>
          <a:stretch/>
        </p:blipFill>
        <p:spPr>
          <a:xfrm>
            <a:off x="-696875" y="116536"/>
            <a:ext cx="1384800" cy="170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7"/>
          <p:cNvSpPr txBox="1">
            <a:spLocks noGrp="1"/>
          </p:cNvSpPr>
          <p:nvPr>
            <p:ph type="subTitle" idx="1"/>
          </p:nvPr>
        </p:nvSpPr>
        <p:spPr>
          <a:xfrm>
            <a:off x="1163950" y="1378750"/>
            <a:ext cx="6823200" cy="30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18" name="Google Shape;418;p7"/>
          <p:cNvGrpSpPr/>
          <p:nvPr/>
        </p:nvGrpSpPr>
        <p:grpSpPr>
          <a:xfrm>
            <a:off x="-151337" y="539496"/>
            <a:ext cx="9533876" cy="6541986"/>
            <a:chOff x="-151337" y="539496"/>
            <a:chExt cx="9533876" cy="6541986"/>
          </a:xfrm>
        </p:grpSpPr>
        <p:grpSp>
          <p:nvGrpSpPr>
            <p:cNvPr id="419" name="Google Shape;419;p7"/>
            <p:cNvGrpSpPr/>
            <p:nvPr/>
          </p:nvGrpSpPr>
          <p:grpSpPr>
            <a:xfrm flipH="1">
              <a:off x="6440605" y="3970996"/>
              <a:ext cx="2941933" cy="3110486"/>
              <a:chOff x="-374481" y="3970996"/>
              <a:chExt cx="2941933" cy="3110486"/>
            </a:xfrm>
          </p:grpSpPr>
          <p:grpSp>
            <p:nvGrpSpPr>
              <p:cNvPr id="420" name="Google Shape;420;p7"/>
              <p:cNvGrpSpPr/>
              <p:nvPr/>
            </p:nvGrpSpPr>
            <p:grpSpPr>
              <a:xfrm rot="-5400000">
                <a:off x="-458757" y="4055272"/>
                <a:ext cx="3110486" cy="2941933"/>
                <a:chOff x="363575" y="365650"/>
                <a:chExt cx="4949850" cy="4681625"/>
              </a:xfrm>
            </p:grpSpPr>
            <p:sp>
              <p:nvSpPr>
                <p:cNvPr id="421" name="Google Shape;421;p7"/>
                <p:cNvSpPr/>
                <p:nvPr/>
              </p:nvSpPr>
              <p:spPr>
                <a:xfrm>
                  <a:off x="132732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7"/>
                <p:cNvSpPr/>
                <p:nvPr/>
              </p:nvSpPr>
              <p:spPr>
                <a:xfrm>
                  <a:off x="54757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7"/>
                <p:cNvSpPr/>
                <p:nvPr/>
              </p:nvSpPr>
              <p:spPr>
                <a:xfrm>
                  <a:off x="2886825" y="418490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" name="Google Shape;424;p7"/>
                <p:cNvSpPr/>
                <p:nvPr/>
              </p:nvSpPr>
              <p:spPr>
                <a:xfrm>
                  <a:off x="54757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" name="Google Shape;425;p7"/>
                <p:cNvSpPr/>
                <p:nvPr/>
              </p:nvSpPr>
              <p:spPr>
                <a:xfrm>
                  <a:off x="405645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426;p7"/>
                <p:cNvSpPr/>
                <p:nvPr/>
              </p:nvSpPr>
              <p:spPr>
                <a:xfrm>
                  <a:off x="1327325" y="3286625"/>
                  <a:ext cx="4757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7"/>
                <p:cNvSpPr/>
                <p:nvPr/>
              </p:nvSpPr>
              <p:spPr>
                <a:xfrm>
                  <a:off x="28868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405645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7"/>
                <p:cNvSpPr/>
                <p:nvPr/>
              </p:nvSpPr>
              <p:spPr>
                <a:xfrm>
                  <a:off x="2886825" y="14884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7"/>
                <p:cNvSpPr/>
                <p:nvPr/>
              </p:nvSpPr>
              <p:spPr>
                <a:xfrm>
                  <a:off x="2107075" y="1488475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7"/>
                <p:cNvSpPr/>
                <p:nvPr/>
              </p:nvSpPr>
              <p:spPr>
                <a:xfrm>
                  <a:off x="1489525" y="1953200"/>
                  <a:ext cx="293200" cy="2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7"/>
                <p:cNvSpPr/>
                <p:nvPr/>
              </p:nvSpPr>
              <p:spPr>
                <a:xfrm>
                  <a:off x="756550" y="2436650"/>
                  <a:ext cx="29485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71" extrusionOk="0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7"/>
                <p:cNvSpPr/>
                <p:nvPr/>
              </p:nvSpPr>
              <p:spPr>
                <a:xfrm>
                  <a:off x="903150" y="987950"/>
                  <a:ext cx="193400" cy="16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434;p7"/>
                <p:cNvSpPr/>
                <p:nvPr/>
              </p:nvSpPr>
              <p:spPr>
                <a:xfrm>
                  <a:off x="500800" y="3122825"/>
                  <a:ext cx="193400" cy="16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435;p7"/>
                <p:cNvSpPr/>
                <p:nvPr/>
              </p:nvSpPr>
              <p:spPr>
                <a:xfrm>
                  <a:off x="2425225" y="925550"/>
                  <a:ext cx="293200" cy="25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7"/>
                <p:cNvSpPr/>
                <p:nvPr/>
              </p:nvSpPr>
              <p:spPr>
                <a:xfrm>
                  <a:off x="959300" y="3261675"/>
                  <a:ext cx="293200" cy="25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07" extrusionOk="0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7"/>
                <p:cNvSpPr/>
                <p:nvPr/>
              </p:nvSpPr>
              <p:spPr>
                <a:xfrm>
                  <a:off x="4580094" y="1751619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7"/>
                <p:cNvSpPr/>
                <p:nvPr/>
              </p:nvSpPr>
              <p:spPr>
                <a:xfrm>
                  <a:off x="1626750" y="1337275"/>
                  <a:ext cx="29485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66" extrusionOk="0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7"/>
                <p:cNvSpPr/>
                <p:nvPr/>
              </p:nvSpPr>
              <p:spPr>
                <a:xfrm>
                  <a:off x="363575" y="4242550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7"/>
                <p:cNvSpPr/>
                <p:nvPr/>
              </p:nvSpPr>
              <p:spPr>
                <a:xfrm>
                  <a:off x="1902850" y="376625"/>
                  <a:ext cx="29320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6" extrusionOk="0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7"/>
                <p:cNvSpPr/>
                <p:nvPr/>
              </p:nvSpPr>
              <p:spPr>
                <a:xfrm>
                  <a:off x="4836200" y="8147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7"/>
                <p:cNvSpPr/>
                <p:nvPr/>
              </p:nvSpPr>
              <p:spPr>
                <a:xfrm>
                  <a:off x="327670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3" name="Google Shape;443;p7"/>
              <p:cNvGrpSpPr/>
              <p:nvPr/>
            </p:nvGrpSpPr>
            <p:grpSpPr>
              <a:xfrm rot="-5400000">
                <a:off x="-174571" y="4016084"/>
                <a:ext cx="2259868" cy="2659687"/>
                <a:chOff x="1327325" y="365650"/>
                <a:chExt cx="3596225" cy="4232475"/>
              </a:xfrm>
            </p:grpSpPr>
            <p:sp>
              <p:nvSpPr>
                <p:cNvPr id="444" name="Google Shape;444;p7"/>
                <p:cNvSpPr/>
                <p:nvPr/>
              </p:nvSpPr>
              <p:spPr>
                <a:xfrm>
                  <a:off x="3276700" y="396035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7"/>
                <p:cNvSpPr/>
                <p:nvPr/>
              </p:nvSpPr>
              <p:spPr>
                <a:xfrm>
                  <a:off x="2107075" y="4184900"/>
                  <a:ext cx="4772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7"/>
                <p:cNvSpPr/>
                <p:nvPr/>
              </p:nvSpPr>
              <p:spPr>
                <a:xfrm>
                  <a:off x="2496950" y="35112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7"/>
                <p:cNvSpPr/>
                <p:nvPr/>
              </p:nvSpPr>
              <p:spPr>
                <a:xfrm>
                  <a:off x="132732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7"/>
                <p:cNvSpPr/>
                <p:nvPr/>
              </p:nvSpPr>
              <p:spPr>
                <a:xfrm>
                  <a:off x="327670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7"/>
                <p:cNvSpPr/>
                <p:nvPr/>
              </p:nvSpPr>
              <p:spPr>
                <a:xfrm>
                  <a:off x="2107075" y="3286625"/>
                  <a:ext cx="4772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" name="Google Shape;450;p7"/>
                <p:cNvSpPr/>
                <p:nvPr/>
              </p:nvSpPr>
              <p:spPr>
                <a:xfrm>
                  <a:off x="44463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451;p7"/>
                <p:cNvSpPr/>
                <p:nvPr/>
              </p:nvSpPr>
              <p:spPr>
                <a:xfrm>
                  <a:off x="3276700" y="2611300"/>
                  <a:ext cx="477225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" name="Google Shape;452;p7"/>
                <p:cNvSpPr/>
                <p:nvPr/>
              </p:nvSpPr>
              <p:spPr>
                <a:xfrm>
                  <a:off x="2496950" y="26113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453;p7"/>
                <p:cNvSpPr/>
                <p:nvPr/>
              </p:nvSpPr>
              <p:spPr>
                <a:xfrm>
                  <a:off x="2107075" y="28375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" name="Google Shape;454;p7"/>
                <p:cNvSpPr/>
                <p:nvPr/>
              </p:nvSpPr>
              <p:spPr>
                <a:xfrm>
                  <a:off x="1717200" y="2611300"/>
                  <a:ext cx="4757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455;p7"/>
                <p:cNvSpPr/>
                <p:nvPr/>
              </p:nvSpPr>
              <p:spPr>
                <a:xfrm>
                  <a:off x="366657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" name="Google Shape;456;p7"/>
                <p:cNvSpPr/>
                <p:nvPr/>
              </p:nvSpPr>
              <p:spPr>
                <a:xfrm>
                  <a:off x="327670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7"/>
                <p:cNvSpPr/>
                <p:nvPr/>
              </p:nvSpPr>
              <p:spPr>
                <a:xfrm>
                  <a:off x="288682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7"/>
                <p:cNvSpPr/>
                <p:nvPr/>
              </p:nvSpPr>
              <p:spPr>
                <a:xfrm>
                  <a:off x="3276700" y="17130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7"/>
                <p:cNvSpPr/>
                <p:nvPr/>
              </p:nvSpPr>
              <p:spPr>
                <a:xfrm>
                  <a:off x="2496950" y="1713050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7"/>
                <p:cNvSpPr/>
                <p:nvPr/>
              </p:nvSpPr>
              <p:spPr>
                <a:xfrm>
                  <a:off x="2107075" y="19376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7"/>
                <p:cNvSpPr/>
                <p:nvPr/>
              </p:nvSpPr>
              <p:spPr>
                <a:xfrm>
                  <a:off x="4056450" y="126390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7"/>
                <p:cNvSpPr/>
                <p:nvPr/>
              </p:nvSpPr>
              <p:spPr>
                <a:xfrm>
                  <a:off x="44463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7"/>
                <p:cNvSpPr/>
                <p:nvPr/>
              </p:nvSpPr>
              <p:spPr>
                <a:xfrm>
                  <a:off x="366657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7"/>
                <p:cNvSpPr/>
                <p:nvPr/>
              </p:nvSpPr>
              <p:spPr>
                <a:xfrm>
                  <a:off x="405645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5" name="Google Shape;465;p7"/>
            <p:cNvGrpSpPr/>
            <p:nvPr/>
          </p:nvGrpSpPr>
          <p:grpSpPr>
            <a:xfrm flipH="1">
              <a:off x="-151337" y="539496"/>
              <a:ext cx="776718" cy="2496858"/>
              <a:chOff x="8280253" y="-933479"/>
              <a:chExt cx="776718" cy="2496858"/>
            </a:xfrm>
          </p:grpSpPr>
          <p:sp>
            <p:nvSpPr>
              <p:cNvPr id="466" name="Google Shape;466;p7"/>
              <p:cNvSpPr/>
              <p:nvPr/>
            </p:nvSpPr>
            <p:spPr>
              <a:xfrm rot="-5400000">
                <a:off x="8777662" y="-912899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7"/>
              <p:cNvSpPr/>
              <p:nvPr/>
            </p:nvSpPr>
            <p:spPr>
              <a:xfrm rot="-5400000">
                <a:off x="8260183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7"/>
              <p:cNvSpPr/>
              <p:nvPr/>
            </p:nvSpPr>
            <p:spPr>
              <a:xfrm rot="-5400000">
                <a:off x="8260175" y="383602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 rot="-5400000">
                <a:off x="8560063" y="879473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 rot="-5400000">
                <a:off x="8336598" y="1263668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7"/>
              <p:cNvSpPr/>
              <p:nvPr/>
            </p:nvSpPr>
            <p:spPr>
              <a:xfrm rot="-5400000">
                <a:off x="8750674" y="1391393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 rot="-5400000">
                <a:off x="8458601" y="1018919"/>
                <a:ext cx="185284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7"/>
              <p:cNvSpPr/>
              <p:nvPr/>
            </p:nvSpPr>
            <p:spPr>
              <a:xfrm rot="-5400000">
                <a:off x="8636029" y="-668428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7"/>
              <p:cNvSpPr/>
              <p:nvPr/>
            </p:nvSpPr>
            <p:spPr>
              <a:xfrm rot="-5400000">
                <a:off x="8636500" y="-177962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 rot="-5400000">
                <a:off x="8494922" y="-913410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7"/>
              <p:cNvSpPr/>
              <p:nvPr/>
            </p:nvSpPr>
            <p:spPr>
              <a:xfrm rot="-5400000">
                <a:off x="8401298" y="138605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7"/>
              <p:cNvSpPr/>
              <p:nvPr/>
            </p:nvSpPr>
            <p:spPr>
              <a:xfrm rot="-5400000">
                <a:off x="8542413" y="383594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8" name="Google Shape;478;p7"/>
          <p:cNvGrpSpPr/>
          <p:nvPr/>
        </p:nvGrpSpPr>
        <p:grpSpPr>
          <a:xfrm>
            <a:off x="-2058084" y="-315978"/>
            <a:ext cx="12204110" cy="5330853"/>
            <a:chOff x="-2058084" y="-315978"/>
            <a:chExt cx="12204110" cy="5330853"/>
          </a:xfrm>
        </p:grpSpPr>
        <p:pic>
          <p:nvPicPr>
            <p:cNvPr id="479" name="Google Shape;479;p7"/>
            <p:cNvPicPr preferRelativeResize="0"/>
            <p:nvPr/>
          </p:nvPicPr>
          <p:blipFill rotWithShape="1">
            <a:blip r:embed="rId2">
              <a:alphaModFix/>
            </a:blip>
            <a:srcRect l="19248" t="9344" r="24635" b="21748"/>
            <a:stretch/>
          </p:blipFill>
          <p:spPr>
            <a:xfrm flipH="1">
              <a:off x="8249375" y="2685925"/>
              <a:ext cx="1896650" cy="232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7"/>
            <p:cNvPicPr preferRelativeResize="0"/>
            <p:nvPr/>
          </p:nvPicPr>
          <p:blipFill rotWithShape="1">
            <a:blip r:embed="rId2">
              <a:alphaModFix/>
            </a:blip>
            <a:srcRect l="19248" t="9344" r="24635" b="21748"/>
            <a:stretch/>
          </p:blipFill>
          <p:spPr>
            <a:xfrm rot="-2463123" flipH="1">
              <a:off x="-1526503" y="20500"/>
              <a:ext cx="1896651" cy="23289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"/>
          <p:cNvSpPr txBox="1">
            <a:spLocks noGrp="1"/>
          </p:cNvSpPr>
          <p:nvPr>
            <p:ph type="title"/>
          </p:nvPr>
        </p:nvSpPr>
        <p:spPr>
          <a:xfrm>
            <a:off x="2244000" y="1677750"/>
            <a:ext cx="4656000" cy="17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83" name="Google Shape;483;p8"/>
          <p:cNvGrpSpPr/>
          <p:nvPr/>
        </p:nvGrpSpPr>
        <p:grpSpPr>
          <a:xfrm>
            <a:off x="-812893" y="-955879"/>
            <a:ext cx="10199601" cy="6587422"/>
            <a:chOff x="-812893" y="-955879"/>
            <a:chExt cx="10199601" cy="6587422"/>
          </a:xfrm>
        </p:grpSpPr>
        <p:grpSp>
          <p:nvGrpSpPr>
            <p:cNvPr id="484" name="Google Shape;484;p8"/>
            <p:cNvGrpSpPr/>
            <p:nvPr/>
          </p:nvGrpSpPr>
          <p:grpSpPr>
            <a:xfrm rot="10800000" flipH="1">
              <a:off x="-812893" y="-955879"/>
              <a:ext cx="2941933" cy="3110486"/>
              <a:chOff x="-374481" y="3970996"/>
              <a:chExt cx="2941933" cy="3110486"/>
            </a:xfrm>
          </p:grpSpPr>
          <p:grpSp>
            <p:nvGrpSpPr>
              <p:cNvPr id="485" name="Google Shape;485;p8"/>
              <p:cNvGrpSpPr/>
              <p:nvPr/>
            </p:nvGrpSpPr>
            <p:grpSpPr>
              <a:xfrm rot="-5400000">
                <a:off x="-458757" y="4055272"/>
                <a:ext cx="3110486" cy="2941933"/>
                <a:chOff x="363575" y="365650"/>
                <a:chExt cx="4949850" cy="4681625"/>
              </a:xfrm>
            </p:grpSpPr>
            <p:sp>
              <p:nvSpPr>
                <p:cNvPr id="486" name="Google Shape;486;p8"/>
                <p:cNvSpPr/>
                <p:nvPr/>
              </p:nvSpPr>
              <p:spPr>
                <a:xfrm>
                  <a:off x="132732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8"/>
                <p:cNvSpPr/>
                <p:nvPr/>
              </p:nvSpPr>
              <p:spPr>
                <a:xfrm>
                  <a:off x="54757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8"/>
                <p:cNvSpPr/>
                <p:nvPr/>
              </p:nvSpPr>
              <p:spPr>
                <a:xfrm>
                  <a:off x="2886825" y="418490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8"/>
                <p:cNvSpPr/>
                <p:nvPr/>
              </p:nvSpPr>
              <p:spPr>
                <a:xfrm>
                  <a:off x="54757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8"/>
                <p:cNvSpPr/>
                <p:nvPr/>
              </p:nvSpPr>
              <p:spPr>
                <a:xfrm>
                  <a:off x="405645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8"/>
                <p:cNvSpPr/>
                <p:nvPr/>
              </p:nvSpPr>
              <p:spPr>
                <a:xfrm>
                  <a:off x="1327325" y="3286625"/>
                  <a:ext cx="4757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8"/>
                <p:cNvSpPr/>
                <p:nvPr/>
              </p:nvSpPr>
              <p:spPr>
                <a:xfrm>
                  <a:off x="28868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8"/>
                <p:cNvSpPr/>
                <p:nvPr/>
              </p:nvSpPr>
              <p:spPr>
                <a:xfrm>
                  <a:off x="405645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8"/>
                <p:cNvSpPr/>
                <p:nvPr/>
              </p:nvSpPr>
              <p:spPr>
                <a:xfrm>
                  <a:off x="2886825" y="14884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8"/>
                <p:cNvSpPr/>
                <p:nvPr/>
              </p:nvSpPr>
              <p:spPr>
                <a:xfrm>
                  <a:off x="2107075" y="1488475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6" name="Google Shape;496;p8"/>
                <p:cNvSpPr/>
                <p:nvPr/>
              </p:nvSpPr>
              <p:spPr>
                <a:xfrm>
                  <a:off x="1489525" y="1953200"/>
                  <a:ext cx="293200" cy="2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7" name="Google Shape;497;p8"/>
                <p:cNvSpPr/>
                <p:nvPr/>
              </p:nvSpPr>
              <p:spPr>
                <a:xfrm>
                  <a:off x="756550" y="2436650"/>
                  <a:ext cx="29485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71" extrusionOk="0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8" name="Google Shape;498;p8"/>
                <p:cNvSpPr/>
                <p:nvPr/>
              </p:nvSpPr>
              <p:spPr>
                <a:xfrm>
                  <a:off x="903150" y="987950"/>
                  <a:ext cx="193400" cy="16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8"/>
                <p:cNvSpPr/>
                <p:nvPr/>
              </p:nvSpPr>
              <p:spPr>
                <a:xfrm>
                  <a:off x="500800" y="3122825"/>
                  <a:ext cx="193400" cy="16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0" name="Google Shape;500;p8"/>
                <p:cNvSpPr/>
                <p:nvPr/>
              </p:nvSpPr>
              <p:spPr>
                <a:xfrm>
                  <a:off x="2425225" y="925550"/>
                  <a:ext cx="293200" cy="25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1" name="Google Shape;501;p8"/>
                <p:cNvSpPr/>
                <p:nvPr/>
              </p:nvSpPr>
              <p:spPr>
                <a:xfrm>
                  <a:off x="959300" y="3261675"/>
                  <a:ext cx="293200" cy="25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07" extrusionOk="0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2" name="Google Shape;502;p8"/>
                <p:cNvSpPr/>
                <p:nvPr/>
              </p:nvSpPr>
              <p:spPr>
                <a:xfrm>
                  <a:off x="4580094" y="1751619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8"/>
                <p:cNvSpPr/>
                <p:nvPr/>
              </p:nvSpPr>
              <p:spPr>
                <a:xfrm>
                  <a:off x="1626750" y="1337275"/>
                  <a:ext cx="29485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66" extrusionOk="0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8"/>
                <p:cNvSpPr/>
                <p:nvPr/>
              </p:nvSpPr>
              <p:spPr>
                <a:xfrm>
                  <a:off x="363575" y="4242550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8"/>
                <p:cNvSpPr/>
                <p:nvPr/>
              </p:nvSpPr>
              <p:spPr>
                <a:xfrm>
                  <a:off x="1902850" y="376625"/>
                  <a:ext cx="29320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6" extrusionOk="0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8"/>
                <p:cNvSpPr/>
                <p:nvPr/>
              </p:nvSpPr>
              <p:spPr>
                <a:xfrm>
                  <a:off x="4836200" y="8147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8"/>
                <p:cNvSpPr/>
                <p:nvPr/>
              </p:nvSpPr>
              <p:spPr>
                <a:xfrm>
                  <a:off x="327670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8" name="Google Shape;508;p8"/>
              <p:cNvGrpSpPr/>
              <p:nvPr/>
            </p:nvGrpSpPr>
            <p:grpSpPr>
              <a:xfrm rot="-5400000">
                <a:off x="-174571" y="4016084"/>
                <a:ext cx="2259868" cy="2659687"/>
                <a:chOff x="1327325" y="365650"/>
                <a:chExt cx="3596225" cy="4232475"/>
              </a:xfrm>
            </p:grpSpPr>
            <p:sp>
              <p:nvSpPr>
                <p:cNvPr id="509" name="Google Shape;509;p8"/>
                <p:cNvSpPr/>
                <p:nvPr/>
              </p:nvSpPr>
              <p:spPr>
                <a:xfrm>
                  <a:off x="3276700" y="396035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8"/>
                <p:cNvSpPr/>
                <p:nvPr/>
              </p:nvSpPr>
              <p:spPr>
                <a:xfrm>
                  <a:off x="2107075" y="4184900"/>
                  <a:ext cx="4772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511;p8"/>
                <p:cNvSpPr/>
                <p:nvPr/>
              </p:nvSpPr>
              <p:spPr>
                <a:xfrm>
                  <a:off x="2496950" y="35112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8"/>
                <p:cNvSpPr/>
                <p:nvPr/>
              </p:nvSpPr>
              <p:spPr>
                <a:xfrm>
                  <a:off x="132732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8"/>
                <p:cNvSpPr/>
                <p:nvPr/>
              </p:nvSpPr>
              <p:spPr>
                <a:xfrm>
                  <a:off x="327670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8"/>
                <p:cNvSpPr/>
                <p:nvPr/>
              </p:nvSpPr>
              <p:spPr>
                <a:xfrm>
                  <a:off x="2107075" y="3286625"/>
                  <a:ext cx="4772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8"/>
                <p:cNvSpPr/>
                <p:nvPr/>
              </p:nvSpPr>
              <p:spPr>
                <a:xfrm>
                  <a:off x="44463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8"/>
                <p:cNvSpPr/>
                <p:nvPr/>
              </p:nvSpPr>
              <p:spPr>
                <a:xfrm>
                  <a:off x="3276700" y="2611300"/>
                  <a:ext cx="477225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517;p8"/>
                <p:cNvSpPr/>
                <p:nvPr/>
              </p:nvSpPr>
              <p:spPr>
                <a:xfrm>
                  <a:off x="2496950" y="26113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" name="Google Shape;518;p8"/>
                <p:cNvSpPr/>
                <p:nvPr/>
              </p:nvSpPr>
              <p:spPr>
                <a:xfrm>
                  <a:off x="2107075" y="28375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519;p8"/>
                <p:cNvSpPr/>
                <p:nvPr/>
              </p:nvSpPr>
              <p:spPr>
                <a:xfrm>
                  <a:off x="1717200" y="2611300"/>
                  <a:ext cx="4757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" name="Google Shape;520;p8"/>
                <p:cNvSpPr/>
                <p:nvPr/>
              </p:nvSpPr>
              <p:spPr>
                <a:xfrm>
                  <a:off x="366657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8"/>
                <p:cNvSpPr/>
                <p:nvPr/>
              </p:nvSpPr>
              <p:spPr>
                <a:xfrm>
                  <a:off x="327670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8"/>
                <p:cNvSpPr/>
                <p:nvPr/>
              </p:nvSpPr>
              <p:spPr>
                <a:xfrm>
                  <a:off x="288682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523;p8"/>
                <p:cNvSpPr/>
                <p:nvPr/>
              </p:nvSpPr>
              <p:spPr>
                <a:xfrm>
                  <a:off x="3276700" y="17130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8"/>
                <p:cNvSpPr/>
                <p:nvPr/>
              </p:nvSpPr>
              <p:spPr>
                <a:xfrm>
                  <a:off x="2496950" y="1713050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8"/>
                <p:cNvSpPr/>
                <p:nvPr/>
              </p:nvSpPr>
              <p:spPr>
                <a:xfrm>
                  <a:off x="2107075" y="19376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8"/>
                <p:cNvSpPr/>
                <p:nvPr/>
              </p:nvSpPr>
              <p:spPr>
                <a:xfrm>
                  <a:off x="4056450" y="126390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8"/>
                <p:cNvSpPr/>
                <p:nvPr/>
              </p:nvSpPr>
              <p:spPr>
                <a:xfrm>
                  <a:off x="44463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8"/>
                <p:cNvSpPr/>
                <p:nvPr/>
              </p:nvSpPr>
              <p:spPr>
                <a:xfrm>
                  <a:off x="366657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8"/>
                <p:cNvSpPr/>
                <p:nvPr/>
              </p:nvSpPr>
              <p:spPr>
                <a:xfrm>
                  <a:off x="405645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0" name="Google Shape;530;p8"/>
            <p:cNvGrpSpPr/>
            <p:nvPr/>
          </p:nvGrpSpPr>
          <p:grpSpPr>
            <a:xfrm>
              <a:off x="7508523" y="-126454"/>
              <a:ext cx="1878185" cy="1451618"/>
              <a:chOff x="7508523" y="-126454"/>
              <a:chExt cx="1878185" cy="1451618"/>
            </a:xfrm>
          </p:grpSpPr>
          <p:sp>
            <p:nvSpPr>
              <p:cNvPr id="531" name="Google Shape;531;p8"/>
              <p:cNvSpPr/>
              <p:nvPr/>
            </p:nvSpPr>
            <p:spPr>
              <a:xfrm rot="-5400000">
                <a:off x="9107400" y="-105874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8"/>
              <p:cNvSpPr/>
              <p:nvPr/>
            </p:nvSpPr>
            <p:spPr>
              <a:xfrm rot="-5400000">
                <a:off x="8260183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8"/>
              <p:cNvSpPr/>
              <p:nvPr/>
            </p:nvSpPr>
            <p:spPr>
              <a:xfrm rot="-5400000">
                <a:off x="8260175" y="383602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8"/>
              <p:cNvSpPr/>
              <p:nvPr/>
            </p:nvSpPr>
            <p:spPr>
              <a:xfrm rot="-5400000">
                <a:off x="8560063" y="879473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8"/>
              <p:cNvSpPr/>
              <p:nvPr/>
            </p:nvSpPr>
            <p:spPr>
              <a:xfrm rot="-5400000">
                <a:off x="7500173" y="163793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8"/>
              <p:cNvSpPr/>
              <p:nvPr/>
            </p:nvSpPr>
            <p:spPr>
              <a:xfrm rot="-5400000">
                <a:off x="7914249" y="291518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 rot="-5400000">
                <a:off x="8172451" y="792769"/>
                <a:ext cx="185284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8"/>
              <p:cNvSpPr/>
              <p:nvPr/>
            </p:nvSpPr>
            <p:spPr>
              <a:xfrm rot="-5400000">
                <a:off x="9017097" y="1153186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8"/>
              <p:cNvSpPr/>
              <p:nvPr/>
            </p:nvSpPr>
            <p:spPr>
              <a:xfrm rot="-5400000">
                <a:off x="8965766" y="13859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8"/>
              <p:cNvSpPr/>
              <p:nvPr/>
            </p:nvSpPr>
            <p:spPr>
              <a:xfrm rot="-5400000">
                <a:off x="9107392" y="384113"/>
                <a:ext cx="299904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8"/>
              <p:cNvSpPr/>
              <p:nvPr/>
            </p:nvSpPr>
            <p:spPr>
              <a:xfrm rot="-5400000">
                <a:off x="8966238" y="629063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8"/>
              <p:cNvSpPr/>
              <p:nvPr/>
            </p:nvSpPr>
            <p:spPr>
              <a:xfrm rot="-5400000">
                <a:off x="8824659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 rot="-5400000">
                <a:off x="8401298" y="138605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8"/>
              <p:cNvSpPr/>
              <p:nvPr/>
            </p:nvSpPr>
            <p:spPr>
              <a:xfrm rot="-5400000">
                <a:off x="8542413" y="383594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8"/>
            <p:cNvGrpSpPr/>
            <p:nvPr/>
          </p:nvGrpSpPr>
          <p:grpSpPr>
            <a:xfrm rot="5400000" flipH="1">
              <a:off x="1545550" y="2889903"/>
              <a:ext cx="1478792" cy="4004488"/>
              <a:chOff x="-206225" y="1111253"/>
              <a:chExt cx="1478792" cy="4004488"/>
            </a:xfrm>
          </p:grpSpPr>
          <p:sp>
            <p:nvSpPr>
              <p:cNvPr id="546" name="Google Shape;546;p8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8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8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8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8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8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8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8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8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8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8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8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8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8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8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8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8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8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8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8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8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8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8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2" name="Google Shape;572;p8"/>
          <p:cNvGrpSpPr/>
          <p:nvPr/>
        </p:nvGrpSpPr>
        <p:grpSpPr>
          <a:xfrm>
            <a:off x="-1163786" y="-311708"/>
            <a:ext cx="10460037" cy="3721540"/>
            <a:chOff x="-1163786" y="-311708"/>
            <a:chExt cx="10460037" cy="3721540"/>
          </a:xfrm>
        </p:grpSpPr>
        <p:pic>
          <p:nvPicPr>
            <p:cNvPr id="573" name="Google Shape;573;p8"/>
            <p:cNvPicPr preferRelativeResize="0"/>
            <p:nvPr/>
          </p:nvPicPr>
          <p:blipFill rotWithShape="1">
            <a:blip r:embed="rId2">
              <a:alphaModFix/>
            </a:blip>
            <a:srcRect t="12372" b="17295"/>
            <a:stretch/>
          </p:blipFill>
          <p:spPr>
            <a:xfrm rot="5162155" flipH="1">
              <a:off x="-1571478" y="298172"/>
              <a:ext cx="3557085" cy="2501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8"/>
            <p:cNvPicPr preferRelativeResize="0"/>
            <p:nvPr/>
          </p:nvPicPr>
          <p:blipFill rotWithShape="1">
            <a:blip r:embed="rId3">
              <a:alphaModFix/>
            </a:blip>
            <a:srcRect l="21516" t="11564" r="30243" b="8186"/>
            <a:stretch/>
          </p:blipFill>
          <p:spPr>
            <a:xfrm rot="9331888">
              <a:off x="8035448" y="210083"/>
              <a:ext cx="970150" cy="16138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"/>
          <p:cNvSpPr txBox="1">
            <a:spLocks noGrp="1"/>
          </p:cNvSpPr>
          <p:nvPr>
            <p:ph type="title"/>
          </p:nvPr>
        </p:nvSpPr>
        <p:spPr>
          <a:xfrm>
            <a:off x="720000" y="1795275"/>
            <a:ext cx="4294800" cy="17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78" name="Google Shape;578;p9"/>
          <p:cNvGrpSpPr/>
          <p:nvPr/>
        </p:nvGrpSpPr>
        <p:grpSpPr>
          <a:xfrm flipH="1">
            <a:off x="-261397" y="-122057"/>
            <a:ext cx="9474926" cy="5773556"/>
            <a:chOff x="169576" y="-122057"/>
            <a:chExt cx="9474926" cy="5773556"/>
          </a:xfrm>
        </p:grpSpPr>
        <p:grpSp>
          <p:nvGrpSpPr>
            <p:cNvPr id="579" name="Google Shape;579;p9"/>
            <p:cNvGrpSpPr/>
            <p:nvPr/>
          </p:nvGrpSpPr>
          <p:grpSpPr>
            <a:xfrm rot="-5400000">
              <a:off x="6959583" y="2966579"/>
              <a:ext cx="1596342" cy="3773497"/>
              <a:chOff x="-206225" y="1551945"/>
              <a:chExt cx="1596342" cy="3773497"/>
            </a:xfrm>
          </p:grpSpPr>
          <p:sp>
            <p:nvSpPr>
              <p:cNvPr id="580" name="Google Shape;580;p9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9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 rot="-5400000">
                <a:off x="890093" y="491579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9"/>
              <p:cNvSpPr/>
              <p:nvPr/>
            </p:nvSpPr>
            <p:spPr>
              <a:xfrm rot="-5400000">
                <a:off x="681815" y="3512799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9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 rot="-5400000">
                <a:off x="2243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9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9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9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9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9"/>
              <p:cNvSpPr/>
              <p:nvPr/>
            </p:nvSpPr>
            <p:spPr>
              <a:xfrm rot="-5400000">
                <a:off x="1098134" y="4720526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9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9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9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9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9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9"/>
              <p:cNvSpPr/>
              <p:nvPr/>
            </p:nvSpPr>
            <p:spPr>
              <a:xfrm rot="-5400000">
                <a:off x="178283" y="461105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9"/>
              <p:cNvSpPr/>
              <p:nvPr/>
            </p:nvSpPr>
            <p:spPr>
              <a:xfrm rot="-5400000">
                <a:off x="233899" y="5033458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9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9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9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9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9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9"/>
            <p:cNvGrpSpPr/>
            <p:nvPr/>
          </p:nvGrpSpPr>
          <p:grpSpPr>
            <a:xfrm rot="-696">
              <a:off x="169576" y="-121861"/>
              <a:ext cx="1929403" cy="1026442"/>
              <a:chOff x="1489774" y="1713050"/>
              <a:chExt cx="3908048" cy="2079502"/>
            </a:xfrm>
          </p:grpSpPr>
          <p:sp>
            <p:nvSpPr>
              <p:cNvPr id="607" name="Google Shape;607;p9"/>
              <p:cNvSpPr/>
              <p:nvPr/>
            </p:nvSpPr>
            <p:spPr>
              <a:xfrm>
                <a:off x="1489774" y="3455720"/>
                <a:ext cx="390465" cy="33683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9"/>
              <p:cNvSpPr/>
              <p:nvPr/>
            </p:nvSpPr>
            <p:spPr>
              <a:xfrm>
                <a:off x="4920573" y="1859189"/>
                <a:ext cx="477250" cy="4117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9"/>
              <p:cNvSpPr/>
              <p:nvPr/>
            </p:nvSpPr>
            <p:spPr>
              <a:xfrm>
                <a:off x="4057943" y="2725201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9"/>
              <p:cNvSpPr/>
              <p:nvPr/>
            </p:nvSpPr>
            <p:spPr>
              <a:xfrm>
                <a:off x="3276700" y="2611300"/>
                <a:ext cx="477225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9"/>
              <p:cNvSpPr/>
              <p:nvPr/>
            </p:nvSpPr>
            <p:spPr>
              <a:xfrm>
                <a:off x="2496950" y="2611300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9"/>
              <p:cNvSpPr/>
              <p:nvPr/>
            </p:nvSpPr>
            <p:spPr>
              <a:xfrm>
                <a:off x="2107075" y="2837500"/>
                <a:ext cx="4772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9"/>
              <p:cNvSpPr/>
              <p:nvPr/>
            </p:nvSpPr>
            <p:spPr>
              <a:xfrm>
                <a:off x="1717200" y="2611300"/>
                <a:ext cx="4757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9"/>
              <p:cNvSpPr/>
              <p:nvPr/>
            </p:nvSpPr>
            <p:spPr>
              <a:xfrm>
                <a:off x="366657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9"/>
              <p:cNvSpPr/>
              <p:nvPr/>
            </p:nvSpPr>
            <p:spPr>
              <a:xfrm>
                <a:off x="3276700" y="2162175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9"/>
              <p:cNvSpPr/>
              <p:nvPr/>
            </p:nvSpPr>
            <p:spPr>
              <a:xfrm>
                <a:off x="288682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9"/>
              <p:cNvSpPr/>
              <p:nvPr/>
            </p:nvSpPr>
            <p:spPr>
              <a:xfrm>
                <a:off x="3276700" y="17130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9"/>
              <p:cNvSpPr/>
              <p:nvPr/>
            </p:nvSpPr>
            <p:spPr>
              <a:xfrm>
                <a:off x="2496950" y="1713050"/>
                <a:ext cx="477250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9"/>
              <p:cNvSpPr/>
              <p:nvPr/>
            </p:nvSpPr>
            <p:spPr>
              <a:xfrm>
                <a:off x="2107034" y="2386713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9"/>
              <p:cNvSpPr/>
              <p:nvPr/>
            </p:nvSpPr>
            <p:spPr>
              <a:xfrm>
                <a:off x="4535195" y="2424561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9"/>
              <p:cNvSpPr/>
              <p:nvPr/>
            </p:nvSpPr>
            <p:spPr>
              <a:xfrm>
                <a:off x="395577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22" name="Google Shape;622;p9"/>
          <p:cNvPicPr preferRelativeResize="0"/>
          <p:nvPr/>
        </p:nvPicPr>
        <p:blipFill rotWithShape="1">
          <a:blip r:embed="rId2">
            <a:alphaModFix/>
          </a:blip>
          <a:srcRect b="27092"/>
          <a:stretch/>
        </p:blipFill>
        <p:spPr>
          <a:xfrm rot="-5399901" flipH="1">
            <a:off x="8191090" y="257279"/>
            <a:ext cx="1037800" cy="75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1"/>
          <p:cNvSpPr txBox="1">
            <a:spLocks noGrp="1"/>
          </p:cNvSpPr>
          <p:nvPr>
            <p:ph type="title" hasCustomPrompt="1"/>
          </p:nvPr>
        </p:nvSpPr>
        <p:spPr>
          <a:xfrm>
            <a:off x="2330550" y="1897163"/>
            <a:ext cx="44829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8" name="Google Shape;628;p11"/>
          <p:cNvSpPr txBox="1">
            <a:spLocks noGrp="1"/>
          </p:cNvSpPr>
          <p:nvPr>
            <p:ph type="subTitle" idx="1"/>
          </p:nvPr>
        </p:nvSpPr>
        <p:spPr>
          <a:xfrm>
            <a:off x="2330550" y="2880638"/>
            <a:ext cx="4482900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9" name="Google Shape;629;p11"/>
          <p:cNvGrpSpPr/>
          <p:nvPr/>
        </p:nvGrpSpPr>
        <p:grpSpPr>
          <a:xfrm>
            <a:off x="-120700" y="-59005"/>
            <a:ext cx="9242832" cy="5341529"/>
            <a:chOff x="-120700" y="-59005"/>
            <a:chExt cx="9242832" cy="5341529"/>
          </a:xfrm>
        </p:grpSpPr>
        <p:grpSp>
          <p:nvGrpSpPr>
            <p:cNvPr id="630" name="Google Shape;630;p11"/>
            <p:cNvGrpSpPr/>
            <p:nvPr/>
          </p:nvGrpSpPr>
          <p:grpSpPr>
            <a:xfrm rot="10800000" flipH="1">
              <a:off x="-120700" y="-49847"/>
              <a:ext cx="1478792" cy="4004488"/>
              <a:chOff x="-206225" y="1111253"/>
              <a:chExt cx="1478792" cy="4004488"/>
            </a:xfrm>
          </p:grpSpPr>
          <p:sp>
            <p:nvSpPr>
              <p:cNvPr id="631" name="Google Shape;631;p11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1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1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1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1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1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1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1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1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11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1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11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11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11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11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11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11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11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11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1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1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1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1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1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11"/>
            <p:cNvGrpSpPr/>
            <p:nvPr/>
          </p:nvGrpSpPr>
          <p:grpSpPr>
            <a:xfrm>
              <a:off x="7714535" y="-59005"/>
              <a:ext cx="1407597" cy="1308239"/>
              <a:chOff x="7714535" y="-59005"/>
              <a:chExt cx="1407597" cy="1308239"/>
            </a:xfrm>
          </p:grpSpPr>
          <p:sp>
            <p:nvSpPr>
              <p:cNvPr id="658" name="Google Shape;658;p11"/>
              <p:cNvSpPr/>
              <p:nvPr/>
            </p:nvSpPr>
            <p:spPr>
              <a:xfrm>
                <a:off x="8392991" y="332730"/>
                <a:ext cx="276838" cy="23884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1"/>
              <p:cNvSpPr/>
              <p:nvPr/>
            </p:nvSpPr>
            <p:spPr>
              <a:xfrm>
                <a:off x="8898672" y="1158652"/>
                <a:ext cx="104438" cy="9058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1"/>
              <p:cNvSpPr/>
              <p:nvPr/>
            </p:nvSpPr>
            <p:spPr>
              <a:xfrm>
                <a:off x="8933211" y="724397"/>
                <a:ext cx="171042" cy="147505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8845294" y="332730"/>
                <a:ext cx="276838" cy="23884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1"/>
              <p:cNvSpPr/>
              <p:nvPr/>
            </p:nvSpPr>
            <p:spPr>
              <a:xfrm>
                <a:off x="7715409" y="-58532"/>
                <a:ext cx="275983" cy="238842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1"/>
              <p:cNvSpPr/>
              <p:nvPr/>
            </p:nvSpPr>
            <p:spPr>
              <a:xfrm>
                <a:off x="8166839" y="-59005"/>
                <a:ext cx="276853" cy="23978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1"/>
              <p:cNvSpPr/>
              <p:nvPr/>
            </p:nvSpPr>
            <p:spPr>
              <a:xfrm>
                <a:off x="8619142" y="201519"/>
                <a:ext cx="276838" cy="23979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11"/>
              <p:cNvSpPr/>
              <p:nvPr/>
            </p:nvSpPr>
            <p:spPr>
              <a:xfrm>
                <a:off x="8166839" y="201519"/>
                <a:ext cx="276853" cy="23979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11"/>
              <p:cNvSpPr/>
              <p:nvPr/>
            </p:nvSpPr>
            <p:spPr>
              <a:xfrm>
                <a:off x="7940687" y="332730"/>
                <a:ext cx="276853" cy="23884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11"/>
              <p:cNvSpPr/>
              <p:nvPr/>
            </p:nvSpPr>
            <p:spPr>
              <a:xfrm>
                <a:off x="7714535" y="201519"/>
                <a:ext cx="275983" cy="23979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11"/>
              <p:cNvSpPr/>
              <p:nvPr/>
            </p:nvSpPr>
            <p:spPr>
              <a:xfrm>
                <a:off x="8619142" y="-59005"/>
                <a:ext cx="276838" cy="23978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11"/>
              <p:cNvSpPr/>
              <p:nvPr/>
            </p:nvSpPr>
            <p:spPr>
              <a:xfrm>
                <a:off x="8392991" y="71264"/>
                <a:ext cx="276838" cy="23978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0" name="Google Shape;670;p11"/>
            <p:cNvGrpSpPr/>
            <p:nvPr/>
          </p:nvGrpSpPr>
          <p:grpSpPr>
            <a:xfrm>
              <a:off x="6424446" y="4174658"/>
              <a:ext cx="2686504" cy="1107866"/>
              <a:chOff x="6424446" y="4174658"/>
              <a:chExt cx="2686504" cy="1107866"/>
            </a:xfrm>
          </p:grpSpPr>
          <p:sp>
            <p:nvSpPr>
              <p:cNvPr id="671" name="Google Shape;671;p11"/>
              <p:cNvSpPr/>
              <p:nvPr/>
            </p:nvSpPr>
            <p:spPr>
              <a:xfrm rot="10800000">
                <a:off x="7480052" y="4462139"/>
                <a:ext cx="298504" cy="2575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1"/>
              <p:cNvSpPr/>
              <p:nvPr/>
            </p:nvSpPr>
            <p:spPr>
              <a:xfrm rot="10800000">
                <a:off x="6748503" y="4883511"/>
                <a:ext cx="298504" cy="2585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1"/>
              <p:cNvSpPr/>
              <p:nvPr/>
            </p:nvSpPr>
            <p:spPr>
              <a:xfrm rot="10800000">
                <a:off x="8455431" y="4934033"/>
                <a:ext cx="183397" cy="15906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1"/>
              <p:cNvSpPr/>
              <p:nvPr/>
            </p:nvSpPr>
            <p:spPr>
              <a:xfrm rot="10800000">
                <a:off x="8926521" y="4811339"/>
                <a:ext cx="184429" cy="15904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1"/>
              <p:cNvSpPr/>
              <p:nvPr/>
            </p:nvSpPr>
            <p:spPr>
              <a:xfrm rot="10800000">
                <a:off x="6992353" y="4462139"/>
                <a:ext cx="298504" cy="2575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1"/>
              <p:cNvSpPr/>
              <p:nvPr/>
            </p:nvSpPr>
            <p:spPr>
              <a:xfrm rot="10800000">
                <a:off x="8456373" y="4462139"/>
                <a:ext cx="297582" cy="257534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11"/>
              <p:cNvSpPr/>
              <p:nvPr/>
            </p:nvSpPr>
            <p:spPr>
              <a:xfrm rot="10800000">
                <a:off x="7723886" y="4883511"/>
                <a:ext cx="298520" cy="2585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1"/>
              <p:cNvSpPr/>
              <p:nvPr/>
            </p:nvSpPr>
            <p:spPr>
              <a:xfrm rot="10800000">
                <a:off x="6992353" y="5023958"/>
                <a:ext cx="298504" cy="25856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1"/>
              <p:cNvSpPr/>
              <p:nvPr/>
            </p:nvSpPr>
            <p:spPr>
              <a:xfrm rot="10800000">
                <a:off x="8753944" y="4174658"/>
                <a:ext cx="298504" cy="2575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1"/>
              <p:cNvSpPr/>
              <p:nvPr/>
            </p:nvSpPr>
            <p:spPr>
              <a:xfrm rot="10800000">
                <a:off x="7236202" y="4602586"/>
                <a:ext cx="298504" cy="25856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1"/>
              <p:cNvSpPr/>
              <p:nvPr/>
            </p:nvSpPr>
            <p:spPr>
              <a:xfrm rot="10800000">
                <a:off x="7723886" y="4602586"/>
                <a:ext cx="298520" cy="25856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1"/>
              <p:cNvSpPr/>
              <p:nvPr/>
            </p:nvSpPr>
            <p:spPr>
              <a:xfrm rot="10800000">
                <a:off x="7967736" y="4462139"/>
                <a:ext cx="298520" cy="2575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1"/>
              <p:cNvSpPr/>
              <p:nvPr/>
            </p:nvSpPr>
            <p:spPr>
              <a:xfrm rot="10800000">
                <a:off x="8212523" y="4602586"/>
                <a:ext cx="297582" cy="25856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1"/>
              <p:cNvSpPr/>
              <p:nvPr/>
            </p:nvSpPr>
            <p:spPr>
              <a:xfrm rot="10800000">
                <a:off x="6992353" y="4743049"/>
                <a:ext cx="298504" cy="2585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1"/>
              <p:cNvSpPr/>
              <p:nvPr/>
            </p:nvSpPr>
            <p:spPr>
              <a:xfrm rot="10800000">
                <a:off x="7236202" y="4883511"/>
                <a:ext cx="298504" cy="2585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1"/>
              <p:cNvSpPr/>
              <p:nvPr/>
            </p:nvSpPr>
            <p:spPr>
              <a:xfrm rot="10800000">
                <a:off x="7480052" y="4743049"/>
                <a:ext cx="298504" cy="2585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1"/>
              <p:cNvSpPr/>
              <p:nvPr/>
            </p:nvSpPr>
            <p:spPr>
              <a:xfrm rot="10800000">
                <a:off x="7967736" y="5023958"/>
                <a:ext cx="298520" cy="25856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1"/>
              <p:cNvSpPr/>
              <p:nvPr/>
            </p:nvSpPr>
            <p:spPr>
              <a:xfrm rot="10800000">
                <a:off x="6424446" y="5001589"/>
                <a:ext cx="184429" cy="15904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1"/>
              <p:cNvSpPr/>
              <p:nvPr/>
            </p:nvSpPr>
            <p:spPr>
              <a:xfrm rot="-5400000" flipH="1">
                <a:off x="6600215" y="4817588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0" name="Google Shape;690;p11"/>
          <p:cNvGrpSpPr/>
          <p:nvPr/>
        </p:nvGrpSpPr>
        <p:grpSpPr>
          <a:xfrm>
            <a:off x="-879225" y="-120727"/>
            <a:ext cx="10038413" cy="2638002"/>
            <a:chOff x="-879225" y="-120727"/>
            <a:chExt cx="10038413" cy="2638002"/>
          </a:xfrm>
        </p:grpSpPr>
        <p:pic>
          <p:nvPicPr>
            <p:cNvPr id="691" name="Google Shape;691;p11"/>
            <p:cNvPicPr preferRelativeResize="0"/>
            <p:nvPr/>
          </p:nvPicPr>
          <p:blipFill rotWithShape="1">
            <a:blip r:embed="rId2">
              <a:alphaModFix/>
            </a:blip>
            <a:srcRect b="23395"/>
            <a:stretch/>
          </p:blipFill>
          <p:spPr>
            <a:xfrm rot="-4487736" flipH="1">
              <a:off x="7703431" y="170099"/>
              <a:ext cx="1454664" cy="1114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2" name="Google Shape;692;p11"/>
            <p:cNvPicPr preferRelativeResize="0"/>
            <p:nvPr/>
          </p:nvPicPr>
          <p:blipFill rotWithShape="1">
            <a:blip r:embed="rId3">
              <a:alphaModFix/>
            </a:blip>
            <a:srcRect l="19248" t="9344" r="24635" b="21748"/>
            <a:stretch/>
          </p:blipFill>
          <p:spPr>
            <a:xfrm>
              <a:off x="-879225" y="173275"/>
              <a:ext cx="1908900" cy="234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14"/>
          <p:cNvGrpSpPr/>
          <p:nvPr/>
        </p:nvGrpSpPr>
        <p:grpSpPr>
          <a:xfrm>
            <a:off x="-124215" y="-357650"/>
            <a:ext cx="9603607" cy="5473391"/>
            <a:chOff x="-124215" y="-357650"/>
            <a:chExt cx="9603607" cy="5473391"/>
          </a:xfrm>
        </p:grpSpPr>
        <p:grpSp>
          <p:nvGrpSpPr>
            <p:cNvPr id="746" name="Google Shape;746;p14"/>
            <p:cNvGrpSpPr/>
            <p:nvPr/>
          </p:nvGrpSpPr>
          <p:grpSpPr>
            <a:xfrm flipH="1">
              <a:off x="8000600" y="1111253"/>
              <a:ext cx="1478792" cy="4004488"/>
              <a:chOff x="-206225" y="1111253"/>
              <a:chExt cx="1478792" cy="4004488"/>
            </a:xfrm>
          </p:grpSpPr>
          <p:sp>
            <p:nvSpPr>
              <p:cNvPr id="747" name="Google Shape;747;p14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4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4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4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4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4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4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4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4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3" name="Google Shape;773;p14"/>
            <p:cNvGrpSpPr/>
            <p:nvPr/>
          </p:nvGrpSpPr>
          <p:grpSpPr>
            <a:xfrm>
              <a:off x="-124215" y="32626"/>
              <a:ext cx="1207390" cy="1867482"/>
              <a:chOff x="-124215" y="32626"/>
              <a:chExt cx="1207390" cy="1867482"/>
            </a:xfrm>
          </p:grpSpPr>
          <p:sp>
            <p:nvSpPr>
              <p:cNvPr id="774" name="Google Shape;774;p14"/>
              <p:cNvSpPr/>
              <p:nvPr/>
            </p:nvSpPr>
            <p:spPr>
              <a:xfrm>
                <a:off x="338030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800276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4"/>
              <p:cNvSpPr/>
              <p:nvPr/>
            </p:nvSpPr>
            <p:spPr>
              <a:xfrm>
                <a:off x="338030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4"/>
              <p:cNvSpPr/>
              <p:nvPr/>
            </p:nvSpPr>
            <p:spPr>
              <a:xfrm>
                <a:off x="338030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4"/>
              <p:cNvSpPr/>
              <p:nvPr/>
            </p:nvSpPr>
            <p:spPr>
              <a:xfrm>
                <a:off x="76437" y="1749448"/>
                <a:ext cx="173824" cy="150660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4"/>
              <p:cNvSpPr/>
              <p:nvPr/>
            </p:nvSpPr>
            <p:spPr>
              <a:xfrm>
                <a:off x="255792" y="1411959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4"/>
              <p:cNvSpPr/>
              <p:nvPr/>
            </p:nvSpPr>
            <p:spPr>
              <a:xfrm>
                <a:off x="635726" y="1574672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4"/>
              <p:cNvSpPr/>
              <p:nvPr/>
            </p:nvSpPr>
            <p:spPr>
              <a:xfrm>
                <a:off x="662566" y="1098597"/>
                <a:ext cx="173809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4"/>
              <p:cNvSpPr/>
              <p:nvPr/>
            </p:nvSpPr>
            <p:spPr>
              <a:xfrm>
                <a:off x="-124215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4"/>
              <p:cNvSpPr/>
              <p:nvPr/>
            </p:nvSpPr>
            <p:spPr>
              <a:xfrm>
                <a:off x="106908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4"/>
              <p:cNvSpPr/>
              <p:nvPr/>
            </p:nvSpPr>
            <p:spPr>
              <a:xfrm>
                <a:off x="106908" y="165743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4"/>
              <p:cNvSpPr/>
              <p:nvPr/>
            </p:nvSpPr>
            <p:spPr>
              <a:xfrm>
                <a:off x="-124215" y="1364859"/>
                <a:ext cx="282899" cy="24496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4"/>
              <p:cNvSpPr/>
              <p:nvPr/>
            </p:nvSpPr>
            <p:spPr>
              <a:xfrm>
                <a:off x="106908" y="965465"/>
                <a:ext cx="282899" cy="2440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>
                <a:off x="-124215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4"/>
              <p:cNvSpPr/>
              <p:nvPr/>
            </p:nvSpPr>
            <p:spPr>
              <a:xfrm>
                <a:off x="569153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4"/>
              <p:cNvSpPr/>
              <p:nvPr/>
            </p:nvSpPr>
            <p:spPr>
              <a:xfrm>
                <a:off x="-124215" y="565122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106908" y="432005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-124215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-124215" y="32626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" name="Google Shape;793;p14"/>
            <p:cNvGrpSpPr/>
            <p:nvPr/>
          </p:nvGrpSpPr>
          <p:grpSpPr>
            <a:xfrm>
              <a:off x="5909175" y="-357650"/>
              <a:ext cx="3090347" cy="1182725"/>
              <a:chOff x="5909175" y="-357650"/>
              <a:chExt cx="3090347" cy="1182725"/>
            </a:xfrm>
          </p:grpSpPr>
          <p:sp>
            <p:nvSpPr>
              <p:cNvPr id="794" name="Google Shape;794;p14"/>
              <p:cNvSpPr/>
              <p:nvPr/>
            </p:nvSpPr>
            <p:spPr>
              <a:xfrm>
                <a:off x="7331346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4"/>
              <p:cNvSpPr/>
              <p:nvPr/>
            </p:nvSpPr>
            <p:spPr>
              <a:xfrm>
                <a:off x="8112187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4"/>
              <p:cNvSpPr/>
              <p:nvPr/>
            </p:nvSpPr>
            <p:spPr>
              <a:xfrm>
                <a:off x="6413109" y="-5551"/>
                <a:ext cx="19574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5909175" y="125425"/>
                <a:ext cx="196842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8803782" y="-13229"/>
                <a:ext cx="195740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4"/>
              <p:cNvSpPr/>
              <p:nvPr/>
            </p:nvSpPr>
            <p:spPr>
              <a:xfrm>
                <a:off x="7851907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4"/>
              <p:cNvSpPr/>
              <p:nvPr/>
            </p:nvSpPr>
            <p:spPr>
              <a:xfrm>
                <a:off x="6290224" y="393033"/>
                <a:ext cx="317611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7071066" y="-57814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7851907" y="-207740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4"/>
              <p:cNvSpPr/>
              <p:nvPr/>
            </p:nvSpPr>
            <p:spPr>
              <a:xfrm>
                <a:off x="8680918" y="550208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4"/>
              <p:cNvSpPr/>
              <p:nvPr/>
            </p:nvSpPr>
            <p:spPr>
              <a:xfrm>
                <a:off x="7591626" y="242021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4"/>
              <p:cNvSpPr/>
              <p:nvPr/>
            </p:nvSpPr>
            <p:spPr>
              <a:xfrm>
                <a:off x="7071066" y="242021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4"/>
              <p:cNvSpPr/>
              <p:nvPr/>
            </p:nvSpPr>
            <p:spPr>
              <a:xfrm>
                <a:off x="6810785" y="393033"/>
                <a:ext cx="318612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4"/>
              <p:cNvSpPr/>
              <p:nvPr/>
            </p:nvSpPr>
            <p:spPr>
              <a:xfrm>
                <a:off x="6550505" y="242021"/>
                <a:ext cx="317611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4"/>
              <p:cNvSpPr/>
              <p:nvPr/>
            </p:nvSpPr>
            <p:spPr>
              <a:xfrm>
                <a:off x="7851907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4"/>
              <p:cNvSpPr/>
              <p:nvPr/>
            </p:nvSpPr>
            <p:spPr>
              <a:xfrm>
                <a:off x="7591626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4"/>
              <p:cNvSpPr/>
              <p:nvPr/>
            </p:nvSpPr>
            <p:spPr>
              <a:xfrm>
                <a:off x="7331346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4"/>
              <p:cNvSpPr/>
              <p:nvPr/>
            </p:nvSpPr>
            <p:spPr>
              <a:xfrm>
                <a:off x="7591626" y="-357650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4"/>
              <p:cNvSpPr/>
              <p:nvPr/>
            </p:nvSpPr>
            <p:spPr>
              <a:xfrm>
                <a:off x="7071066" y="-357650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4"/>
              <p:cNvSpPr/>
              <p:nvPr/>
            </p:nvSpPr>
            <p:spPr>
              <a:xfrm>
                <a:off x="6810785" y="-207740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4" name="Google Shape;814;p14"/>
          <p:cNvGrpSpPr/>
          <p:nvPr/>
        </p:nvGrpSpPr>
        <p:grpSpPr>
          <a:xfrm>
            <a:off x="0" y="107800"/>
            <a:ext cx="9002249" cy="4934691"/>
            <a:chOff x="0" y="107800"/>
            <a:chExt cx="9002249" cy="4934691"/>
          </a:xfrm>
        </p:grpSpPr>
        <p:pic>
          <p:nvPicPr>
            <p:cNvPr id="815" name="Google Shape;81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631295">
              <a:off x="7644645" y="3684857"/>
              <a:ext cx="1253684" cy="1253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6" name="Google Shape;816;p14"/>
            <p:cNvPicPr preferRelativeResize="0"/>
            <p:nvPr/>
          </p:nvPicPr>
          <p:blipFill rotWithShape="1">
            <a:blip r:embed="rId3">
              <a:alphaModFix/>
            </a:blip>
            <a:srcRect r="28653"/>
            <a:stretch/>
          </p:blipFill>
          <p:spPr>
            <a:xfrm rot="-826755" flipH="1">
              <a:off x="148252" y="203946"/>
              <a:ext cx="971947" cy="13622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7" name="Google Shape;817;p14"/>
          <p:cNvSpPr txBox="1">
            <a:spLocks noGrp="1"/>
          </p:cNvSpPr>
          <p:nvPr>
            <p:ph type="title"/>
          </p:nvPr>
        </p:nvSpPr>
        <p:spPr>
          <a:xfrm>
            <a:off x="2014800" y="3408538"/>
            <a:ext cx="51144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8" name="Google Shape;818;p14"/>
          <p:cNvSpPr txBox="1">
            <a:spLocks noGrp="1"/>
          </p:cNvSpPr>
          <p:nvPr>
            <p:ph type="subTitle" idx="1"/>
          </p:nvPr>
        </p:nvSpPr>
        <p:spPr>
          <a:xfrm>
            <a:off x="2014800" y="1203063"/>
            <a:ext cx="5114400" cy="216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89" name="Google Shape;889;p17"/>
          <p:cNvGrpSpPr/>
          <p:nvPr/>
        </p:nvGrpSpPr>
        <p:grpSpPr>
          <a:xfrm>
            <a:off x="56603" y="-89369"/>
            <a:ext cx="9372039" cy="5703969"/>
            <a:chOff x="56603" y="-89369"/>
            <a:chExt cx="9372039" cy="5703969"/>
          </a:xfrm>
        </p:grpSpPr>
        <p:grpSp>
          <p:nvGrpSpPr>
            <p:cNvPr id="890" name="Google Shape;890;p17"/>
            <p:cNvGrpSpPr/>
            <p:nvPr/>
          </p:nvGrpSpPr>
          <p:grpSpPr>
            <a:xfrm rot="5400000" flipH="1">
              <a:off x="1040282" y="2965933"/>
              <a:ext cx="1664988" cy="3632346"/>
              <a:chOff x="-58982" y="1551945"/>
              <a:chExt cx="1664988" cy="3632346"/>
            </a:xfrm>
          </p:grpSpPr>
          <p:sp>
            <p:nvSpPr>
              <p:cNvPr id="891" name="Google Shape;891;p17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7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7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7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7"/>
              <p:cNvSpPr/>
              <p:nvPr/>
            </p:nvSpPr>
            <p:spPr>
              <a:xfrm rot="-5400000">
                <a:off x="1487865" y="5066149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7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17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17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7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7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7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7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7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7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7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7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7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7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7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7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7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7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7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7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915;p17"/>
            <p:cNvGrpSpPr/>
            <p:nvPr/>
          </p:nvGrpSpPr>
          <p:grpSpPr>
            <a:xfrm rot="-5400000">
              <a:off x="8052632" y="364889"/>
              <a:ext cx="1830267" cy="921753"/>
              <a:chOff x="1717200" y="1713050"/>
              <a:chExt cx="3495545" cy="1760750"/>
            </a:xfrm>
          </p:grpSpPr>
          <p:sp>
            <p:nvSpPr>
              <p:cNvPr id="916" name="Google Shape;916;p17"/>
              <p:cNvSpPr/>
              <p:nvPr/>
            </p:nvSpPr>
            <p:spPr>
              <a:xfrm>
                <a:off x="3276700" y="3062075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7"/>
              <p:cNvSpPr/>
              <p:nvPr/>
            </p:nvSpPr>
            <p:spPr>
              <a:xfrm>
                <a:off x="4057943" y="2725201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7"/>
              <p:cNvSpPr/>
              <p:nvPr/>
            </p:nvSpPr>
            <p:spPr>
              <a:xfrm>
                <a:off x="3276700" y="2611300"/>
                <a:ext cx="477225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7"/>
              <p:cNvSpPr/>
              <p:nvPr/>
            </p:nvSpPr>
            <p:spPr>
              <a:xfrm>
                <a:off x="2496950" y="2611300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7"/>
              <p:cNvSpPr/>
              <p:nvPr/>
            </p:nvSpPr>
            <p:spPr>
              <a:xfrm>
                <a:off x="2107075" y="2837500"/>
                <a:ext cx="4772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7"/>
              <p:cNvSpPr/>
              <p:nvPr/>
            </p:nvSpPr>
            <p:spPr>
              <a:xfrm>
                <a:off x="1717200" y="2611300"/>
                <a:ext cx="4757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7"/>
              <p:cNvSpPr/>
              <p:nvPr/>
            </p:nvSpPr>
            <p:spPr>
              <a:xfrm>
                <a:off x="366657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7"/>
              <p:cNvSpPr/>
              <p:nvPr/>
            </p:nvSpPr>
            <p:spPr>
              <a:xfrm>
                <a:off x="3276700" y="2162175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7"/>
              <p:cNvSpPr/>
              <p:nvPr/>
            </p:nvSpPr>
            <p:spPr>
              <a:xfrm>
                <a:off x="288682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7"/>
              <p:cNvSpPr/>
              <p:nvPr/>
            </p:nvSpPr>
            <p:spPr>
              <a:xfrm>
                <a:off x="3276700" y="17130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7"/>
              <p:cNvSpPr/>
              <p:nvPr/>
            </p:nvSpPr>
            <p:spPr>
              <a:xfrm>
                <a:off x="2496950" y="1713050"/>
                <a:ext cx="477250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7"/>
              <p:cNvSpPr/>
              <p:nvPr/>
            </p:nvSpPr>
            <p:spPr>
              <a:xfrm>
                <a:off x="2107034" y="2386713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7"/>
              <p:cNvSpPr/>
              <p:nvPr/>
            </p:nvSpPr>
            <p:spPr>
              <a:xfrm>
                <a:off x="473552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7"/>
              <p:cNvSpPr/>
              <p:nvPr/>
            </p:nvSpPr>
            <p:spPr>
              <a:xfrm>
                <a:off x="395577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930" name="Google Shape;930;p17"/>
          <p:cNvPicPr preferRelativeResize="0"/>
          <p:nvPr/>
        </p:nvPicPr>
        <p:blipFill rotWithShape="1">
          <a:blip r:embed="rId2">
            <a:alphaModFix/>
          </a:blip>
          <a:srcRect l="21516" t="11564" r="30243" b="8186"/>
          <a:stretch/>
        </p:blipFill>
        <p:spPr>
          <a:xfrm rot="6646039">
            <a:off x="8043038" y="-191673"/>
            <a:ext cx="656098" cy="10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9" name="Google Shape;1119;p2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120" name="Google Shape;1120;p22"/>
          <p:cNvGrpSpPr/>
          <p:nvPr/>
        </p:nvGrpSpPr>
        <p:grpSpPr>
          <a:xfrm>
            <a:off x="-145710" y="1386445"/>
            <a:ext cx="9383341" cy="3832482"/>
            <a:chOff x="-145710" y="1386445"/>
            <a:chExt cx="9383341" cy="3832482"/>
          </a:xfrm>
        </p:grpSpPr>
        <p:grpSp>
          <p:nvGrpSpPr>
            <p:cNvPr id="1121" name="Google Shape;1121;p22"/>
            <p:cNvGrpSpPr/>
            <p:nvPr/>
          </p:nvGrpSpPr>
          <p:grpSpPr>
            <a:xfrm>
              <a:off x="-145710" y="1386445"/>
              <a:ext cx="736979" cy="1645115"/>
              <a:chOff x="-145710" y="1386445"/>
              <a:chExt cx="736979" cy="1645115"/>
            </a:xfrm>
          </p:grpSpPr>
          <p:grpSp>
            <p:nvGrpSpPr>
              <p:cNvPr id="1122" name="Google Shape;1122;p22"/>
              <p:cNvGrpSpPr/>
              <p:nvPr/>
            </p:nvGrpSpPr>
            <p:grpSpPr>
              <a:xfrm>
                <a:off x="-145710" y="1824882"/>
                <a:ext cx="736979" cy="1206678"/>
                <a:chOff x="-145710" y="-63843"/>
                <a:chExt cx="736979" cy="1206678"/>
              </a:xfrm>
            </p:grpSpPr>
            <p:sp>
              <p:nvSpPr>
                <p:cNvPr id="1123" name="Google Shape;1123;p22"/>
                <p:cNvSpPr/>
                <p:nvPr/>
              </p:nvSpPr>
              <p:spPr>
                <a:xfrm rot="5400000">
                  <a:off x="239847" y="988593"/>
                  <a:ext cx="165662" cy="142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3" h="10167" extrusionOk="0">
                      <a:moveTo>
                        <a:pt x="2934" y="1"/>
                      </a:moveTo>
                      <a:lnTo>
                        <a:pt x="0" y="5116"/>
                      </a:lnTo>
                      <a:lnTo>
                        <a:pt x="2934" y="10166"/>
                      </a:lnTo>
                      <a:lnTo>
                        <a:pt x="8798" y="10166"/>
                      </a:lnTo>
                      <a:lnTo>
                        <a:pt x="11792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22"/>
                <p:cNvSpPr/>
                <p:nvPr/>
              </p:nvSpPr>
              <p:spPr>
                <a:xfrm rot="5400000">
                  <a:off x="88704" y="611304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4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5" name="Google Shape;1125;p22"/>
                <p:cNvSpPr/>
                <p:nvPr/>
              </p:nvSpPr>
              <p:spPr>
                <a:xfrm rot="5400000">
                  <a:off x="88704" y="173170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6" name="Google Shape;1126;p22"/>
                <p:cNvSpPr/>
                <p:nvPr/>
              </p:nvSpPr>
              <p:spPr>
                <a:xfrm rot="5400000">
                  <a:off x="215347" y="-45441"/>
                  <a:ext cx="268153" cy="231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22"/>
                <p:cNvSpPr/>
                <p:nvPr/>
              </p:nvSpPr>
              <p:spPr>
                <a:xfrm rot="5400000">
                  <a:off x="-163655" y="173170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22"/>
                <p:cNvSpPr/>
                <p:nvPr/>
              </p:nvSpPr>
              <p:spPr>
                <a:xfrm rot="5400000">
                  <a:off x="-37483" y="392237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22"/>
                <p:cNvSpPr/>
                <p:nvPr/>
              </p:nvSpPr>
              <p:spPr>
                <a:xfrm rot="5400000">
                  <a:off x="-37483" y="-45897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22"/>
                <p:cNvSpPr/>
                <p:nvPr/>
              </p:nvSpPr>
              <p:spPr>
                <a:xfrm rot="5400000">
                  <a:off x="341519" y="173627"/>
                  <a:ext cx="268153" cy="231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22"/>
                <p:cNvSpPr/>
                <p:nvPr/>
              </p:nvSpPr>
              <p:spPr>
                <a:xfrm>
                  <a:off x="471557" y="539509"/>
                  <a:ext cx="115789" cy="100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2" name="Google Shape;1132;p22"/>
              <p:cNvGrpSpPr/>
              <p:nvPr/>
            </p:nvGrpSpPr>
            <p:grpSpPr>
              <a:xfrm>
                <a:off x="-23637" y="1386445"/>
                <a:ext cx="358448" cy="487220"/>
                <a:chOff x="-19537" y="-63843"/>
                <a:chExt cx="358448" cy="487220"/>
              </a:xfrm>
            </p:grpSpPr>
            <p:sp>
              <p:nvSpPr>
                <p:cNvPr id="1133" name="Google Shape;1133;p22"/>
                <p:cNvSpPr/>
                <p:nvPr/>
              </p:nvSpPr>
              <p:spPr>
                <a:xfrm rot="5400000">
                  <a:off x="88704" y="173170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9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22"/>
                <p:cNvSpPr/>
                <p:nvPr/>
              </p:nvSpPr>
              <p:spPr>
                <a:xfrm rot="5400000">
                  <a:off x="-37483" y="-45897"/>
                  <a:ext cx="268153" cy="232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35" name="Google Shape;1135;p22"/>
            <p:cNvGrpSpPr/>
            <p:nvPr/>
          </p:nvGrpSpPr>
          <p:grpSpPr>
            <a:xfrm>
              <a:off x="7623926" y="4379978"/>
              <a:ext cx="1613705" cy="838949"/>
              <a:chOff x="7623926" y="4379978"/>
              <a:chExt cx="1613705" cy="838949"/>
            </a:xfrm>
          </p:grpSpPr>
          <p:sp>
            <p:nvSpPr>
              <p:cNvPr id="1136" name="Google Shape;1136;p22"/>
              <p:cNvSpPr/>
              <p:nvPr/>
            </p:nvSpPr>
            <p:spPr>
              <a:xfrm rot="10800000">
                <a:off x="8363353" y="4641833"/>
                <a:ext cx="253359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2"/>
              <p:cNvSpPr/>
              <p:nvPr/>
            </p:nvSpPr>
            <p:spPr>
              <a:xfrm rot="10800000">
                <a:off x="7742433" y="499947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 rot="10800000">
                <a:off x="8619165" y="4473560"/>
                <a:ext cx="155660" cy="1350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2"/>
              <p:cNvSpPr/>
              <p:nvPr/>
            </p:nvSpPr>
            <p:spPr>
              <a:xfrm rot="10800000">
                <a:off x="7949407" y="4641833"/>
                <a:ext cx="253359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2"/>
              <p:cNvSpPr/>
              <p:nvPr/>
            </p:nvSpPr>
            <p:spPr>
              <a:xfrm rot="10800000">
                <a:off x="8570313" y="4999479"/>
                <a:ext cx="253372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2"/>
              <p:cNvSpPr/>
              <p:nvPr/>
            </p:nvSpPr>
            <p:spPr>
              <a:xfrm rot="10800000">
                <a:off x="8823675" y="4379978"/>
                <a:ext cx="253359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2"/>
              <p:cNvSpPr/>
              <p:nvPr/>
            </p:nvSpPr>
            <p:spPr>
              <a:xfrm rot="10800000">
                <a:off x="8156380" y="4761039"/>
                <a:ext cx="253359" cy="2194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 rot="10800000">
                <a:off x="8570313" y="4761039"/>
                <a:ext cx="253372" cy="219461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2"/>
              <p:cNvSpPr/>
              <p:nvPr/>
            </p:nvSpPr>
            <p:spPr>
              <a:xfrm rot="10800000">
                <a:off x="8777286" y="4641833"/>
                <a:ext cx="253372" cy="21858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2"/>
              <p:cNvSpPr/>
              <p:nvPr/>
            </p:nvSpPr>
            <p:spPr>
              <a:xfrm rot="10800000">
                <a:off x="8985056" y="4761039"/>
                <a:ext cx="252576" cy="219461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2"/>
              <p:cNvSpPr/>
              <p:nvPr/>
            </p:nvSpPr>
            <p:spPr>
              <a:xfrm rot="10800000">
                <a:off x="7949407" y="488025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 rot="10800000">
                <a:off x="8156380" y="499947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2"/>
              <p:cNvSpPr/>
              <p:nvPr/>
            </p:nvSpPr>
            <p:spPr>
              <a:xfrm rot="10800000">
                <a:off x="8363353" y="4880259"/>
                <a:ext cx="253359" cy="2194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2"/>
              <p:cNvSpPr/>
              <p:nvPr/>
            </p:nvSpPr>
            <p:spPr>
              <a:xfrm rot="-5400000" flipH="1">
                <a:off x="7616567" y="4943524"/>
                <a:ext cx="107627" cy="92908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150" name="Google Shape;1150;p22"/>
          <p:cNvPicPr preferRelativeResize="0"/>
          <p:nvPr/>
        </p:nvPicPr>
        <p:blipFill rotWithShape="1">
          <a:blip r:embed="rId2">
            <a:alphaModFix/>
          </a:blip>
          <a:srcRect l="19248" t="9344" r="24635" b="21748"/>
          <a:stretch/>
        </p:blipFill>
        <p:spPr>
          <a:xfrm>
            <a:off x="-696875" y="116536"/>
            <a:ext cx="1384800" cy="170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24"/>
          <p:cNvGrpSpPr/>
          <p:nvPr/>
        </p:nvGrpSpPr>
        <p:grpSpPr>
          <a:xfrm>
            <a:off x="-145710" y="-63843"/>
            <a:ext cx="9397289" cy="5378361"/>
            <a:chOff x="-145710" y="-63843"/>
            <a:chExt cx="9397289" cy="5378361"/>
          </a:xfrm>
        </p:grpSpPr>
        <p:grpSp>
          <p:nvGrpSpPr>
            <p:cNvPr id="1206" name="Google Shape;1206;p24"/>
            <p:cNvGrpSpPr/>
            <p:nvPr/>
          </p:nvGrpSpPr>
          <p:grpSpPr>
            <a:xfrm>
              <a:off x="7770719" y="4394775"/>
              <a:ext cx="1480860" cy="919743"/>
              <a:chOff x="7770719" y="4394775"/>
              <a:chExt cx="1480860" cy="919743"/>
            </a:xfrm>
          </p:grpSpPr>
          <p:sp>
            <p:nvSpPr>
              <p:cNvPr id="1207" name="Google Shape;1207;p24"/>
              <p:cNvSpPr/>
              <p:nvPr/>
            </p:nvSpPr>
            <p:spPr>
              <a:xfrm>
                <a:off x="8732424" y="5068018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8265574" y="4799104"/>
                <a:ext cx="284832" cy="24651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7770719" y="4701034"/>
                <a:ext cx="115789" cy="10085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8045231" y="4784166"/>
                <a:ext cx="175539" cy="151277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8965850" y="4664662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8498999" y="4933561"/>
                <a:ext cx="284832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8965850" y="4933561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8732424" y="4799104"/>
                <a:ext cx="285730" cy="24651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8965850" y="4394775"/>
                <a:ext cx="285730" cy="24748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8732424" y="4530205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8498994" y="4642284"/>
                <a:ext cx="115789" cy="10085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8" name="Google Shape;1218;p24"/>
            <p:cNvGrpSpPr/>
            <p:nvPr/>
          </p:nvGrpSpPr>
          <p:grpSpPr>
            <a:xfrm>
              <a:off x="-145710" y="-63843"/>
              <a:ext cx="736979" cy="1206678"/>
              <a:chOff x="-145710" y="-63843"/>
              <a:chExt cx="736979" cy="1206678"/>
            </a:xfrm>
          </p:grpSpPr>
          <p:sp>
            <p:nvSpPr>
              <p:cNvPr id="1219" name="Google Shape;1219;p24"/>
              <p:cNvSpPr/>
              <p:nvPr/>
            </p:nvSpPr>
            <p:spPr>
              <a:xfrm rot="5400000">
                <a:off x="239847" y="988593"/>
                <a:ext cx="165662" cy="142821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 rot="5400000">
                <a:off x="88704" y="611304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 rot="5400000">
                <a:off x="88704" y="173170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 rot="5400000">
                <a:off x="215347" y="-45441"/>
                <a:ext cx="268153" cy="2313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 rot="5400000">
                <a:off x="-163655" y="173170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 rot="5400000">
                <a:off x="-37483" y="392237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 rot="5400000">
                <a:off x="-37483" y="-45897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 rot="5400000">
                <a:off x="341519" y="173627"/>
                <a:ext cx="268153" cy="2313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471557" y="539509"/>
                <a:ext cx="115789" cy="10085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28" name="Google Shape;1228;p24"/>
          <p:cNvPicPr preferRelativeResize="0"/>
          <p:nvPr/>
        </p:nvPicPr>
        <p:blipFill rotWithShape="1">
          <a:blip r:embed="rId2">
            <a:alphaModFix/>
          </a:blip>
          <a:srcRect t="12372" b="17295"/>
          <a:stretch/>
        </p:blipFill>
        <p:spPr>
          <a:xfrm rot="-7019515">
            <a:off x="7853402" y="4503469"/>
            <a:ext cx="2510626" cy="1765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p24"/>
          <p:cNvSpPr txBox="1">
            <a:spLocks noGrp="1"/>
          </p:cNvSpPr>
          <p:nvPr>
            <p:ph type="subTitle" idx="1"/>
          </p:nvPr>
        </p:nvSpPr>
        <p:spPr>
          <a:xfrm>
            <a:off x="896975" y="1499418"/>
            <a:ext cx="7412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1" name="Google Shape;1231;p24"/>
          <p:cNvSpPr txBox="1">
            <a:spLocks noGrp="1"/>
          </p:cNvSpPr>
          <p:nvPr>
            <p:ph type="subTitle" idx="2"/>
          </p:nvPr>
        </p:nvSpPr>
        <p:spPr>
          <a:xfrm>
            <a:off x="896975" y="2708396"/>
            <a:ext cx="7412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2" name="Google Shape;1232;p24"/>
          <p:cNvSpPr txBox="1">
            <a:spLocks noGrp="1"/>
          </p:cNvSpPr>
          <p:nvPr>
            <p:ph type="subTitle" idx="3"/>
          </p:nvPr>
        </p:nvSpPr>
        <p:spPr>
          <a:xfrm>
            <a:off x="896975" y="3914675"/>
            <a:ext cx="7412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3" name="Google Shape;1233;p24"/>
          <p:cNvSpPr txBox="1">
            <a:spLocks noGrp="1"/>
          </p:cNvSpPr>
          <p:nvPr>
            <p:ph type="subTitle" idx="4"/>
          </p:nvPr>
        </p:nvSpPr>
        <p:spPr>
          <a:xfrm>
            <a:off x="896975" y="1256200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34" name="Google Shape;1234;p24"/>
          <p:cNvSpPr txBox="1">
            <a:spLocks noGrp="1"/>
          </p:cNvSpPr>
          <p:nvPr>
            <p:ph type="subTitle" idx="5"/>
          </p:nvPr>
        </p:nvSpPr>
        <p:spPr>
          <a:xfrm>
            <a:off x="896975" y="2456738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35" name="Google Shape;1235;p24"/>
          <p:cNvSpPr txBox="1">
            <a:spLocks noGrp="1"/>
          </p:cNvSpPr>
          <p:nvPr>
            <p:ph type="subTitle" idx="6"/>
          </p:nvPr>
        </p:nvSpPr>
        <p:spPr>
          <a:xfrm>
            <a:off x="896975" y="3657275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oogle Shape;1237;p25"/>
          <p:cNvGrpSpPr/>
          <p:nvPr/>
        </p:nvGrpSpPr>
        <p:grpSpPr>
          <a:xfrm>
            <a:off x="-392406" y="-60036"/>
            <a:ext cx="9572695" cy="5441049"/>
            <a:chOff x="-392406" y="-60036"/>
            <a:chExt cx="9572695" cy="5441049"/>
          </a:xfrm>
        </p:grpSpPr>
        <p:grpSp>
          <p:nvGrpSpPr>
            <p:cNvPr id="1238" name="Google Shape;1238;p25"/>
            <p:cNvGrpSpPr/>
            <p:nvPr/>
          </p:nvGrpSpPr>
          <p:grpSpPr>
            <a:xfrm rot="10800000" flipH="1">
              <a:off x="-392406" y="3710081"/>
              <a:ext cx="2014870" cy="1670931"/>
              <a:chOff x="-324794" y="-154536"/>
              <a:chExt cx="2014870" cy="1670931"/>
            </a:xfrm>
          </p:grpSpPr>
          <p:sp>
            <p:nvSpPr>
              <p:cNvPr id="1239" name="Google Shape;1239;p25"/>
              <p:cNvSpPr/>
              <p:nvPr/>
            </p:nvSpPr>
            <p:spPr>
              <a:xfrm>
                <a:off x="410199" y="55104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5"/>
              <p:cNvSpPr/>
              <p:nvPr/>
            </p:nvSpPr>
            <p:spPr>
              <a:xfrm>
                <a:off x="-79796" y="551047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5"/>
              <p:cNvSpPr/>
              <p:nvPr/>
            </p:nvSpPr>
            <p:spPr>
              <a:xfrm>
                <a:off x="376870" y="65968"/>
                <a:ext cx="121548" cy="104927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5"/>
              <p:cNvSpPr/>
              <p:nvPr/>
            </p:nvSpPr>
            <p:spPr>
              <a:xfrm>
                <a:off x="165204" y="227730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5"/>
              <p:cNvSpPr/>
              <p:nvPr/>
            </p:nvSpPr>
            <p:spPr>
              <a:xfrm>
                <a:off x="1462130" y="65985"/>
                <a:ext cx="185268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5"/>
              <p:cNvSpPr/>
              <p:nvPr/>
            </p:nvSpPr>
            <p:spPr>
              <a:xfrm>
                <a:off x="-208131" y="-147640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5"/>
              <p:cNvSpPr/>
              <p:nvPr/>
            </p:nvSpPr>
            <p:spPr>
              <a:xfrm>
                <a:off x="655196" y="-154536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5"/>
              <p:cNvSpPr/>
              <p:nvPr/>
            </p:nvSpPr>
            <p:spPr>
              <a:xfrm>
                <a:off x="165201" y="974400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5"/>
              <p:cNvSpPr/>
              <p:nvPr/>
            </p:nvSpPr>
            <p:spPr>
              <a:xfrm>
                <a:off x="655196" y="409924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5"/>
              <p:cNvSpPr/>
              <p:nvPr/>
            </p:nvSpPr>
            <p:spPr>
              <a:xfrm>
                <a:off x="1145191" y="127694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5"/>
              <p:cNvSpPr/>
              <p:nvPr/>
            </p:nvSpPr>
            <p:spPr>
              <a:xfrm>
                <a:off x="410199" y="26881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5"/>
              <p:cNvSpPr/>
              <p:nvPr/>
            </p:nvSpPr>
            <p:spPr>
              <a:xfrm>
                <a:off x="900194" y="-13429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5"/>
              <p:cNvSpPr/>
              <p:nvPr/>
            </p:nvSpPr>
            <p:spPr>
              <a:xfrm>
                <a:off x="165201" y="1256630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5"/>
              <p:cNvSpPr/>
              <p:nvPr/>
            </p:nvSpPr>
            <p:spPr>
              <a:xfrm>
                <a:off x="-324794" y="1256630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5"/>
              <p:cNvSpPr/>
              <p:nvPr/>
            </p:nvSpPr>
            <p:spPr>
              <a:xfrm>
                <a:off x="410199" y="1115523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5"/>
              <p:cNvSpPr/>
              <p:nvPr/>
            </p:nvSpPr>
            <p:spPr>
              <a:xfrm>
                <a:off x="165201" y="692170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5"/>
              <p:cNvSpPr/>
              <p:nvPr/>
            </p:nvSpPr>
            <p:spPr>
              <a:xfrm>
                <a:off x="-79796" y="83327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5"/>
              <p:cNvSpPr/>
              <p:nvPr/>
            </p:nvSpPr>
            <p:spPr>
              <a:xfrm>
                <a:off x="1390189" y="26881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5"/>
              <p:cNvSpPr/>
              <p:nvPr/>
            </p:nvSpPr>
            <p:spPr>
              <a:xfrm>
                <a:off x="900194" y="26881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5"/>
              <p:cNvSpPr/>
              <p:nvPr/>
            </p:nvSpPr>
            <p:spPr>
              <a:xfrm>
                <a:off x="1145191" y="-154536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9" name="Google Shape;1259;p25"/>
            <p:cNvGrpSpPr/>
            <p:nvPr/>
          </p:nvGrpSpPr>
          <p:grpSpPr>
            <a:xfrm>
              <a:off x="8212943" y="-60036"/>
              <a:ext cx="967346" cy="1046239"/>
              <a:chOff x="8212943" y="-60036"/>
              <a:chExt cx="967346" cy="1046239"/>
            </a:xfrm>
          </p:grpSpPr>
          <p:sp>
            <p:nvSpPr>
              <p:cNvPr id="1260" name="Google Shape;1260;p25"/>
              <p:cNvSpPr/>
              <p:nvPr/>
            </p:nvSpPr>
            <p:spPr>
              <a:xfrm flipH="1">
                <a:off x="8587242" y="-60036"/>
                <a:ext cx="287385" cy="24794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5"/>
              <p:cNvSpPr/>
              <p:nvPr/>
            </p:nvSpPr>
            <p:spPr>
              <a:xfrm flipH="1">
                <a:off x="9003724" y="833064"/>
                <a:ext cx="176565" cy="15313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5"/>
              <p:cNvSpPr/>
              <p:nvPr/>
            </p:nvSpPr>
            <p:spPr>
              <a:xfrm flipH="1">
                <a:off x="8430768" y="131689"/>
                <a:ext cx="156482" cy="13500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5"/>
              <p:cNvSpPr/>
              <p:nvPr/>
            </p:nvSpPr>
            <p:spPr>
              <a:xfrm flipH="1">
                <a:off x="8822025" y="75212"/>
                <a:ext cx="287400" cy="247941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5"/>
              <p:cNvSpPr/>
              <p:nvPr/>
            </p:nvSpPr>
            <p:spPr>
              <a:xfrm flipH="1">
                <a:off x="8587242" y="210445"/>
                <a:ext cx="287385" cy="24795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5"/>
              <p:cNvSpPr/>
              <p:nvPr/>
            </p:nvSpPr>
            <p:spPr>
              <a:xfrm flipH="1">
                <a:off x="8822025" y="345694"/>
                <a:ext cx="287400" cy="247941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5"/>
              <p:cNvSpPr/>
              <p:nvPr/>
            </p:nvSpPr>
            <p:spPr>
              <a:xfrm flipH="1">
                <a:off x="8212943" y="266914"/>
                <a:ext cx="156482" cy="13500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67" name="Google Shape;1267;p25"/>
          <p:cNvPicPr preferRelativeResize="0"/>
          <p:nvPr/>
        </p:nvPicPr>
        <p:blipFill rotWithShape="1">
          <a:blip r:embed="rId2">
            <a:alphaModFix/>
          </a:blip>
          <a:srcRect r="28653"/>
          <a:stretch/>
        </p:blipFill>
        <p:spPr>
          <a:xfrm rot="9353041" flipH="1">
            <a:off x="8419874" y="216328"/>
            <a:ext cx="622135" cy="871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9" name="Google Shape;1269;p25"/>
          <p:cNvSpPr txBox="1">
            <a:spLocks noGrp="1"/>
          </p:cNvSpPr>
          <p:nvPr>
            <p:ph type="subTitle" idx="1"/>
          </p:nvPr>
        </p:nvSpPr>
        <p:spPr>
          <a:xfrm>
            <a:off x="713225" y="2636200"/>
            <a:ext cx="23352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0" name="Google Shape;1270;p25"/>
          <p:cNvSpPr txBox="1">
            <a:spLocks noGrp="1"/>
          </p:cNvSpPr>
          <p:nvPr>
            <p:ph type="subTitle" idx="2"/>
          </p:nvPr>
        </p:nvSpPr>
        <p:spPr>
          <a:xfrm>
            <a:off x="3400950" y="2636200"/>
            <a:ext cx="23352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1" name="Google Shape;1271;p25"/>
          <p:cNvSpPr txBox="1">
            <a:spLocks noGrp="1"/>
          </p:cNvSpPr>
          <p:nvPr>
            <p:ph type="subTitle" idx="3"/>
          </p:nvPr>
        </p:nvSpPr>
        <p:spPr>
          <a:xfrm>
            <a:off x="6088675" y="2636200"/>
            <a:ext cx="23352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2" name="Google Shape;1272;p25"/>
          <p:cNvSpPr txBox="1">
            <a:spLocks noGrp="1"/>
          </p:cNvSpPr>
          <p:nvPr>
            <p:ph type="subTitle" idx="4"/>
          </p:nvPr>
        </p:nvSpPr>
        <p:spPr>
          <a:xfrm>
            <a:off x="713225" y="1980100"/>
            <a:ext cx="2189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73" name="Google Shape;1273;p25"/>
          <p:cNvSpPr txBox="1">
            <a:spLocks noGrp="1"/>
          </p:cNvSpPr>
          <p:nvPr>
            <p:ph type="subTitle" idx="5"/>
          </p:nvPr>
        </p:nvSpPr>
        <p:spPr>
          <a:xfrm>
            <a:off x="3477150" y="1980100"/>
            <a:ext cx="2189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74" name="Google Shape;1274;p25"/>
          <p:cNvSpPr txBox="1">
            <a:spLocks noGrp="1"/>
          </p:cNvSpPr>
          <p:nvPr>
            <p:ph type="subTitle" idx="6"/>
          </p:nvPr>
        </p:nvSpPr>
        <p:spPr>
          <a:xfrm>
            <a:off x="6241075" y="1980100"/>
            <a:ext cx="21897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chivo"/>
              <a:buNone/>
              <a:defRPr sz="26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1" name="Google Shape;1421;p29"/>
          <p:cNvGrpSpPr/>
          <p:nvPr/>
        </p:nvGrpSpPr>
        <p:grpSpPr>
          <a:xfrm>
            <a:off x="-1520531" y="-479924"/>
            <a:ext cx="10914705" cy="7561406"/>
            <a:chOff x="-1520531" y="-479924"/>
            <a:chExt cx="10914705" cy="7561406"/>
          </a:xfrm>
        </p:grpSpPr>
        <p:grpSp>
          <p:nvGrpSpPr>
            <p:cNvPr id="1422" name="Google Shape;1422;p29"/>
            <p:cNvGrpSpPr/>
            <p:nvPr/>
          </p:nvGrpSpPr>
          <p:grpSpPr>
            <a:xfrm rot="10800000" flipH="1">
              <a:off x="6895449" y="-290854"/>
              <a:ext cx="2498725" cy="2732343"/>
              <a:chOff x="6895449" y="2765296"/>
              <a:chExt cx="2498725" cy="2732343"/>
            </a:xfrm>
          </p:grpSpPr>
          <p:sp>
            <p:nvSpPr>
              <p:cNvPr id="1423" name="Google Shape;1423;p29"/>
              <p:cNvSpPr/>
              <p:nvPr/>
            </p:nvSpPr>
            <p:spPr>
              <a:xfrm>
                <a:off x="7530303" y="5008897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728155" y="4663924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728155" y="3627738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129229" y="3627738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7654889" y="3984693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6895449" y="4883082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8373600" y="3195355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247623" y="4989732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9027618" y="2765296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9027618" y="518139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8428692" y="4836420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7530303" y="4663924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428692" y="414520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9027618" y="345524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728155" y="293777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7829766" y="518139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8728155" y="5008897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8728155" y="328276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428692" y="5181393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9027618" y="4836420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29229" y="5008897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9027618" y="4490179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428692" y="4490179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8129229" y="4663924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7829766" y="4490179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9027618" y="414520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8728155" y="4317703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9027618" y="3800234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8428692" y="3800234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8129229" y="3972710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3" name="Google Shape;1453;p29"/>
            <p:cNvGrpSpPr/>
            <p:nvPr/>
          </p:nvGrpSpPr>
          <p:grpSpPr>
            <a:xfrm rot="10800000">
              <a:off x="-1426009" y="3658414"/>
              <a:ext cx="2478457" cy="3423068"/>
              <a:chOff x="-324551" y="-11"/>
              <a:chExt cx="2478457" cy="3423068"/>
            </a:xfrm>
          </p:grpSpPr>
          <p:sp>
            <p:nvSpPr>
              <p:cNvPr id="1454" name="Google Shape;1454;p29"/>
              <p:cNvSpPr/>
              <p:nvPr/>
            </p:nvSpPr>
            <p:spPr>
              <a:xfrm>
                <a:off x="-324551" y="2400005"/>
                <a:ext cx="299888" cy="2596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410441" y="1976652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410441" y="1694422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-324551" y="1553299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410441" y="112892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-324551" y="705572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499626" y="2875288"/>
                <a:ext cx="121533" cy="10585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0"/>
                    </a:moveTo>
                    <a:lnTo>
                      <a:pt x="0" y="3369"/>
                    </a:lnTo>
                    <a:lnTo>
                      <a:pt x="1937" y="6737"/>
                    </a:lnTo>
                    <a:lnTo>
                      <a:pt x="5804" y="6737"/>
                    </a:lnTo>
                    <a:lnTo>
                      <a:pt x="7736" y="3369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98803" y="3195943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69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5" y="3369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1198361" y="87190"/>
                <a:ext cx="120590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032357" y="131293"/>
                <a:ext cx="121548" cy="104927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133144" y="2666573"/>
                <a:ext cx="184263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739499" y="870932"/>
                <a:ext cx="184247" cy="15978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1329680" y="220510"/>
                <a:ext cx="185268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323266" y="2308824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29"/>
              <p:cNvSpPr/>
              <p:nvPr/>
            </p:nvSpPr>
            <p:spPr>
              <a:xfrm>
                <a:off x="323283" y="3263255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29"/>
              <p:cNvSpPr/>
              <p:nvPr/>
            </p:nvSpPr>
            <p:spPr>
              <a:xfrm>
                <a:off x="503546" y="2592102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1675646" y="495859"/>
                <a:ext cx="184263" cy="159786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900436" y="282219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29"/>
              <p:cNvSpPr/>
              <p:nvPr/>
            </p:nvSpPr>
            <p:spPr>
              <a:xfrm>
                <a:off x="-79554" y="-11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-79554" y="1976652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165444" y="1553299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165444" y="987802"/>
                <a:ext cx="299888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-79554" y="564449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410441" y="282219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-324551" y="141096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-79554" y="2258898"/>
                <a:ext cx="299888" cy="2596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165444" y="1835529"/>
                <a:ext cx="299888" cy="25874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-79554" y="1694422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655439" y="1553299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-79554" y="1411155"/>
                <a:ext cx="299888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84" name="Google Shape;1484;p29"/>
              <p:cNvGrpSpPr/>
              <p:nvPr/>
            </p:nvGrpSpPr>
            <p:grpSpPr>
              <a:xfrm>
                <a:off x="-324551" y="141096"/>
                <a:ext cx="789883" cy="1953177"/>
                <a:chOff x="2886825" y="590200"/>
                <a:chExt cx="1256975" cy="3108175"/>
              </a:xfrm>
            </p:grpSpPr>
            <p:sp>
              <p:nvSpPr>
                <p:cNvPr id="1485" name="Google Shape;1485;p29"/>
                <p:cNvSpPr/>
                <p:nvPr/>
              </p:nvSpPr>
              <p:spPr>
                <a:xfrm>
                  <a:off x="2886825" y="3286625"/>
                  <a:ext cx="477225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6" name="Google Shape;1486;p29"/>
                <p:cNvSpPr/>
                <p:nvPr/>
              </p:nvSpPr>
              <p:spPr>
                <a:xfrm>
                  <a:off x="28868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7" name="Google Shape;1487;p29"/>
                <p:cNvSpPr/>
                <p:nvPr/>
              </p:nvSpPr>
              <p:spPr>
                <a:xfrm>
                  <a:off x="3666575" y="5902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88" name="Google Shape;1488;p29"/>
              <p:cNvSpPr/>
              <p:nvPr/>
            </p:nvSpPr>
            <p:spPr>
              <a:xfrm>
                <a:off x="165444" y="1270048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-79554" y="112892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-324551" y="1270048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-79554" y="84669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410441" y="564449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29"/>
              <p:cNvSpPr/>
              <p:nvPr/>
            </p:nvSpPr>
            <p:spPr>
              <a:xfrm>
                <a:off x="655439" y="423342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29"/>
              <p:cNvSpPr/>
              <p:nvPr/>
            </p:nvSpPr>
            <p:spPr>
              <a:xfrm>
                <a:off x="165444" y="423342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29"/>
              <p:cNvSpPr/>
              <p:nvPr/>
            </p:nvSpPr>
            <p:spPr>
              <a:xfrm>
                <a:off x="410441" y="-11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29"/>
            <p:cNvGrpSpPr/>
            <p:nvPr/>
          </p:nvGrpSpPr>
          <p:grpSpPr>
            <a:xfrm rot="10800000" flipH="1">
              <a:off x="-1520531" y="-479924"/>
              <a:ext cx="2941933" cy="3110486"/>
              <a:chOff x="-374481" y="3970996"/>
              <a:chExt cx="2941933" cy="3110486"/>
            </a:xfrm>
          </p:grpSpPr>
          <p:grpSp>
            <p:nvGrpSpPr>
              <p:cNvPr id="1497" name="Google Shape;1497;p29"/>
              <p:cNvGrpSpPr/>
              <p:nvPr/>
            </p:nvGrpSpPr>
            <p:grpSpPr>
              <a:xfrm rot="-5400000">
                <a:off x="-458757" y="4055272"/>
                <a:ext cx="3110486" cy="2941933"/>
                <a:chOff x="363575" y="365650"/>
                <a:chExt cx="4949850" cy="4681625"/>
              </a:xfrm>
            </p:grpSpPr>
            <p:sp>
              <p:nvSpPr>
                <p:cNvPr id="1498" name="Google Shape;1498;p29"/>
                <p:cNvSpPr/>
                <p:nvPr/>
              </p:nvSpPr>
              <p:spPr>
                <a:xfrm>
                  <a:off x="132732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9" name="Google Shape;1499;p29"/>
                <p:cNvSpPr/>
                <p:nvPr/>
              </p:nvSpPr>
              <p:spPr>
                <a:xfrm>
                  <a:off x="54757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0" name="Google Shape;1500;p29"/>
                <p:cNvSpPr/>
                <p:nvPr/>
              </p:nvSpPr>
              <p:spPr>
                <a:xfrm>
                  <a:off x="2886825" y="418490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1" name="Google Shape;1501;p29"/>
                <p:cNvSpPr/>
                <p:nvPr/>
              </p:nvSpPr>
              <p:spPr>
                <a:xfrm>
                  <a:off x="54757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2" name="Google Shape;1502;p29"/>
                <p:cNvSpPr/>
                <p:nvPr/>
              </p:nvSpPr>
              <p:spPr>
                <a:xfrm>
                  <a:off x="405645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3" name="Google Shape;1503;p29"/>
                <p:cNvSpPr/>
                <p:nvPr/>
              </p:nvSpPr>
              <p:spPr>
                <a:xfrm>
                  <a:off x="1327325" y="3286625"/>
                  <a:ext cx="4757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4" name="Google Shape;1504;p29"/>
                <p:cNvSpPr/>
                <p:nvPr/>
              </p:nvSpPr>
              <p:spPr>
                <a:xfrm>
                  <a:off x="28868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5" name="Google Shape;1505;p29"/>
                <p:cNvSpPr/>
                <p:nvPr/>
              </p:nvSpPr>
              <p:spPr>
                <a:xfrm>
                  <a:off x="405645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6" name="Google Shape;1506;p29"/>
                <p:cNvSpPr/>
                <p:nvPr/>
              </p:nvSpPr>
              <p:spPr>
                <a:xfrm>
                  <a:off x="2886825" y="14884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7" name="Google Shape;1507;p29"/>
                <p:cNvSpPr/>
                <p:nvPr/>
              </p:nvSpPr>
              <p:spPr>
                <a:xfrm>
                  <a:off x="2107075" y="1488475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8" name="Google Shape;1508;p29"/>
                <p:cNvSpPr/>
                <p:nvPr/>
              </p:nvSpPr>
              <p:spPr>
                <a:xfrm>
                  <a:off x="1489525" y="1953200"/>
                  <a:ext cx="293200" cy="2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9" name="Google Shape;1509;p29"/>
                <p:cNvSpPr/>
                <p:nvPr/>
              </p:nvSpPr>
              <p:spPr>
                <a:xfrm>
                  <a:off x="756550" y="2436650"/>
                  <a:ext cx="29485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71" extrusionOk="0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0" name="Google Shape;1510;p29"/>
                <p:cNvSpPr/>
                <p:nvPr/>
              </p:nvSpPr>
              <p:spPr>
                <a:xfrm>
                  <a:off x="903150" y="987950"/>
                  <a:ext cx="193400" cy="16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1" name="Google Shape;1511;p29"/>
                <p:cNvSpPr/>
                <p:nvPr/>
              </p:nvSpPr>
              <p:spPr>
                <a:xfrm>
                  <a:off x="500800" y="3122825"/>
                  <a:ext cx="193400" cy="16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2" name="Google Shape;1512;p29"/>
                <p:cNvSpPr/>
                <p:nvPr/>
              </p:nvSpPr>
              <p:spPr>
                <a:xfrm>
                  <a:off x="2425225" y="925550"/>
                  <a:ext cx="293200" cy="25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3" name="Google Shape;1513;p29"/>
                <p:cNvSpPr/>
                <p:nvPr/>
              </p:nvSpPr>
              <p:spPr>
                <a:xfrm>
                  <a:off x="959300" y="3261675"/>
                  <a:ext cx="293200" cy="25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07" extrusionOk="0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4" name="Google Shape;1514;p29"/>
                <p:cNvSpPr/>
                <p:nvPr/>
              </p:nvSpPr>
              <p:spPr>
                <a:xfrm>
                  <a:off x="4580094" y="1751619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5" name="Google Shape;1515;p29"/>
                <p:cNvSpPr/>
                <p:nvPr/>
              </p:nvSpPr>
              <p:spPr>
                <a:xfrm>
                  <a:off x="1626750" y="1337275"/>
                  <a:ext cx="29485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66" extrusionOk="0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6" name="Google Shape;1516;p29"/>
                <p:cNvSpPr/>
                <p:nvPr/>
              </p:nvSpPr>
              <p:spPr>
                <a:xfrm>
                  <a:off x="363575" y="4242550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7" name="Google Shape;1517;p29"/>
                <p:cNvSpPr/>
                <p:nvPr/>
              </p:nvSpPr>
              <p:spPr>
                <a:xfrm>
                  <a:off x="1902850" y="376625"/>
                  <a:ext cx="29320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6" extrusionOk="0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8" name="Google Shape;1518;p29"/>
                <p:cNvSpPr/>
                <p:nvPr/>
              </p:nvSpPr>
              <p:spPr>
                <a:xfrm>
                  <a:off x="4836200" y="8147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9" name="Google Shape;1519;p29"/>
                <p:cNvSpPr/>
                <p:nvPr/>
              </p:nvSpPr>
              <p:spPr>
                <a:xfrm>
                  <a:off x="327670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20" name="Google Shape;1520;p29"/>
              <p:cNvGrpSpPr/>
              <p:nvPr/>
            </p:nvGrpSpPr>
            <p:grpSpPr>
              <a:xfrm rot="-5400000">
                <a:off x="-174571" y="4016084"/>
                <a:ext cx="2259868" cy="2659687"/>
                <a:chOff x="1327325" y="365650"/>
                <a:chExt cx="3596225" cy="4232475"/>
              </a:xfrm>
            </p:grpSpPr>
            <p:sp>
              <p:nvSpPr>
                <p:cNvPr id="1521" name="Google Shape;1521;p29"/>
                <p:cNvSpPr/>
                <p:nvPr/>
              </p:nvSpPr>
              <p:spPr>
                <a:xfrm>
                  <a:off x="3276700" y="396035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29"/>
                <p:cNvSpPr/>
                <p:nvPr/>
              </p:nvSpPr>
              <p:spPr>
                <a:xfrm>
                  <a:off x="2107075" y="4184900"/>
                  <a:ext cx="4772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1523;p29"/>
                <p:cNvSpPr/>
                <p:nvPr/>
              </p:nvSpPr>
              <p:spPr>
                <a:xfrm>
                  <a:off x="2496950" y="35112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4" name="Google Shape;1524;p29"/>
                <p:cNvSpPr/>
                <p:nvPr/>
              </p:nvSpPr>
              <p:spPr>
                <a:xfrm>
                  <a:off x="132732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5" name="Google Shape;1525;p29"/>
                <p:cNvSpPr/>
                <p:nvPr/>
              </p:nvSpPr>
              <p:spPr>
                <a:xfrm>
                  <a:off x="327670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6" name="Google Shape;1526;p29"/>
                <p:cNvSpPr/>
                <p:nvPr/>
              </p:nvSpPr>
              <p:spPr>
                <a:xfrm>
                  <a:off x="2107075" y="3286625"/>
                  <a:ext cx="4772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7" name="Google Shape;1527;p29"/>
                <p:cNvSpPr/>
                <p:nvPr/>
              </p:nvSpPr>
              <p:spPr>
                <a:xfrm>
                  <a:off x="44463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8" name="Google Shape;1528;p29"/>
                <p:cNvSpPr/>
                <p:nvPr/>
              </p:nvSpPr>
              <p:spPr>
                <a:xfrm>
                  <a:off x="3276700" y="2611300"/>
                  <a:ext cx="477225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9" name="Google Shape;1529;p29"/>
                <p:cNvSpPr/>
                <p:nvPr/>
              </p:nvSpPr>
              <p:spPr>
                <a:xfrm>
                  <a:off x="2496950" y="26113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0" name="Google Shape;1530;p29"/>
                <p:cNvSpPr/>
                <p:nvPr/>
              </p:nvSpPr>
              <p:spPr>
                <a:xfrm>
                  <a:off x="2107075" y="28375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1" name="Google Shape;1531;p29"/>
                <p:cNvSpPr/>
                <p:nvPr/>
              </p:nvSpPr>
              <p:spPr>
                <a:xfrm>
                  <a:off x="1717200" y="2611300"/>
                  <a:ext cx="4757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2" name="Google Shape;1532;p29"/>
                <p:cNvSpPr/>
                <p:nvPr/>
              </p:nvSpPr>
              <p:spPr>
                <a:xfrm>
                  <a:off x="366657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3" name="Google Shape;1533;p29"/>
                <p:cNvSpPr/>
                <p:nvPr/>
              </p:nvSpPr>
              <p:spPr>
                <a:xfrm>
                  <a:off x="327670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4" name="Google Shape;1534;p29"/>
                <p:cNvSpPr/>
                <p:nvPr/>
              </p:nvSpPr>
              <p:spPr>
                <a:xfrm>
                  <a:off x="288682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5" name="Google Shape;1535;p29"/>
                <p:cNvSpPr/>
                <p:nvPr/>
              </p:nvSpPr>
              <p:spPr>
                <a:xfrm>
                  <a:off x="3276700" y="17130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6" name="Google Shape;1536;p29"/>
                <p:cNvSpPr/>
                <p:nvPr/>
              </p:nvSpPr>
              <p:spPr>
                <a:xfrm>
                  <a:off x="2496950" y="1713050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7" name="Google Shape;1537;p29"/>
                <p:cNvSpPr/>
                <p:nvPr/>
              </p:nvSpPr>
              <p:spPr>
                <a:xfrm>
                  <a:off x="2107075" y="19376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8" name="Google Shape;1538;p29"/>
                <p:cNvSpPr/>
                <p:nvPr/>
              </p:nvSpPr>
              <p:spPr>
                <a:xfrm>
                  <a:off x="4056450" y="126390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9" name="Google Shape;1539;p29"/>
                <p:cNvSpPr/>
                <p:nvPr/>
              </p:nvSpPr>
              <p:spPr>
                <a:xfrm>
                  <a:off x="44463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29"/>
                <p:cNvSpPr/>
                <p:nvPr/>
              </p:nvSpPr>
              <p:spPr>
                <a:xfrm>
                  <a:off x="366657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1" name="Google Shape;1541;p29"/>
                <p:cNvSpPr/>
                <p:nvPr/>
              </p:nvSpPr>
              <p:spPr>
                <a:xfrm>
                  <a:off x="405645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42" name="Google Shape;1542;p29"/>
            <p:cNvGrpSpPr/>
            <p:nvPr/>
          </p:nvGrpSpPr>
          <p:grpSpPr>
            <a:xfrm rot="10800000" flipH="1">
              <a:off x="7435898" y="3840246"/>
              <a:ext cx="1878185" cy="1451618"/>
              <a:chOff x="7508523" y="-126454"/>
              <a:chExt cx="1878185" cy="1451618"/>
            </a:xfrm>
          </p:grpSpPr>
          <p:sp>
            <p:nvSpPr>
              <p:cNvPr id="1543" name="Google Shape;1543;p29"/>
              <p:cNvSpPr/>
              <p:nvPr/>
            </p:nvSpPr>
            <p:spPr>
              <a:xfrm rot="-5400000">
                <a:off x="9107400" y="-105874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9"/>
              <p:cNvSpPr/>
              <p:nvPr/>
            </p:nvSpPr>
            <p:spPr>
              <a:xfrm rot="-5400000">
                <a:off x="8260183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9"/>
              <p:cNvSpPr/>
              <p:nvPr/>
            </p:nvSpPr>
            <p:spPr>
              <a:xfrm rot="-5400000">
                <a:off x="8260175" y="383602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9"/>
              <p:cNvSpPr/>
              <p:nvPr/>
            </p:nvSpPr>
            <p:spPr>
              <a:xfrm rot="-5400000">
                <a:off x="8560063" y="879473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9"/>
              <p:cNvSpPr/>
              <p:nvPr/>
            </p:nvSpPr>
            <p:spPr>
              <a:xfrm rot="-5400000">
                <a:off x="7500173" y="163793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9"/>
              <p:cNvSpPr/>
              <p:nvPr/>
            </p:nvSpPr>
            <p:spPr>
              <a:xfrm rot="-5400000">
                <a:off x="7914249" y="291518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9"/>
              <p:cNvSpPr/>
              <p:nvPr/>
            </p:nvSpPr>
            <p:spPr>
              <a:xfrm rot="-5400000">
                <a:off x="8172451" y="792769"/>
                <a:ext cx="185284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9"/>
              <p:cNvSpPr/>
              <p:nvPr/>
            </p:nvSpPr>
            <p:spPr>
              <a:xfrm rot="-5400000">
                <a:off x="9017097" y="1153186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9"/>
              <p:cNvSpPr/>
              <p:nvPr/>
            </p:nvSpPr>
            <p:spPr>
              <a:xfrm rot="-5400000">
                <a:off x="8965766" y="13859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9"/>
              <p:cNvSpPr/>
              <p:nvPr/>
            </p:nvSpPr>
            <p:spPr>
              <a:xfrm rot="-5400000">
                <a:off x="9107392" y="384113"/>
                <a:ext cx="299904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9"/>
              <p:cNvSpPr/>
              <p:nvPr/>
            </p:nvSpPr>
            <p:spPr>
              <a:xfrm rot="-5400000">
                <a:off x="8966238" y="629063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9"/>
              <p:cNvSpPr/>
              <p:nvPr/>
            </p:nvSpPr>
            <p:spPr>
              <a:xfrm rot="-5400000">
                <a:off x="8824659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9"/>
              <p:cNvSpPr/>
              <p:nvPr/>
            </p:nvSpPr>
            <p:spPr>
              <a:xfrm rot="-5400000">
                <a:off x="8401298" y="138605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9"/>
              <p:cNvSpPr/>
              <p:nvPr/>
            </p:nvSpPr>
            <p:spPr>
              <a:xfrm rot="-5400000">
                <a:off x="8542413" y="383594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57" name="Google Shape;1557;p29"/>
          <p:cNvGrpSpPr/>
          <p:nvPr/>
        </p:nvGrpSpPr>
        <p:grpSpPr>
          <a:xfrm>
            <a:off x="-405226" y="66249"/>
            <a:ext cx="9466721" cy="4801848"/>
            <a:chOff x="-405226" y="66249"/>
            <a:chExt cx="9466721" cy="4801848"/>
          </a:xfrm>
        </p:grpSpPr>
        <p:pic>
          <p:nvPicPr>
            <p:cNvPr id="1558" name="Google Shape;1558;p29"/>
            <p:cNvPicPr preferRelativeResize="0"/>
            <p:nvPr/>
          </p:nvPicPr>
          <p:blipFill rotWithShape="1">
            <a:blip r:embed="rId2">
              <a:alphaModFix/>
            </a:blip>
            <a:srcRect r="29612"/>
            <a:stretch/>
          </p:blipFill>
          <p:spPr>
            <a:xfrm rot="2150156">
              <a:off x="-86132" y="223454"/>
              <a:ext cx="993337" cy="14112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9" name="Google Shape;155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85116">
              <a:off x="8122696" y="3929298"/>
              <a:ext cx="891750" cy="891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0" name="Google Shape;1560;p29"/>
          <p:cNvSpPr txBox="1">
            <a:spLocks noGrp="1"/>
          </p:cNvSpPr>
          <p:nvPr>
            <p:ph type="title"/>
          </p:nvPr>
        </p:nvSpPr>
        <p:spPr>
          <a:xfrm>
            <a:off x="2347950" y="540000"/>
            <a:ext cx="4448100" cy="8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61" name="Google Shape;1561;p29"/>
          <p:cNvSpPr txBox="1">
            <a:spLocks noGrp="1"/>
          </p:cNvSpPr>
          <p:nvPr>
            <p:ph type="subTitle" idx="1"/>
          </p:nvPr>
        </p:nvSpPr>
        <p:spPr>
          <a:xfrm>
            <a:off x="2347900" y="1573401"/>
            <a:ext cx="4448100" cy="11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2" name="Google Shape;1562;p29"/>
          <p:cNvSpPr txBox="1"/>
          <p:nvPr/>
        </p:nvSpPr>
        <p:spPr>
          <a:xfrm>
            <a:off x="2099100" y="36474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4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</a:t>
            </a: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</a:t>
            </a:r>
            <a:r>
              <a:rPr lang="en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sz="1200" b="1" u="sng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oogle Shape;1564;p30"/>
          <p:cNvGrpSpPr/>
          <p:nvPr/>
        </p:nvGrpSpPr>
        <p:grpSpPr>
          <a:xfrm rot="10800000" flipH="1">
            <a:off x="-2028666" y="-244304"/>
            <a:ext cx="15057473" cy="5703079"/>
            <a:chOff x="-2028666" y="-396704"/>
            <a:chExt cx="15057473" cy="5703079"/>
          </a:xfrm>
        </p:grpSpPr>
        <p:grpSp>
          <p:nvGrpSpPr>
            <p:cNvPr id="1565" name="Google Shape;1565;p30"/>
            <p:cNvGrpSpPr/>
            <p:nvPr/>
          </p:nvGrpSpPr>
          <p:grpSpPr>
            <a:xfrm>
              <a:off x="-2028666" y="1882896"/>
              <a:ext cx="5483773" cy="3423479"/>
              <a:chOff x="-2028666" y="1882896"/>
              <a:chExt cx="5483773" cy="3423479"/>
            </a:xfrm>
          </p:grpSpPr>
          <p:sp>
            <p:nvSpPr>
              <p:cNvPr id="1566" name="Google Shape;1566;p30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0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0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0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0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0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0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0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0"/>
              <p:cNvSpPr/>
              <p:nvPr/>
            </p:nvSpPr>
            <p:spPr>
              <a:xfrm rot="10800000" flipH="1">
                <a:off x="-1163824" y="406412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0"/>
              <p:cNvSpPr/>
              <p:nvPr/>
            </p:nvSpPr>
            <p:spPr>
              <a:xfrm rot="10800000" flipH="1">
                <a:off x="-1726822" y="36928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0"/>
              <p:cNvSpPr/>
              <p:nvPr/>
            </p:nvSpPr>
            <p:spPr>
              <a:xfrm rot="10800000" flipH="1">
                <a:off x="-1923263" y="32316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0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0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0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0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0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0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0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0"/>
              <p:cNvSpPr/>
              <p:nvPr/>
            </p:nvSpPr>
            <p:spPr>
              <a:xfrm rot="10800000" flipH="1">
                <a:off x="-1058421" y="4537334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0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0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0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0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0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0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0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0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0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0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0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0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0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0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0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0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0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0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0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0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0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0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0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0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0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0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0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0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0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0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0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0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0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0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0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0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0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0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0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0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5" name="Google Shape;1625;p30"/>
            <p:cNvGrpSpPr/>
            <p:nvPr/>
          </p:nvGrpSpPr>
          <p:grpSpPr>
            <a:xfrm>
              <a:off x="7225437" y="-396704"/>
              <a:ext cx="5803371" cy="3423479"/>
              <a:chOff x="-2348263" y="1882896"/>
              <a:chExt cx="5803371" cy="3423479"/>
            </a:xfrm>
          </p:grpSpPr>
          <p:sp>
            <p:nvSpPr>
              <p:cNvPr id="1626" name="Google Shape;1626;p30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0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0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0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0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0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0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0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0"/>
              <p:cNvSpPr/>
              <p:nvPr/>
            </p:nvSpPr>
            <p:spPr>
              <a:xfrm rot="10800000" flipH="1">
                <a:off x="-1025599" y="3961114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0"/>
              <p:cNvSpPr/>
              <p:nvPr/>
            </p:nvSpPr>
            <p:spPr>
              <a:xfrm rot="10800000" flipH="1">
                <a:off x="-2199722" y="25010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0"/>
              <p:cNvSpPr/>
              <p:nvPr/>
            </p:nvSpPr>
            <p:spPr>
              <a:xfrm rot="10800000" flipH="1">
                <a:off x="-2348263" y="27177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0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0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0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0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0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0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0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0"/>
              <p:cNvSpPr/>
              <p:nvPr/>
            </p:nvSpPr>
            <p:spPr>
              <a:xfrm rot="10800000" flipH="1">
                <a:off x="-1026234" y="4472659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0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0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0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0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0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0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0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0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0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0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0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0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0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0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0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0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0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0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0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0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0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0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0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0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0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0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0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0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0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0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0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0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0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0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0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0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0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0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0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0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5" name="Google Shape;1685;p30"/>
            <p:cNvGrpSpPr/>
            <p:nvPr/>
          </p:nvGrpSpPr>
          <p:grpSpPr>
            <a:xfrm>
              <a:off x="0" y="0"/>
              <a:ext cx="2525467" cy="1155154"/>
              <a:chOff x="0" y="0"/>
              <a:chExt cx="2525467" cy="1155154"/>
            </a:xfrm>
          </p:grpSpPr>
          <p:sp>
            <p:nvSpPr>
              <p:cNvPr id="1686" name="Google Shape;1686;p30"/>
              <p:cNvSpPr/>
              <p:nvPr/>
            </p:nvSpPr>
            <p:spPr>
              <a:xfrm>
                <a:off x="1119084" y="0"/>
                <a:ext cx="306347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0"/>
              <p:cNvSpPr/>
              <p:nvPr/>
            </p:nvSpPr>
            <p:spPr>
              <a:xfrm>
                <a:off x="118102" y="576567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0"/>
              <p:cNvSpPr/>
              <p:nvPr/>
            </p:nvSpPr>
            <p:spPr>
              <a:xfrm>
                <a:off x="1619574" y="288276"/>
                <a:ext cx="306331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0"/>
              <p:cNvSpPr/>
              <p:nvPr/>
            </p:nvSpPr>
            <p:spPr>
              <a:xfrm>
                <a:off x="118102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0"/>
              <p:cNvSpPr/>
              <p:nvPr/>
            </p:nvSpPr>
            <p:spPr>
              <a:xfrm>
                <a:off x="426923" y="992015"/>
                <a:ext cx="188221" cy="16313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0"/>
              <p:cNvSpPr/>
              <p:nvPr/>
            </p:nvSpPr>
            <p:spPr>
              <a:xfrm>
                <a:off x="1925893" y="69992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0"/>
              <p:cNvSpPr/>
              <p:nvPr/>
            </p:nvSpPr>
            <p:spPr>
              <a:xfrm>
                <a:off x="2337262" y="246166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0"/>
              <p:cNvSpPr/>
              <p:nvPr/>
            </p:nvSpPr>
            <p:spPr>
              <a:xfrm>
                <a:off x="0" y="325279"/>
                <a:ext cx="188205" cy="16321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0"/>
              <p:cNvSpPr/>
              <p:nvPr/>
            </p:nvSpPr>
            <p:spPr>
              <a:xfrm>
                <a:off x="1119084" y="576567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0"/>
              <p:cNvSpPr/>
              <p:nvPr/>
            </p:nvSpPr>
            <p:spPr>
              <a:xfrm>
                <a:off x="86883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0"/>
              <p:cNvSpPr/>
              <p:nvPr/>
            </p:nvSpPr>
            <p:spPr>
              <a:xfrm>
                <a:off x="618593" y="28827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0"/>
              <p:cNvSpPr/>
              <p:nvPr/>
            </p:nvSpPr>
            <p:spPr>
              <a:xfrm>
                <a:off x="36834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0"/>
              <p:cNvSpPr/>
              <p:nvPr/>
            </p:nvSpPr>
            <p:spPr>
              <a:xfrm>
                <a:off x="868838" y="432421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0"/>
              <p:cNvSpPr/>
              <p:nvPr/>
            </p:nvSpPr>
            <p:spPr>
              <a:xfrm>
                <a:off x="1369329" y="14414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0"/>
              <p:cNvSpPr/>
              <p:nvPr/>
            </p:nvSpPr>
            <p:spPr>
              <a:xfrm>
                <a:off x="1119084" y="28827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0"/>
              <p:cNvSpPr/>
              <p:nvPr/>
            </p:nvSpPr>
            <p:spPr>
              <a:xfrm>
                <a:off x="618593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702" name="Google Shape;17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85112">
            <a:off x="7989686" y="3472688"/>
            <a:ext cx="1587078" cy="158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4" name="Google Shape;1704;p31"/>
          <p:cNvGrpSpPr/>
          <p:nvPr/>
        </p:nvGrpSpPr>
        <p:grpSpPr>
          <a:xfrm rot="10800000" flipH="1">
            <a:off x="-124215" y="-129050"/>
            <a:ext cx="9603607" cy="5473391"/>
            <a:chOff x="-124215" y="-357650"/>
            <a:chExt cx="9603607" cy="5473391"/>
          </a:xfrm>
        </p:grpSpPr>
        <p:grpSp>
          <p:nvGrpSpPr>
            <p:cNvPr id="1705" name="Google Shape;1705;p31"/>
            <p:cNvGrpSpPr/>
            <p:nvPr/>
          </p:nvGrpSpPr>
          <p:grpSpPr>
            <a:xfrm flipH="1">
              <a:off x="8000600" y="1111253"/>
              <a:ext cx="1478792" cy="4004488"/>
              <a:chOff x="-206225" y="1111253"/>
              <a:chExt cx="1478792" cy="4004488"/>
            </a:xfrm>
          </p:grpSpPr>
          <p:sp>
            <p:nvSpPr>
              <p:cNvPr id="1706" name="Google Shape;1706;p31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1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1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1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1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1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1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31"/>
            <p:cNvGrpSpPr/>
            <p:nvPr/>
          </p:nvGrpSpPr>
          <p:grpSpPr>
            <a:xfrm>
              <a:off x="-124215" y="32626"/>
              <a:ext cx="1207390" cy="1867482"/>
              <a:chOff x="-124215" y="32626"/>
              <a:chExt cx="1207390" cy="1867482"/>
            </a:xfrm>
          </p:grpSpPr>
          <p:sp>
            <p:nvSpPr>
              <p:cNvPr id="1733" name="Google Shape;1733;p31"/>
              <p:cNvSpPr/>
              <p:nvPr/>
            </p:nvSpPr>
            <p:spPr>
              <a:xfrm>
                <a:off x="338030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800276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338030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338030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1"/>
              <p:cNvSpPr/>
              <p:nvPr/>
            </p:nvSpPr>
            <p:spPr>
              <a:xfrm>
                <a:off x="76437" y="1749448"/>
                <a:ext cx="173824" cy="150660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1"/>
              <p:cNvSpPr/>
              <p:nvPr/>
            </p:nvSpPr>
            <p:spPr>
              <a:xfrm>
                <a:off x="255792" y="1411959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635726" y="1574672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662566" y="1098597"/>
                <a:ext cx="173809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-124215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106908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106908" y="165743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-124215" y="1364859"/>
                <a:ext cx="282899" cy="24496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106908" y="965465"/>
                <a:ext cx="282899" cy="2440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-124215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69153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1"/>
              <p:cNvSpPr/>
              <p:nvPr/>
            </p:nvSpPr>
            <p:spPr>
              <a:xfrm>
                <a:off x="-124215" y="565122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1"/>
              <p:cNvSpPr/>
              <p:nvPr/>
            </p:nvSpPr>
            <p:spPr>
              <a:xfrm>
                <a:off x="106908" y="432005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-124215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-124215" y="32626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2" name="Google Shape;1752;p31"/>
            <p:cNvGrpSpPr/>
            <p:nvPr/>
          </p:nvGrpSpPr>
          <p:grpSpPr>
            <a:xfrm>
              <a:off x="5909175" y="-357650"/>
              <a:ext cx="3090347" cy="1182725"/>
              <a:chOff x="5909175" y="-357650"/>
              <a:chExt cx="3090347" cy="1182725"/>
            </a:xfrm>
          </p:grpSpPr>
          <p:sp>
            <p:nvSpPr>
              <p:cNvPr id="1753" name="Google Shape;1753;p31"/>
              <p:cNvSpPr/>
              <p:nvPr/>
            </p:nvSpPr>
            <p:spPr>
              <a:xfrm>
                <a:off x="7331346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8112187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6413109" y="-5551"/>
                <a:ext cx="19574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5909175" y="125425"/>
                <a:ext cx="196842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8803782" y="-13229"/>
                <a:ext cx="195740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7851907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6290224" y="393033"/>
                <a:ext cx="317611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7071066" y="-57814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7851907" y="-207740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8680918" y="550208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7591626" y="242021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7071066" y="242021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6810785" y="393033"/>
                <a:ext cx="318612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6550505" y="242021"/>
                <a:ext cx="317611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7851907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7591626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7331346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1"/>
              <p:cNvSpPr/>
              <p:nvPr/>
            </p:nvSpPr>
            <p:spPr>
              <a:xfrm>
                <a:off x="7591626" y="-357650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1"/>
              <p:cNvSpPr/>
              <p:nvPr/>
            </p:nvSpPr>
            <p:spPr>
              <a:xfrm>
                <a:off x="7071066" y="-357650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1"/>
              <p:cNvSpPr/>
              <p:nvPr/>
            </p:nvSpPr>
            <p:spPr>
              <a:xfrm>
                <a:off x="6810785" y="-207740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3" name="Google Shape;1773;p31"/>
          <p:cNvGrpSpPr/>
          <p:nvPr/>
        </p:nvGrpSpPr>
        <p:grpSpPr>
          <a:xfrm>
            <a:off x="-1298242" y="-129056"/>
            <a:ext cx="10374927" cy="7138769"/>
            <a:chOff x="-1298242" y="-129056"/>
            <a:chExt cx="10374927" cy="7138769"/>
          </a:xfrm>
        </p:grpSpPr>
        <p:pic>
          <p:nvPicPr>
            <p:cNvPr id="1774" name="Google Shape;1774;p31"/>
            <p:cNvPicPr preferRelativeResize="0"/>
            <p:nvPr/>
          </p:nvPicPr>
          <p:blipFill rotWithShape="1">
            <a:blip r:embed="rId2">
              <a:alphaModFix/>
            </a:blip>
            <a:srcRect b="27092"/>
            <a:stretch/>
          </p:blipFill>
          <p:spPr>
            <a:xfrm rot="-7817080">
              <a:off x="7626378" y="203535"/>
              <a:ext cx="1316794" cy="9600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5" name="Google Shape;1775;p31"/>
            <p:cNvPicPr preferRelativeResize="0"/>
            <p:nvPr/>
          </p:nvPicPr>
          <p:blipFill rotWithShape="1">
            <a:blip r:embed="rId3">
              <a:alphaModFix/>
            </a:blip>
            <a:srcRect t="13843" b="16241"/>
            <a:stretch/>
          </p:blipFill>
          <p:spPr>
            <a:xfrm rot="-3039005">
              <a:off x="-1014276" y="3895853"/>
              <a:ext cx="3250800" cy="22728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0" r:id="rId10"/>
    <p:sldLayoutId id="2147483663" r:id="rId11"/>
    <p:sldLayoutId id="2147483668" r:id="rId12"/>
    <p:sldLayoutId id="2147483670" r:id="rId13"/>
    <p:sldLayoutId id="2147483671" r:id="rId14"/>
    <p:sldLayoutId id="2147483675" r:id="rId15"/>
    <p:sldLayoutId id="2147483676" r:id="rId16"/>
    <p:sldLayoutId id="2147483677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35"/>
          <p:cNvSpPr txBox="1">
            <a:spLocks noGrp="1"/>
          </p:cNvSpPr>
          <p:nvPr>
            <p:ph type="ctrTitle"/>
          </p:nvPr>
        </p:nvSpPr>
        <p:spPr>
          <a:xfrm>
            <a:off x="1065130" y="2571750"/>
            <a:ext cx="7378800" cy="1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l-GR" sz="1400" b="1" u="sng" dirty="0"/>
              <a:t>ΜΕΤΑΠΤΥΧΙΑΚΗ ΔΙΠΛΩΜΑΤΙΚΗ ΕΡΓΑΣΙΑ</a:t>
            </a:r>
            <a:br>
              <a:rPr lang="el-GR" sz="2400" b="1" dirty="0"/>
            </a:br>
            <a:br>
              <a:rPr lang="el-GR" sz="2400" b="1" dirty="0"/>
            </a:br>
            <a:r>
              <a:rPr lang="el-GR" sz="2400" b="1" dirty="0"/>
              <a:t>Εφαρμογές Μηχανικής Μάθησης σε Μεταβολωμικά Δεδομένα</a:t>
            </a:r>
            <a:br>
              <a:rPr lang="el-GR" sz="2400" b="1" dirty="0"/>
            </a:br>
            <a:br>
              <a:rPr lang="el-GR" sz="2400" b="1" dirty="0"/>
            </a:br>
            <a:r>
              <a:rPr lang="el-GR" sz="1400" dirty="0"/>
              <a:t>ΠΜΣ Εφαρμοσμένη Βιοπληροφορική και Ανάλυση Δεδομένων</a:t>
            </a:r>
            <a:br>
              <a:rPr lang="el-GR" sz="1400" dirty="0"/>
            </a:br>
            <a:br>
              <a:rPr lang="el-GR" sz="1400" dirty="0"/>
            </a:br>
            <a:r>
              <a:rPr lang="el-GR" sz="1200" dirty="0"/>
              <a:t>Fluxomics · Μεταβολικά μοντέλα · Υπολογιστική ανάλυση</a:t>
            </a:r>
            <a:br>
              <a:rPr lang="el-GR" sz="1200" dirty="0"/>
            </a:br>
            <a:endParaRPr lang="el-GR" sz="1400" b="1" dirty="0"/>
          </a:p>
        </p:txBody>
      </p:sp>
      <p:sp>
        <p:nvSpPr>
          <p:cNvPr id="1787" name="Google Shape;1787;p35"/>
          <p:cNvSpPr txBox="1">
            <a:spLocks noGrp="1"/>
          </p:cNvSpPr>
          <p:nvPr>
            <p:ph type="subTitle" idx="1"/>
          </p:nvPr>
        </p:nvSpPr>
        <p:spPr>
          <a:xfrm>
            <a:off x="2609505" y="4174950"/>
            <a:ext cx="3674700" cy="96855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b="1" dirty="0"/>
              <a:t>Όνομα:</a:t>
            </a:r>
            <a:r>
              <a:rPr lang="el-GR" dirty="0"/>
              <a:t> Ζηππίδου Κυριακή, ΑΕΜ: 661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b="1" dirty="0"/>
              <a:t>Επιβλέπων:</a:t>
            </a:r>
            <a:r>
              <a:rPr lang="el-GR" dirty="0"/>
              <a:t> Ψωμόπουλος Φώτης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l-GR" sz="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200" dirty="0"/>
              <a:t>Θεσσαλονίκη, 2026</a:t>
            </a:r>
          </a:p>
          <a:p>
            <a:pPr marL="0" lvl="0" indent="0"/>
            <a:r>
              <a:rPr lang="en-US" sz="900" dirty="0"/>
              <a:t>https://github.com/kikizippi/fluxomics-2026.git</a:t>
            </a:r>
            <a:endParaRPr sz="900" dirty="0"/>
          </a:p>
        </p:txBody>
      </p:sp>
      <p:sp>
        <p:nvSpPr>
          <p:cNvPr id="1788" name="Google Shape;1788;p35"/>
          <p:cNvSpPr/>
          <p:nvPr/>
        </p:nvSpPr>
        <p:spPr>
          <a:xfrm rot="-5400000">
            <a:off x="9299439" y="1559119"/>
            <a:ext cx="121533" cy="105854"/>
          </a:xfrm>
          <a:custGeom>
            <a:avLst/>
            <a:gdLst/>
            <a:ahLst/>
            <a:cxnLst/>
            <a:rect l="l" t="t" r="r" b="b"/>
            <a:pathLst>
              <a:path w="7736" h="6738" extrusionOk="0">
                <a:moveTo>
                  <a:pt x="1937" y="1"/>
                </a:moveTo>
                <a:lnTo>
                  <a:pt x="0" y="3369"/>
                </a:lnTo>
                <a:lnTo>
                  <a:pt x="1937" y="6738"/>
                </a:lnTo>
                <a:lnTo>
                  <a:pt x="5804" y="6738"/>
                </a:lnTo>
                <a:lnTo>
                  <a:pt x="7736" y="3369"/>
                </a:lnTo>
                <a:lnTo>
                  <a:pt x="5804" y="1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>
          <a:extLst>
            <a:ext uri="{FF2B5EF4-FFF2-40B4-BE49-F238E27FC236}">
              <a16:creationId xmlns:a16="http://schemas.microsoft.com/office/drawing/2014/main" id="{7DA43E77-3BD3-455B-C8AA-0DEFF674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38">
            <a:extLst>
              <a:ext uri="{FF2B5EF4-FFF2-40B4-BE49-F238E27FC236}">
                <a16:creationId xmlns:a16="http://schemas.microsoft.com/office/drawing/2014/main" id="{C2A24569-EB74-E447-FBF2-C03618774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7832" y="1347205"/>
            <a:ext cx="8839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br>
              <a:rPr lang="el-GR" sz="2800" dirty="0"/>
            </a:br>
            <a:r>
              <a:rPr lang="el-GR" sz="1400" u="sng" dirty="0"/>
              <a:t>Γενικό Υπόβαθρο</a:t>
            </a:r>
            <a:br>
              <a:rPr lang="el-GR" sz="2800" dirty="0"/>
            </a:br>
            <a:r>
              <a:rPr lang="el-GR" sz="2400" dirty="0"/>
              <a:t>Από τη Μεταβολωμική στη Fluxomics</a:t>
            </a:r>
            <a:br>
              <a:rPr lang="el-GR" sz="1000" dirty="0"/>
            </a:br>
            <a:br>
              <a:rPr lang="el-GR" sz="2400" dirty="0"/>
            </a:br>
            <a:r>
              <a:rPr lang="el-GR" sz="1200" dirty="0"/>
              <a:t>Στη βιοχημεία, ένας μεταβολίτης είναι ένα ενδιάμεσο ή τελικό προϊόν του μεταβολισμού.</a:t>
            </a:r>
            <a:br>
              <a:rPr lang="el-GR" sz="1200" dirty="0"/>
            </a:br>
            <a:r>
              <a:rPr lang="el-GR" sz="1200" dirty="0"/>
              <a:t>Οι μεταβολίτες είναι μικρά μόρια που παράγονται ή καταναλώνονται στις βιοχημικές αντιδράσεις του κυττάρου.</a:t>
            </a:r>
            <a:endParaRPr sz="2800" dirty="0"/>
          </a:p>
        </p:txBody>
      </p:sp>
      <p:sp>
        <p:nvSpPr>
          <p:cNvPr id="1837" name="Google Shape;1837;p38">
            <a:extLst>
              <a:ext uri="{FF2B5EF4-FFF2-40B4-BE49-F238E27FC236}">
                <a16:creationId xmlns:a16="http://schemas.microsoft.com/office/drawing/2014/main" id="{C4A89F1C-D1D4-AE38-2EE5-2DFB6618F083}"/>
              </a:ext>
            </a:extLst>
          </p:cNvPr>
          <p:cNvSpPr/>
          <p:nvPr/>
        </p:nvSpPr>
        <p:spPr>
          <a:xfrm rot="10800000" flipH="1">
            <a:off x="2790317" y="5190104"/>
            <a:ext cx="148570" cy="128253"/>
          </a:xfrm>
          <a:custGeom>
            <a:avLst/>
            <a:gdLst/>
            <a:ahLst/>
            <a:cxnLst/>
            <a:rect l="l" t="t" r="r" b="b"/>
            <a:pathLst>
              <a:path w="7737" h="6679" extrusionOk="0">
                <a:moveTo>
                  <a:pt x="1932" y="1"/>
                </a:moveTo>
                <a:lnTo>
                  <a:pt x="1" y="3369"/>
                </a:lnTo>
                <a:lnTo>
                  <a:pt x="1932" y="6678"/>
                </a:lnTo>
                <a:lnTo>
                  <a:pt x="5800" y="6678"/>
                </a:lnTo>
                <a:lnTo>
                  <a:pt x="7736" y="3369"/>
                </a:lnTo>
                <a:lnTo>
                  <a:pt x="5800" y="1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38">
            <a:extLst>
              <a:ext uri="{FF2B5EF4-FFF2-40B4-BE49-F238E27FC236}">
                <a16:creationId xmlns:a16="http://schemas.microsoft.com/office/drawing/2014/main" id="{BF847B89-613C-46EB-8B1C-6CBFA1E0185F}"/>
              </a:ext>
            </a:extLst>
          </p:cNvPr>
          <p:cNvSpPr/>
          <p:nvPr/>
        </p:nvSpPr>
        <p:spPr>
          <a:xfrm rot="10800000" flipH="1">
            <a:off x="208906" y="5162606"/>
            <a:ext cx="366557" cy="316246"/>
          </a:xfrm>
          <a:custGeom>
            <a:avLst/>
            <a:gdLst/>
            <a:ahLst/>
            <a:cxnLst/>
            <a:rect l="l" t="t" r="r" b="b"/>
            <a:pathLst>
              <a:path w="19089" h="16469" extrusionOk="0">
                <a:moveTo>
                  <a:pt x="4806" y="0"/>
                </a:moveTo>
                <a:lnTo>
                  <a:pt x="1" y="8234"/>
                </a:lnTo>
                <a:lnTo>
                  <a:pt x="4806" y="16468"/>
                </a:lnTo>
                <a:lnTo>
                  <a:pt x="14288" y="16468"/>
                </a:lnTo>
                <a:lnTo>
                  <a:pt x="19089" y="8234"/>
                </a:lnTo>
                <a:lnTo>
                  <a:pt x="14288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38">
            <a:extLst>
              <a:ext uri="{FF2B5EF4-FFF2-40B4-BE49-F238E27FC236}">
                <a16:creationId xmlns:a16="http://schemas.microsoft.com/office/drawing/2014/main" id="{4EC101B6-681A-16D1-0B66-B6CB4E951238}"/>
              </a:ext>
            </a:extLst>
          </p:cNvPr>
          <p:cNvSpPr/>
          <p:nvPr/>
        </p:nvSpPr>
        <p:spPr>
          <a:xfrm rot="10800000" flipH="1">
            <a:off x="807832" y="5162606"/>
            <a:ext cx="366557" cy="316246"/>
          </a:xfrm>
          <a:custGeom>
            <a:avLst/>
            <a:gdLst/>
            <a:ahLst/>
            <a:cxnLst/>
            <a:rect l="l" t="t" r="r" b="b"/>
            <a:pathLst>
              <a:path w="19089" h="16469" extrusionOk="0">
                <a:moveTo>
                  <a:pt x="4806" y="0"/>
                </a:moveTo>
                <a:lnTo>
                  <a:pt x="1" y="8234"/>
                </a:lnTo>
                <a:lnTo>
                  <a:pt x="4806" y="16468"/>
                </a:lnTo>
                <a:lnTo>
                  <a:pt x="14348" y="16468"/>
                </a:lnTo>
                <a:lnTo>
                  <a:pt x="19089" y="8234"/>
                </a:lnTo>
                <a:lnTo>
                  <a:pt x="14348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EC2CA1-5AF8-064D-692B-D80690588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2904"/>
              </p:ext>
            </p:extLst>
          </p:nvPr>
        </p:nvGraphicFramePr>
        <p:xfrm>
          <a:off x="1524000" y="2349976"/>
          <a:ext cx="6614160" cy="2582228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3307080">
                  <a:extLst>
                    <a:ext uri="{9D8B030D-6E8A-4147-A177-3AD203B41FA5}">
                      <a16:colId xmlns:a16="http://schemas.microsoft.com/office/drawing/2014/main" val="3300018609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2085804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tx1"/>
                          </a:solidFill>
                        </a:rPr>
                        <a:t>Metabolomics</a:t>
                      </a:r>
                      <a:endParaRPr lang="el-GR" sz="16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solidFill>
                            <a:schemeClr val="tx1"/>
                          </a:solidFill>
                        </a:rPr>
                        <a:t>Fluxomics</a:t>
                      </a:r>
                      <a:endParaRPr lang="el-GR" sz="16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415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Τι υπάρχει και σε τι ποσότητα;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Πόσο γρήγορα μετατρέπεται;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756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Μελετά τους μεταβολίτες και τις συγκεντρώσεις τους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Μελετά τον ρυθμό μετατροπής των μεταβολιτών σε ένα μεταβολικό δίκτυο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6450543"/>
                  </a:ext>
                </a:extLst>
              </a:tr>
              <a:tr h="748824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Δίνει πληροφορίες για την </a:t>
                      </a:r>
                      <a:r>
                        <a:rPr lang="el-GR" b="1" dirty="0">
                          <a:solidFill>
                            <a:schemeClr val="tx1"/>
                          </a:solidFill>
                        </a:rPr>
                        <a:t>λειτουργία</a:t>
                      </a:r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 του μεταβολικού δικτύου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1566472"/>
                  </a:ext>
                </a:extLst>
              </a:tr>
              <a:tr h="573564">
                <a:tc gridSpan="2">
                  <a:txBody>
                    <a:bodyPr/>
                    <a:lstStyle/>
                    <a:p>
                      <a:pPr algn="ctr"/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Σταθερή Συγκέντρωση ≠ Μηδενική Μεταβολική Ροή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754235"/>
                  </a:ext>
                </a:extLst>
              </a:tr>
            </a:tbl>
          </a:graphicData>
        </a:graphic>
      </p:graphicFrame>
      <p:grpSp>
        <p:nvGrpSpPr>
          <p:cNvPr id="7" name="Google Shape;10320;p76">
            <a:extLst>
              <a:ext uri="{FF2B5EF4-FFF2-40B4-BE49-F238E27FC236}">
                <a16:creationId xmlns:a16="http://schemas.microsoft.com/office/drawing/2014/main" id="{764796F5-8F78-6C8B-7174-B153BD1D861E}"/>
              </a:ext>
            </a:extLst>
          </p:cNvPr>
          <p:cNvGrpSpPr/>
          <p:nvPr/>
        </p:nvGrpSpPr>
        <p:grpSpPr>
          <a:xfrm>
            <a:off x="8138160" y="3162408"/>
            <a:ext cx="739197" cy="651408"/>
            <a:chOff x="4126815" y="2760704"/>
            <a:chExt cx="380393" cy="363118"/>
          </a:xfrm>
        </p:grpSpPr>
        <p:sp>
          <p:nvSpPr>
            <p:cNvPr id="8" name="Google Shape;10321;p76">
              <a:extLst>
                <a:ext uri="{FF2B5EF4-FFF2-40B4-BE49-F238E27FC236}">
                  <a16:creationId xmlns:a16="http://schemas.microsoft.com/office/drawing/2014/main" id="{C568E24F-2431-7D3D-FA9C-C4D498233492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322;p76">
              <a:extLst>
                <a:ext uri="{FF2B5EF4-FFF2-40B4-BE49-F238E27FC236}">
                  <a16:creationId xmlns:a16="http://schemas.microsoft.com/office/drawing/2014/main" id="{7476CB6C-DF94-01E5-32A3-993754675E91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323;p76">
              <a:extLst>
                <a:ext uri="{FF2B5EF4-FFF2-40B4-BE49-F238E27FC236}">
                  <a16:creationId xmlns:a16="http://schemas.microsoft.com/office/drawing/2014/main" id="{CB0F3B43-FC0E-351C-F2B1-67153317B501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324;p76">
              <a:extLst>
                <a:ext uri="{FF2B5EF4-FFF2-40B4-BE49-F238E27FC236}">
                  <a16:creationId xmlns:a16="http://schemas.microsoft.com/office/drawing/2014/main" id="{FA532FEE-888B-C976-73B3-F60C198AD75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743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>
          <a:extLst>
            <a:ext uri="{FF2B5EF4-FFF2-40B4-BE49-F238E27FC236}">
              <a16:creationId xmlns:a16="http://schemas.microsoft.com/office/drawing/2014/main" id="{B5E316A3-FE3D-96FD-38E3-DCD23C89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39">
            <a:extLst>
              <a:ext uri="{FF2B5EF4-FFF2-40B4-BE49-F238E27FC236}">
                <a16:creationId xmlns:a16="http://schemas.microsoft.com/office/drawing/2014/main" id="{E07A99E1-3642-6D0E-F52E-DC12B61B51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3882" y="991978"/>
            <a:ext cx="7412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200" dirty="0"/>
              <a:t>Μεταβολική ροή είναι ο ρυθμός με τον οποίο μια βιοχημική αντίδραση μετατρέπει υποστρώματα σε προϊόντα.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200" dirty="0"/>
              <a:t>Δεν δείχνει απλώς την ποσότητα ενός μεταβολίτη, αλλά το πόσο γρήγορα αυτός παράγεται, καταναλώνεται ή μετατρέπεται μέσα στο μεταβολικό δίκτυο.</a:t>
            </a:r>
            <a:endParaRPr sz="1200" dirty="0"/>
          </a:p>
        </p:txBody>
      </p:sp>
      <p:sp>
        <p:nvSpPr>
          <p:cNvPr id="1846" name="Google Shape;1846;p39">
            <a:extLst>
              <a:ext uri="{FF2B5EF4-FFF2-40B4-BE49-F238E27FC236}">
                <a16:creationId xmlns:a16="http://schemas.microsoft.com/office/drawing/2014/main" id="{27A34EDD-40B8-1B61-6CCD-2C370189A5E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63882" y="2720539"/>
            <a:ext cx="7412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/>
              <a:t>Περιγράφει τη λειτουργική δραστηριότητα του μεταβολισμού.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/>
              <a:t>Συνδέει τα μοριακά δεδομένα με τον κυτταρικό φαινότυπο.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/>
              <a:t>Βοηθά στην κατανόηση της επίδρασης διαφορετικών συνθηκών, όπως η πηγή άνθρακα και η διαθεσιμότητα οξυγόνου.</a:t>
            </a:r>
          </a:p>
        </p:txBody>
      </p:sp>
      <p:sp>
        <p:nvSpPr>
          <p:cNvPr id="1847" name="Google Shape;1847;p39">
            <a:extLst>
              <a:ext uri="{FF2B5EF4-FFF2-40B4-BE49-F238E27FC236}">
                <a16:creationId xmlns:a16="http://schemas.microsoft.com/office/drawing/2014/main" id="{C59F7989-D2DE-2E0F-FC80-0F787159372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63882" y="4008489"/>
            <a:ext cx="7412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l-GR" sz="1200" dirty="0"/>
              <a:t>Δύο κύτταρα μπορεί να έχουν παρόμοια συγκέντρωση ενός μεταβολίτη, αλλά διαφορετικές μεταβολικές ροές.</a:t>
            </a:r>
            <a:br>
              <a:rPr lang="el-GR" sz="1200" dirty="0"/>
            </a:br>
            <a:r>
              <a:rPr lang="el-GR" sz="1200" dirty="0"/>
              <a:t>Άρα, μπορεί να λειτουργούν μεταβολικά με διαφορετικό τρόπο.</a:t>
            </a:r>
            <a:endParaRPr sz="1200" dirty="0"/>
          </a:p>
        </p:txBody>
      </p:sp>
      <p:sp>
        <p:nvSpPr>
          <p:cNvPr id="1848" name="Google Shape;1848;p39">
            <a:extLst>
              <a:ext uri="{FF2B5EF4-FFF2-40B4-BE49-F238E27FC236}">
                <a16:creationId xmlns:a16="http://schemas.microsoft.com/office/drawing/2014/main" id="{F08556C5-E9AF-8EA5-F3A1-B2285F45042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63882" y="714318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Μεταβολική ροή (metabolic flux)</a:t>
            </a:r>
            <a:endParaRPr dirty="0"/>
          </a:p>
        </p:txBody>
      </p:sp>
      <p:sp>
        <p:nvSpPr>
          <p:cNvPr id="1849" name="Google Shape;1849;p39">
            <a:extLst>
              <a:ext uri="{FF2B5EF4-FFF2-40B4-BE49-F238E27FC236}">
                <a16:creationId xmlns:a16="http://schemas.microsoft.com/office/drawing/2014/main" id="{E1B3B18E-59D8-CB14-6804-158F3595F95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963882" y="2435104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l-GR" dirty="0"/>
              <a:t>Γιατί είναι σημαντική;</a:t>
            </a:r>
            <a:endParaRPr dirty="0"/>
          </a:p>
        </p:txBody>
      </p:sp>
      <p:sp>
        <p:nvSpPr>
          <p:cNvPr id="1850" name="Google Shape;1850;p39">
            <a:extLst>
              <a:ext uri="{FF2B5EF4-FFF2-40B4-BE49-F238E27FC236}">
                <a16:creationId xmlns:a16="http://schemas.microsoft.com/office/drawing/2014/main" id="{279B4F58-5DC6-D60D-39EF-AE7FE9DBB99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963882" y="3806439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Παράδειγμα:</a:t>
            </a:r>
            <a:endParaRPr dirty="0"/>
          </a:p>
        </p:txBody>
      </p:sp>
      <p:sp>
        <p:nvSpPr>
          <p:cNvPr id="1851" name="Google Shape;1851;p39">
            <a:extLst>
              <a:ext uri="{FF2B5EF4-FFF2-40B4-BE49-F238E27FC236}">
                <a16:creationId xmlns:a16="http://schemas.microsoft.com/office/drawing/2014/main" id="{011832A2-A6A2-AE2F-ADBD-0F39F86B4F2B}"/>
              </a:ext>
            </a:extLst>
          </p:cNvPr>
          <p:cNvSpPr/>
          <p:nvPr/>
        </p:nvSpPr>
        <p:spPr>
          <a:xfrm>
            <a:off x="863525" y="775814"/>
            <a:ext cx="45719" cy="109007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39">
            <a:extLst>
              <a:ext uri="{FF2B5EF4-FFF2-40B4-BE49-F238E27FC236}">
                <a16:creationId xmlns:a16="http://schemas.microsoft.com/office/drawing/2014/main" id="{D3098F87-4EA0-492C-640E-23254F070055}"/>
              </a:ext>
            </a:extLst>
          </p:cNvPr>
          <p:cNvSpPr/>
          <p:nvPr/>
        </p:nvSpPr>
        <p:spPr>
          <a:xfrm>
            <a:off x="863651" y="2464953"/>
            <a:ext cx="45719" cy="109006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90B14-286F-FB35-227C-B03757A5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203" y="1742152"/>
            <a:ext cx="1355181" cy="1445601"/>
          </a:xfrm>
          <a:prstGeom prst="rect">
            <a:avLst/>
          </a:prstGeom>
        </p:spPr>
      </p:pic>
      <p:sp>
        <p:nvSpPr>
          <p:cNvPr id="9" name="Google Shape;1852;p39">
            <a:extLst>
              <a:ext uri="{FF2B5EF4-FFF2-40B4-BE49-F238E27FC236}">
                <a16:creationId xmlns:a16="http://schemas.microsoft.com/office/drawing/2014/main" id="{E623C407-7CDA-C324-E45E-2B4AAF1C57E2}"/>
              </a:ext>
            </a:extLst>
          </p:cNvPr>
          <p:cNvSpPr/>
          <p:nvPr/>
        </p:nvSpPr>
        <p:spPr>
          <a:xfrm>
            <a:off x="863525" y="3822651"/>
            <a:ext cx="45719" cy="109006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6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38"/>
          <p:cNvSpPr/>
          <p:nvPr/>
        </p:nvSpPr>
        <p:spPr>
          <a:xfrm rot="10800000" flipH="1">
            <a:off x="2790317" y="5190104"/>
            <a:ext cx="148570" cy="128253"/>
          </a:xfrm>
          <a:custGeom>
            <a:avLst/>
            <a:gdLst/>
            <a:ahLst/>
            <a:cxnLst/>
            <a:rect l="l" t="t" r="r" b="b"/>
            <a:pathLst>
              <a:path w="7737" h="6679" extrusionOk="0">
                <a:moveTo>
                  <a:pt x="1932" y="1"/>
                </a:moveTo>
                <a:lnTo>
                  <a:pt x="1" y="3369"/>
                </a:lnTo>
                <a:lnTo>
                  <a:pt x="1932" y="6678"/>
                </a:lnTo>
                <a:lnTo>
                  <a:pt x="5800" y="6678"/>
                </a:lnTo>
                <a:lnTo>
                  <a:pt x="7736" y="3369"/>
                </a:lnTo>
                <a:lnTo>
                  <a:pt x="5800" y="1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8" name="Google Shape;1838;p38"/>
          <p:cNvSpPr/>
          <p:nvPr/>
        </p:nvSpPr>
        <p:spPr>
          <a:xfrm rot="10800000" flipH="1">
            <a:off x="208906" y="5162606"/>
            <a:ext cx="366557" cy="316246"/>
          </a:xfrm>
          <a:custGeom>
            <a:avLst/>
            <a:gdLst/>
            <a:ahLst/>
            <a:cxnLst/>
            <a:rect l="l" t="t" r="r" b="b"/>
            <a:pathLst>
              <a:path w="19089" h="16469" extrusionOk="0">
                <a:moveTo>
                  <a:pt x="4806" y="0"/>
                </a:moveTo>
                <a:lnTo>
                  <a:pt x="1" y="8234"/>
                </a:lnTo>
                <a:lnTo>
                  <a:pt x="4806" y="16468"/>
                </a:lnTo>
                <a:lnTo>
                  <a:pt x="14288" y="16468"/>
                </a:lnTo>
                <a:lnTo>
                  <a:pt x="19089" y="8234"/>
                </a:lnTo>
                <a:lnTo>
                  <a:pt x="14288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38"/>
          <p:cNvSpPr/>
          <p:nvPr/>
        </p:nvSpPr>
        <p:spPr>
          <a:xfrm rot="10800000" flipH="1">
            <a:off x="807832" y="5162606"/>
            <a:ext cx="366557" cy="316246"/>
          </a:xfrm>
          <a:custGeom>
            <a:avLst/>
            <a:gdLst/>
            <a:ahLst/>
            <a:cxnLst/>
            <a:rect l="l" t="t" r="r" b="b"/>
            <a:pathLst>
              <a:path w="19089" h="16469" extrusionOk="0">
                <a:moveTo>
                  <a:pt x="4806" y="0"/>
                </a:moveTo>
                <a:lnTo>
                  <a:pt x="1" y="8234"/>
                </a:lnTo>
                <a:lnTo>
                  <a:pt x="4806" y="16468"/>
                </a:lnTo>
                <a:lnTo>
                  <a:pt x="14348" y="16468"/>
                </a:lnTo>
                <a:lnTo>
                  <a:pt x="19089" y="8234"/>
                </a:lnTo>
                <a:lnTo>
                  <a:pt x="14348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9016;p72">
            <a:extLst>
              <a:ext uri="{FF2B5EF4-FFF2-40B4-BE49-F238E27FC236}">
                <a16:creationId xmlns:a16="http://schemas.microsoft.com/office/drawing/2014/main" id="{399D0747-CD48-0A8A-9478-AB59B400FD83}"/>
              </a:ext>
            </a:extLst>
          </p:cNvPr>
          <p:cNvGrpSpPr/>
          <p:nvPr/>
        </p:nvGrpSpPr>
        <p:grpSpPr>
          <a:xfrm>
            <a:off x="1680209" y="1028701"/>
            <a:ext cx="6145531" cy="1234440"/>
            <a:chOff x="5194708" y="3484366"/>
            <a:chExt cx="2369266" cy="987304"/>
          </a:xfrm>
        </p:grpSpPr>
        <p:grpSp>
          <p:nvGrpSpPr>
            <p:cNvPr id="17" name="Google Shape;9021;p72">
              <a:extLst>
                <a:ext uri="{FF2B5EF4-FFF2-40B4-BE49-F238E27FC236}">
                  <a16:creationId xmlns:a16="http://schemas.microsoft.com/office/drawing/2014/main" id="{C054737F-56A3-7C8E-AE9F-AD63DFE07C29}"/>
                </a:ext>
              </a:extLst>
            </p:cNvPr>
            <p:cNvGrpSpPr/>
            <p:nvPr/>
          </p:nvGrpSpPr>
          <p:grpSpPr>
            <a:xfrm>
              <a:off x="6752546" y="3484366"/>
              <a:ext cx="811428" cy="987304"/>
              <a:chOff x="2332275" y="1617275"/>
              <a:chExt cx="1090775" cy="1327200"/>
            </a:xfrm>
          </p:grpSpPr>
          <p:sp>
            <p:nvSpPr>
              <p:cNvPr id="26" name="Google Shape;9022;p72">
                <a:extLst>
                  <a:ext uri="{FF2B5EF4-FFF2-40B4-BE49-F238E27FC236}">
                    <a16:creationId xmlns:a16="http://schemas.microsoft.com/office/drawing/2014/main" id="{971C897C-D254-341D-4499-76B3A03D832D}"/>
                  </a:ext>
                </a:extLst>
              </p:cNvPr>
              <p:cNvSpPr/>
              <p:nvPr/>
            </p:nvSpPr>
            <p:spPr>
              <a:xfrm>
                <a:off x="2507425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" name="Google Shape;9023;p72">
                <a:extLst>
                  <a:ext uri="{FF2B5EF4-FFF2-40B4-BE49-F238E27FC236}">
                    <a16:creationId xmlns:a16="http://schemas.microsoft.com/office/drawing/2014/main" id="{A47F92BF-5B8A-47CE-7569-BDDC4CEEE251}"/>
                  </a:ext>
                </a:extLst>
              </p:cNvPr>
              <p:cNvSpPr/>
              <p:nvPr/>
            </p:nvSpPr>
            <p:spPr>
              <a:xfrm>
                <a:off x="2332275" y="1617275"/>
                <a:ext cx="1090775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1" h="50958" extrusionOk="0">
                    <a:moveTo>
                      <a:pt x="21816" y="0"/>
                    </a:moveTo>
                    <a:cubicBezTo>
                      <a:pt x="9786" y="0"/>
                      <a:pt x="1" y="9788"/>
                      <a:pt x="1" y="21814"/>
                    </a:cubicBezTo>
                    <a:cubicBezTo>
                      <a:pt x="12" y="22289"/>
                      <a:pt x="402" y="22672"/>
                      <a:pt x="880" y="22672"/>
                    </a:cubicBezTo>
                    <a:cubicBezTo>
                      <a:pt x="1355" y="22672"/>
                      <a:pt x="1745" y="22289"/>
                      <a:pt x="1756" y="21814"/>
                    </a:cubicBezTo>
                    <a:cubicBezTo>
                      <a:pt x="1756" y="10757"/>
                      <a:pt x="10754" y="1755"/>
                      <a:pt x="21812" y="1755"/>
                    </a:cubicBezTo>
                    <a:cubicBezTo>
                      <a:pt x="32869" y="1755"/>
                      <a:pt x="41871" y="10753"/>
                      <a:pt x="41871" y="21814"/>
                    </a:cubicBezTo>
                    <a:cubicBezTo>
                      <a:pt x="41871" y="32872"/>
                      <a:pt x="32873" y="41870"/>
                      <a:pt x="21816" y="41870"/>
                    </a:cubicBezTo>
                    <a:cubicBezTo>
                      <a:pt x="21329" y="41870"/>
                      <a:pt x="20936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7" y="43147"/>
                      <a:pt x="43630" y="33547"/>
                      <a:pt x="43627" y="21814"/>
                    </a:cubicBezTo>
                    <a:cubicBezTo>
                      <a:pt x="43627" y="9785"/>
                      <a:pt x="33842" y="0"/>
                      <a:pt x="2181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024;p72">
                <a:extLst>
                  <a:ext uri="{FF2B5EF4-FFF2-40B4-BE49-F238E27FC236}">
                    <a16:creationId xmlns:a16="http://schemas.microsoft.com/office/drawing/2014/main" id="{EB2043AF-A35D-3376-70F0-DAD4B8313D54}"/>
                  </a:ext>
                </a:extLst>
              </p:cNvPr>
              <p:cNvSpPr/>
              <p:nvPr/>
            </p:nvSpPr>
            <p:spPr>
              <a:xfrm>
                <a:off x="2727925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7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8" y="6675"/>
                    </a:lnTo>
                    <a:cubicBezTo>
                      <a:pt x="5561" y="6846"/>
                      <a:pt x="5785" y="6931"/>
                      <a:pt x="6010" y="6931"/>
                    </a:cubicBezTo>
                    <a:cubicBezTo>
                      <a:pt x="6234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9025;p72">
              <a:extLst>
                <a:ext uri="{FF2B5EF4-FFF2-40B4-BE49-F238E27FC236}">
                  <a16:creationId xmlns:a16="http://schemas.microsoft.com/office/drawing/2014/main" id="{9BC9C322-0557-8234-4A45-00DE7FBB6A5E}"/>
                </a:ext>
              </a:extLst>
            </p:cNvPr>
            <p:cNvGrpSpPr/>
            <p:nvPr/>
          </p:nvGrpSpPr>
          <p:grpSpPr>
            <a:xfrm>
              <a:off x="5973664" y="3484366"/>
              <a:ext cx="811335" cy="987304"/>
              <a:chOff x="1285250" y="1617275"/>
              <a:chExt cx="1090650" cy="1327200"/>
            </a:xfrm>
          </p:grpSpPr>
          <p:sp>
            <p:nvSpPr>
              <p:cNvPr id="23" name="Google Shape;9026;p72">
                <a:extLst>
                  <a:ext uri="{FF2B5EF4-FFF2-40B4-BE49-F238E27FC236}">
                    <a16:creationId xmlns:a16="http://schemas.microsoft.com/office/drawing/2014/main" id="{2CE64293-B350-60DE-5C4D-A4FC3817AF5A}"/>
                  </a:ext>
                </a:extLst>
              </p:cNvPr>
              <p:cNvSpPr/>
              <p:nvPr/>
            </p:nvSpPr>
            <p:spPr>
              <a:xfrm>
                <a:off x="1460300" y="1792400"/>
                <a:ext cx="7404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9" h="29615" extrusionOk="0">
                    <a:moveTo>
                      <a:pt x="14809" y="1"/>
                    </a:moveTo>
                    <a:cubicBezTo>
                      <a:pt x="6631" y="1"/>
                      <a:pt x="0" y="6631"/>
                      <a:pt x="0" y="14809"/>
                    </a:cubicBezTo>
                    <a:cubicBezTo>
                      <a:pt x="0" y="22988"/>
                      <a:pt x="6631" y="29615"/>
                      <a:pt x="14809" y="29615"/>
                    </a:cubicBezTo>
                    <a:cubicBezTo>
                      <a:pt x="22987" y="29615"/>
                      <a:pt x="29618" y="22988"/>
                      <a:pt x="29618" y="14809"/>
                    </a:cubicBezTo>
                    <a:cubicBezTo>
                      <a:pt x="29618" y="6631"/>
                      <a:pt x="22987" y="1"/>
                      <a:pt x="14809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027;p72">
                <a:extLst>
                  <a:ext uri="{FF2B5EF4-FFF2-40B4-BE49-F238E27FC236}">
                    <a16:creationId xmlns:a16="http://schemas.microsoft.com/office/drawing/2014/main" id="{2E74D94D-F3A9-99EE-14E1-37B1E873E8BD}"/>
                  </a:ext>
                </a:extLst>
              </p:cNvPr>
              <p:cNvSpPr/>
              <p:nvPr/>
            </p:nvSpPr>
            <p:spPr>
              <a:xfrm>
                <a:off x="1285250" y="1617275"/>
                <a:ext cx="10906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26" h="50958" extrusionOk="0">
                    <a:moveTo>
                      <a:pt x="21811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8" y="22289"/>
                      <a:pt x="401" y="22672"/>
                      <a:pt x="876" y="22672"/>
                    </a:cubicBezTo>
                    <a:cubicBezTo>
                      <a:pt x="1355" y="22672"/>
                      <a:pt x="1744" y="22289"/>
                      <a:pt x="1755" y="21814"/>
                    </a:cubicBezTo>
                    <a:cubicBezTo>
                      <a:pt x="1755" y="10757"/>
                      <a:pt x="10754" y="1755"/>
                      <a:pt x="21811" y="1755"/>
                    </a:cubicBezTo>
                    <a:cubicBezTo>
                      <a:pt x="32869" y="1755"/>
                      <a:pt x="41867" y="10753"/>
                      <a:pt x="41867" y="21814"/>
                    </a:cubicBezTo>
                    <a:cubicBezTo>
                      <a:pt x="41871" y="32872"/>
                      <a:pt x="32869" y="41870"/>
                      <a:pt x="21811" y="41870"/>
                    </a:cubicBezTo>
                    <a:cubicBezTo>
                      <a:pt x="21329" y="41870"/>
                      <a:pt x="20932" y="42263"/>
                      <a:pt x="20936" y="42750"/>
                    </a:cubicBezTo>
                    <a:lnTo>
                      <a:pt x="20936" y="50957"/>
                    </a:lnTo>
                    <a:lnTo>
                      <a:pt x="22691" y="50942"/>
                    </a:lnTo>
                    <a:lnTo>
                      <a:pt x="22691" y="43610"/>
                    </a:lnTo>
                    <a:cubicBezTo>
                      <a:pt x="34312" y="43147"/>
                      <a:pt x="43626" y="33547"/>
                      <a:pt x="43626" y="21814"/>
                    </a:cubicBezTo>
                    <a:cubicBezTo>
                      <a:pt x="43626" y="9785"/>
                      <a:pt x="33841" y="0"/>
                      <a:pt x="21811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028;p72">
                <a:extLst>
                  <a:ext uri="{FF2B5EF4-FFF2-40B4-BE49-F238E27FC236}">
                    <a16:creationId xmlns:a16="http://schemas.microsoft.com/office/drawing/2014/main" id="{56EDD090-E6C1-68D4-1768-0696E9A8E826}"/>
                  </a:ext>
                </a:extLst>
              </p:cNvPr>
              <p:cNvSpPr/>
              <p:nvPr/>
            </p:nvSpPr>
            <p:spPr>
              <a:xfrm>
                <a:off x="1680900" y="2771175"/>
                <a:ext cx="3008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4" h="6932" extrusionOk="0">
                    <a:moveTo>
                      <a:pt x="11086" y="1"/>
                    </a:moveTo>
                    <a:cubicBezTo>
                      <a:pt x="10860" y="1"/>
                      <a:pt x="10635" y="87"/>
                      <a:pt x="10464" y="260"/>
                    </a:cubicBezTo>
                    <a:lnTo>
                      <a:pt x="6865" y="3859"/>
                    </a:lnTo>
                    <a:lnTo>
                      <a:pt x="5978" y="4742"/>
                    </a:lnTo>
                    <a:lnTo>
                      <a:pt x="5110" y="3874"/>
                    </a:lnTo>
                    <a:lnTo>
                      <a:pt x="1495" y="260"/>
                    </a:lnTo>
                    <a:cubicBezTo>
                      <a:pt x="1341" y="153"/>
                      <a:pt x="1165" y="102"/>
                      <a:pt x="989" y="102"/>
                    </a:cubicBezTo>
                    <a:cubicBezTo>
                      <a:pt x="730" y="102"/>
                      <a:pt x="474" y="214"/>
                      <a:pt x="297" y="427"/>
                    </a:cubicBezTo>
                    <a:cubicBezTo>
                      <a:pt x="0" y="783"/>
                      <a:pt x="22" y="1306"/>
                      <a:pt x="349" y="1636"/>
                    </a:cubicBezTo>
                    <a:lnTo>
                      <a:pt x="5388" y="6675"/>
                    </a:lnTo>
                    <a:cubicBezTo>
                      <a:pt x="5559" y="6846"/>
                      <a:pt x="5783" y="6931"/>
                      <a:pt x="6008" y="6931"/>
                    </a:cubicBezTo>
                    <a:cubicBezTo>
                      <a:pt x="6233" y="6931"/>
                      <a:pt x="6458" y="6846"/>
                      <a:pt x="6631" y="6675"/>
                    </a:cubicBezTo>
                    <a:lnTo>
                      <a:pt x="11666" y="1636"/>
                    </a:lnTo>
                    <a:cubicBezTo>
                      <a:pt x="12015" y="1250"/>
                      <a:pt x="12034" y="668"/>
                      <a:pt x="11711" y="260"/>
                    </a:cubicBezTo>
                    <a:cubicBezTo>
                      <a:pt x="11538" y="87"/>
                      <a:pt x="11312" y="1"/>
                      <a:pt x="11086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9029;p72">
              <a:extLst>
                <a:ext uri="{FF2B5EF4-FFF2-40B4-BE49-F238E27FC236}">
                  <a16:creationId xmlns:a16="http://schemas.microsoft.com/office/drawing/2014/main" id="{780DA5BA-C3D3-2574-1B4A-563368BBB46F}"/>
                </a:ext>
              </a:extLst>
            </p:cNvPr>
            <p:cNvGrpSpPr/>
            <p:nvPr/>
          </p:nvGrpSpPr>
          <p:grpSpPr>
            <a:xfrm>
              <a:off x="5194708" y="3484366"/>
              <a:ext cx="811409" cy="987304"/>
              <a:chOff x="238125" y="1617275"/>
              <a:chExt cx="1090750" cy="1327200"/>
            </a:xfrm>
          </p:grpSpPr>
          <p:sp>
            <p:nvSpPr>
              <p:cNvPr id="20" name="Google Shape;9030;p72">
                <a:extLst>
                  <a:ext uri="{FF2B5EF4-FFF2-40B4-BE49-F238E27FC236}">
                    <a16:creationId xmlns:a16="http://schemas.microsoft.com/office/drawing/2014/main" id="{3881548B-0169-73A6-C1C2-FD68548FBB89}"/>
                  </a:ext>
                </a:extLst>
              </p:cNvPr>
              <p:cNvSpPr/>
              <p:nvPr/>
            </p:nvSpPr>
            <p:spPr>
              <a:xfrm>
                <a:off x="413250" y="1792400"/>
                <a:ext cx="740375" cy="740375"/>
              </a:xfrm>
              <a:custGeom>
                <a:avLst/>
                <a:gdLst/>
                <a:ahLst/>
                <a:cxnLst/>
                <a:rect l="l" t="t" r="r" b="b"/>
                <a:pathLst>
                  <a:path w="29615" h="29615" extrusionOk="0">
                    <a:moveTo>
                      <a:pt x="14810" y="1"/>
                    </a:moveTo>
                    <a:cubicBezTo>
                      <a:pt x="6631" y="1"/>
                      <a:pt x="1" y="6631"/>
                      <a:pt x="1" y="14809"/>
                    </a:cubicBezTo>
                    <a:cubicBezTo>
                      <a:pt x="1" y="22988"/>
                      <a:pt x="6631" y="29615"/>
                      <a:pt x="14810" y="29615"/>
                    </a:cubicBezTo>
                    <a:cubicBezTo>
                      <a:pt x="22988" y="29615"/>
                      <a:pt x="29615" y="22988"/>
                      <a:pt x="29615" y="14809"/>
                    </a:cubicBezTo>
                    <a:cubicBezTo>
                      <a:pt x="29615" y="6631"/>
                      <a:pt x="22988" y="1"/>
                      <a:pt x="14810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031;p72">
                <a:extLst>
                  <a:ext uri="{FF2B5EF4-FFF2-40B4-BE49-F238E27FC236}">
                    <a16:creationId xmlns:a16="http://schemas.microsoft.com/office/drawing/2014/main" id="{3C2E72CB-E41F-5925-5AA0-549AADEC4E92}"/>
                  </a:ext>
                </a:extLst>
              </p:cNvPr>
              <p:cNvSpPr/>
              <p:nvPr/>
            </p:nvSpPr>
            <p:spPr>
              <a:xfrm>
                <a:off x="238125" y="1617275"/>
                <a:ext cx="1090750" cy="1273950"/>
              </a:xfrm>
              <a:custGeom>
                <a:avLst/>
                <a:gdLst/>
                <a:ahLst/>
                <a:cxnLst/>
                <a:rect l="l" t="t" r="r" b="b"/>
                <a:pathLst>
                  <a:path w="43630" h="50958" extrusionOk="0">
                    <a:moveTo>
                      <a:pt x="21815" y="0"/>
                    </a:moveTo>
                    <a:cubicBezTo>
                      <a:pt x="9785" y="0"/>
                      <a:pt x="0" y="9788"/>
                      <a:pt x="0" y="21814"/>
                    </a:cubicBezTo>
                    <a:cubicBezTo>
                      <a:pt x="11" y="22289"/>
                      <a:pt x="401" y="22672"/>
                      <a:pt x="879" y="22672"/>
                    </a:cubicBezTo>
                    <a:cubicBezTo>
                      <a:pt x="1354" y="22672"/>
                      <a:pt x="1744" y="22289"/>
                      <a:pt x="1755" y="21814"/>
                    </a:cubicBezTo>
                    <a:cubicBezTo>
                      <a:pt x="1755" y="10757"/>
                      <a:pt x="10753" y="1755"/>
                      <a:pt x="21811" y="1755"/>
                    </a:cubicBezTo>
                    <a:cubicBezTo>
                      <a:pt x="32869" y="1755"/>
                      <a:pt x="41870" y="10753"/>
                      <a:pt x="41870" y="21814"/>
                    </a:cubicBezTo>
                    <a:cubicBezTo>
                      <a:pt x="41870" y="32872"/>
                      <a:pt x="32872" y="41870"/>
                      <a:pt x="21815" y="41870"/>
                    </a:cubicBezTo>
                    <a:cubicBezTo>
                      <a:pt x="21329" y="41870"/>
                      <a:pt x="20935" y="42263"/>
                      <a:pt x="20935" y="42750"/>
                    </a:cubicBezTo>
                    <a:lnTo>
                      <a:pt x="20935" y="50957"/>
                    </a:lnTo>
                    <a:lnTo>
                      <a:pt x="22694" y="50942"/>
                    </a:lnTo>
                    <a:lnTo>
                      <a:pt x="22694" y="43610"/>
                    </a:lnTo>
                    <a:cubicBezTo>
                      <a:pt x="34316" y="43147"/>
                      <a:pt x="43629" y="33547"/>
                      <a:pt x="43626" y="21814"/>
                    </a:cubicBezTo>
                    <a:cubicBezTo>
                      <a:pt x="43626" y="9785"/>
                      <a:pt x="33841" y="0"/>
                      <a:pt x="2181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032;p72">
                <a:extLst>
                  <a:ext uri="{FF2B5EF4-FFF2-40B4-BE49-F238E27FC236}">
                    <a16:creationId xmlns:a16="http://schemas.microsoft.com/office/drawing/2014/main" id="{7696EABD-4734-D735-5349-8856D30893E6}"/>
                  </a:ext>
                </a:extLst>
              </p:cNvPr>
              <p:cNvSpPr/>
              <p:nvPr/>
            </p:nvSpPr>
            <p:spPr>
              <a:xfrm>
                <a:off x="633750" y="2771175"/>
                <a:ext cx="300950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6932" extrusionOk="0">
                    <a:moveTo>
                      <a:pt x="11088" y="1"/>
                    </a:moveTo>
                    <a:cubicBezTo>
                      <a:pt x="10863" y="1"/>
                      <a:pt x="10637" y="87"/>
                      <a:pt x="10465" y="260"/>
                    </a:cubicBezTo>
                    <a:lnTo>
                      <a:pt x="6869" y="3859"/>
                    </a:lnTo>
                    <a:lnTo>
                      <a:pt x="5982" y="4742"/>
                    </a:lnTo>
                    <a:lnTo>
                      <a:pt x="5110" y="3874"/>
                    </a:lnTo>
                    <a:lnTo>
                      <a:pt x="1496" y="260"/>
                    </a:lnTo>
                    <a:cubicBezTo>
                      <a:pt x="1342" y="153"/>
                      <a:pt x="1165" y="102"/>
                      <a:pt x="990" y="102"/>
                    </a:cubicBezTo>
                    <a:cubicBezTo>
                      <a:pt x="731" y="102"/>
                      <a:pt x="475" y="214"/>
                      <a:pt x="298" y="427"/>
                    </a:cubicBezTo>
                    <a:cubicBezTo>
                      <a:pt x="1" y="783"/>
                      <a:pt x="27" y="1306"/>
                      <a:pt x="353" y="1636"/>
                    </a:cubicBezTo>
                    <a:lnTo>
                      <a:pt x="5389" y="6675"/>
                    </a:lnTo>
                    <a:cubicBezTo>
                      <a:pt x="5561" y="6846"/>
                      <a:pt x="5786" y="6931"/>
                      <a:pt x="6010" y="6931"/>
                    </a:cubicBezTo>
                    <a:cubicBezTo>
                      <a:pt x="6235" y="6931"/>
                      <a:pt x="6459" y="6846"/>
                      <a:pt x="6632" y="6675"/>
                    </a:cubicBezTo>
                    <a:lnTo>
                      <a:pt x="11667" y="1636"/>
                    </a:lnTo>
                    <a:cubicBezTo>
                      <a:pt x="12019" y="1250"/>
                      <a:pt x="12038" y="668"/>
                      <a:pt x="11711" y="260"/>
                    </a:cubicBezTo>
                    <a:cubicBezTo>
                      <a:pt x="11539" y="87"/>
                      <a:pt x="11313" y="1"/>
                      <a:pt x="1108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8A12D42-FB2A-6FCE-2DD8-249F4E5EDDBF}"/>
              </a:ext>
            </a:extLst>
          </p:cNvPr>
          <p:cNvSpPr txBox="1"/>
          <p:nvPr/>
        </p:nvSpPr>
        <p:spPr>
          <a:xfrm>
            <a:off x="2370913" y="2371666"/>
            <a:ext cx="73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solidFill>
                  <a:schemeClr val="tx1"/>
                </a:solidFill>
              </a:rPr>
              <a:t>MFA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99C441-8364-FE01-D8B8-9F76A4AD6C35}"/>
              </a:ext>
            </a:extLst>
          </p:cNvPr>
          <p:cNvSpPr txBox="1"/>
          <p:nvPr/>
        </p:nvSpPr>
        <p:spPr>
          <a:xfrm>
            <a:off x="4142806" y="2371695"/>
            <a:ext cx="12201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solidFill>
                  <a:schemeClr val="tx1"/>
                </a:solidFill>
              </a:rPr>
              <a:t>¹³C-MFA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0A8E8E-457C-9E47-65A6-78AC474FD1EC}"/>
              </a:ext>
            </a:extLst>
          </p:cNvPr>
          <p:cNvSpPr txBox="1"/>
          <p:nvPr/>
        </p:nvSpPr>
        <p:spPr>
          <a:xfrm>
            <a:off x="6404422" y="2371695"/>
            <a:ext cx="73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solidFill>
                  <a:schemeClr val="tx1"/>
                </a:solidFill>
              </a:rPr>
              <a:t>FBA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0445FC-B2AB-163E-B278-BEEF4778233B}"/>
              </a:ext>
            </a:extLst>
          </p:cNvPr>
          <p:cNvSpPr txBox="1"/>
          <p:nvPr/>
        </p:nvSpPr>
        <p:spPr>
          <a:xfrm>
            <a:off x="2640936" y="325971"/>
            <a:ext cx="38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800" b="1" dirty="0">
                <a:solidFill>
                  <a:schemeClr val="tx1"/>
                </a:solidFill>
              </a:rPr>
              <a:t>Βασικές μέθοδοι ανάλυσης ροών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AB986A-81D8-EFFC-2B5C-F9D6FE5ED76F}"/>
              </a:ext>
            </a:extLst>
          </p:cNvPr>
          <p:cNvSpPr txBox="1"/>
          <p:nvPr/>
        </p:nvSpPr>
        <p:spPr>
          <a:xfrm>
            <a:off x="1558216" y="2880359"/>
            <a:ext cx="22244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Βασίζεται σε ισοζύγια μάζας και σε εξωκυτταρικές μετρήσεις πρόσληψης ή έκκρισης μεταβολιτών. Χρησιμοποιείται για την εκτίμηση μεταβολικών ροών σε σχετικά απλά δίκτυα.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7C43A1-16AC-C920-CE6D-C37A73C620FD}"/>
              </a:ext>
            </a:extLst>
          </p:cNvPr>
          <p:cNvSpPr txBox="1"/>
          <p:nvPr/>
        </p:nvSpPr>
        <p:spPr>
          <a:xfrm>
            <a:off x="3581707" y="2880359"/>
            <a:ext cx="21430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Χρησιμοποιεί ισοτοπικά επισημασμένα υποστρώματα και ανάλυση ισοτοπικών προτύπων, ώστε να εκτιμώνται εσωτερικές ροές με μεγαλύτερη ακρίβεια. Θεωρείται ισχυρή πειραματική προσέγγιση για τη μελέτη της fluxomics.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8760D5-5AC2-F908-D782-1623E4E8CD75}"/>
              </a:ext>
            </a:extLst>
          </p:cNvPr>
          <p:cNvSpPr txBox="1"/>
          <p:nvPr/>
        </p:nvSpPr>
        <p:spPr>
          <a:xfrm>
            <a:off x="5724782" y="2880359"/>
            <a:ext cx="23381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Αποτελεί υπολογιστική μέθοδο που βασίζεται σε περιορισμούς. Χρησιμοποιεί τη στοιχειομετρία του μεταβολικού μοντέλου, περιορισμούς στις ροές και μια αντικειμενική συνάρτηση για την πρόβλεψη εφικτών κατανομών ροών. </a:t>
            </a:r>
          </a:p>
        </p:txBody>
      </p:sp>
      <p:grpSp>
        <p:nvGrpSpPr>
          <p:cNvPr id="50" name="Google Shape;14183;p82">
            <a:extLst>
              <a:ext uri="{FF2B5EF4-FFF2-40B4-BE49-F238E27FC236}">
                <a16:creationId xmlns:a16="http://schemas.microsoft.com/office/drawing/2014/main" id="{AA52A22C-8129-847F-6AB1-A6E29CAFD2FE}"/>
              </a:ext>
            </a:extLst>
          </p:cNvPr>
          <p:cNvGrpSpPr/>
          <p:nvPr/>
        </p:nvGrpSpPr>
        <p:grpSpPr>
          <a:xfrm>
            <a:off x="6523320" y="1383332"/>
            <a:ext cx="499533" cy="305136"/>
            <a:chOff x="7009649" y="1541981"/>
            <a:chExt cx="524940" cy="320655"/>
          </a:xfrm>
        </p:grpSpPr>
        <p:sp>
          <p:nvSpPr>
            <p:cNvPr id="51" name="Google Shape;14184;p82">
              <a:extLst>
                <a:ext uri="{FF2B5EF4-FFF2-40B4-BE49-F238E27FC236}">
                  <a16:creationId xmlns:a16="http://schemas.microsoft.com/office/drawing/2014/main" id="{F424188B-C6C9-0A8D-C747-C3A47B3DC1D7}"/>
                </a:ext>
              </a:extLst>
            </p:cNvPr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185;p82">
              <a:extLst>
                <a:ext uri="{FF2B5EF4-FFF2-40B4-BE49-F238E27FC236}">
                  <a16:creationId xmlns:a16="http://schemas.microsoft.com/office/drawing/2014/main" id="{E114A091-BABD-EED8-5571-672CA38EA736}"/>
                </a:ext>
              </a:extLst>
            </p:cNvPr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186;p82">
              <a:extLst>
                <a:ext uri="{FF2B5EF4-FFF2-40B4-BE49-F238E27FC236}">
                  <a16:creationId xmlns:a16="http://schemas.microsoft.com/office/drawing/2014/main" id="{FC6BC3F5-9D95-285A-4766-DA84E43FB2E6}"/>
                </a:ext>
              </a:extLst>
            </p:cNvPr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187;p82">
              <a:extLst>
                <a:ext uri="{FF2B5EF4-FFF2-40B4-BE49-F238E27FC236}">
                  <a16:creationId xmlns:a16="http://schemas.microsoft.com/office/drawing/2014/main" id="{CCFBDBB8-29E1-3C2A-372E-78892C20D1A6}"/>
                </a:ext>
              </a:extLst>
            </p:cNvPr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188;p82">
              <a:extLst>
                <a:ext uri="{FF2B5EF4-FFF2-40B4-BE49-F238E27FC236}">
                  <a16:creationId xmlns:a16="http://schemas.microsoft.com/office/drawing/2014/main" id="{615CFB98-4567-687B-F0AD-74DEFA2EC56E}"/>
                </a:ext>
              </a:extLst>
            </p:cNvPr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189;p82">
              <a:extLst>
                <a:ext uri="{FF2B5EF4-FFF2-40B4-BE49-F238E27FC236}">
                  <a16:creationId xmlns:a16="http://schemas.microsoft.com/office/drawing/2014/main" id="{52319887-3A91-F026-233B-7398EDBEC615}"/>
                </a:ext>
              </a:extLst>
            </p:cNvPr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190;p82">
              <a:extLst>
                <a:ext uri="{FF2B5EF4-FFF2-40B4-BE49-F238E27FC236}">
                  <a16:creationId xmlns:a16="http://schemas.microsoft.com/office/drawing/2014/main" id="{3C67A2D2-4068-D80E-A1B4-C0226665DA55}"/>
                </a:ext>
              </a:extLst>
            </p:cNvPr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191;p82">
              <a:extLst>
                <a:ext uri="{FF2B5EF4-FFF2-40B4-BE49-F238E27FC236}">
                  <a16:creationId xmlns:a16="http://schemas.microsoft.com/office/drawing/2014/main" id="{D3C805FB-771E-E6D6-0A55-45D682C7B148}"/>
                </a:ext>
              </a:extLst>
            </p:cNvPr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2491;p63">
            <a:extLst>
              <a:ext uri="{FF2B5EF4-FFF2-40B4-BE49-F238E27FC236}">
                <a16:creationId xmlns:a16="http://schemas.microsoft.com/office/drawing/2014/main" id="{7CFAF6A5-3CC0-0A1D-CDCB-3ED6FA8D523D}"/>
              </a:ext>
            </a:extLst>
          </p:cNvPr>
          <p:cNvGrpSpPr/>
          <p:nvPr/>
        </p:nvGrpSpPr>
        <p:grpSpPr>
          <a:xfrm>
            <a:off x="4537343" y="1345326"/>
            <a:ext cx="373880" cy="372516"/>
            <a:chOff x="6467912" y="2113338"/>
            <a:chExt cx="318603" cy="317440"/>
          </a:xfrm>
        </p:grpSpPr>
        <p:sp>
          <p:nvSpPr>
            <p:cNvPr id="60" name="Google Shape;2492;p63">
              <a:extLst>
                <a:ext uri="{FF2B5EF4-FFF2-40B4-BE49-F238E27FC236}">
                  <a16:creationId xmlns:a16="http://schemas.microsoft.com/office/drawing/2014/main" id="{C117AB31-6E86-07F2-B954-09835AE1F3D9}"/>
                </a:ext>
              </a:extLst>
            </p:cNvPr>
            <p:cNvSpPr/>
            <p:nvPr/>
          </p:nvSpPr>
          <p:spPr>
            <a:xfrm>
              <a:off x="6467912" y="2113338"/>
              <a:ext cx="318603" cy="317440"/>
            </a:xfrm>
            <a:custGeom>
              <a:avLst/>
              <a:gdLst/>
              <a:ahLst/>
              <a:cxnLst/>
              <a:rect l="l" t="t" r="r" b="b"/>
              <a:pathLst>
                <a:path w="20555" h="20480" extrusionOk="0">
                  <a:moveTo>
                    <a:pt x="16961" y="644"/>
                  </a:moveTo>
                  <a:cubicBezTo>
                    <a:pt x="18542" y="644"/>
                    <a:pt x="19910" y="1938"/>
                    <a:pt x="19910" y="3593"/>
                  </a:cubicBezTo>
                  <a:cubicBezTo>
                    <a:pt x="19910" y="5174"/>
                    <a:pt x="18542" y="6537"/>
                    <a:pt x="16961" y="6537"/>
                  </a:cubicBezTo>
                  <a:cubicBezTo>
                    <a:pt x="15311" y="6537"/>
                    <a:pt x="14017" y="5174"/>
                    <a:pt x="14017" y="3593"/>
                  </a:cubicBezTo>
                  <a:cubicBezTo>
                    <a:pt x="14017" y="1938"/>
                    <a:pt x="15311" y="644"/>
                    <a:pt x="16961" y="644"/>
                  </a:cubicBezTo>
                  <a:close/>
                  <a:moveTo>
                    <a:pt x="5681" y="6537"/>
                  </a:moveTo>
                  <a:lnTo>
                    <a:pt x="7980" y="10562"/>
                  </a:lnTo>
                  <a:cubicBezTo>
                    <a:pt x="7762" y="10636"/>
                    <a:pt x="7618" y="10705"/>
                    <a:pt x="7405" y="10849"/>
                  </a:cubicBezTo>
                  <a:lnTo>
                    <a:pt x="5106" y="6825"/>
                  </a:lnTo>
                  <a:cubicBezTo>
                    <a:pt x="5318" y="6756"/>
                    <a:pt x="5537" y="6612"/>
                    <a:pt x="5681" y="6537"/>
                  </a:cubicBezTo>
                  <a:close/>
                  <a:moveTo>
                    <a:pt x="14880" y="6537"/>
                  </a:moveTo>
                  <a:cubicBezTo>
                    <a:pt x="15092" y="6612"/>
                    <a:pt x="15236" y="6756"/>
                    <a:pt x="15455" y="6825"/>
                  </a:cubicBezTo>
                  <a:lnTo>
                    <a:pt x="13155" y="10849"/>
                  </a:lnTo>
                  <a:cubicBezTo>
                    <a:pt x="13011" y="10705"/>
                    <a:pt x="12793" y="10636"/>
                    <a:pt x="12580" y="10562"/>
                  </a:cubicBezTo>
                  <a:lnTo>
                    <a:pt x="14880" y="6537"/>
                  </a:lnTo>
                  <a:close/>
                  <a:moveTo>
                    <a:pt x="3668" y="0"/>
                  </a:moveTo>
                  <a:cubicBezTo>
                    <a:pt x="1656" y="0"/>
                    <a:pt x="0" y="1581"/>
                    <a:pt x="0" y="3593"/>
                  </a:cubicBezTo>
                  <a:cubicBezTo>
                    <a:pt x="0" y="5531"/>
                    <a:pt x="1656" y="7187"/>
                    <a:pt x="3668" y="7187"/>
                  </a:cubicBezTo>
                  <a:cubicBezTo>
                    <a:pt x="3956" y="7187"/>
                    <a:pt x="4243" y="7112"/>
                    <a:pt x="4531" y="7043"/>
                  </a:cubicBezTo>
                  <a:lnTo>
                    <a:pt x="6899" y="11280"/>
                  </a:lnTo>
                  <a:cubicBezTo>
                    <a:pt x="5750" y="12217"/>
                    <a:pt x="5031" y="13655"/>
                    <a:pt x="5031" y="15236"/>
                  </a:cubicBezTo>
                  <a:cubicBezTo>
                    <a:pt x="5031" y="18111"/>
                    <a:pt x="7405" y="20479"/>
                    <a:pt x="10280" y="20479"/>
                  </a:cubicBezTo>
                  <a:cubicBezTo>
                    <a:pt x="11430" y="20479"/>
                    <a:pt x="12580" y="20123"/>
                    <a:pt x="13442" y="19404"/>
                  </a:cubicBezTo>
                  <a:cubicBezTo>
                    <a:pt x="13586" y="19260"/>
                    <a:pt x="13655" y="19117"/>
                    <a:pt x="13511" y="18973"/>
                  </a:cubicBezTo>
                  <a:cubicBezTo>
                    <a:pt x="13468" y="18884"/>
                    <a:pt x="13368" y="18821"/>
                    <a:pt x="13263" y="18821"/>
                  </a:cubicBezTo>
                  <a:cubicBezTo>
                    <a:pt x="13199" y="18821"/>
                    <a:pt x="13134" y="18844"/>
                    <a:pt x="13080" y="18898"/>
                  </a:cubicBezTo>
                  <a:cubicBezTo>
                    <a:pt x="12292" y="19473"/>
                    <a:pt x="11286" y="19835"/>
                    <a:pt x="10280" y="19835"/>
                  </a:cubicBezTo>
                  <a:cubicBezTo>
                    <a:pt x="7762" y="19835"/>
                    <a:pt x="5681" y="17748"/>
                    <a:pt x="5681" y="15236"/>
                  </a:cubicBezTo>
                  <a:cubicBezTo>
                    <a:pt x="5681" y="12718"/>
                    <a:pt x="7762" y="10636"/>
                    <a:pt x="10280" y="10636"/>
                  </a:cubicBezTo>
                  <a:cubicBezTo>
                    <a:pt x="12793" y="10636"/>
                    <a:pt x="14880" y="12718"/>
                    <a:pt x="14880" y="15236"/>
                  </a:cubicBezTo>
                  <a:cubicBezTo>
                    <a:pt x="14880" y="16242"/>
                    <a:pt x="14517" y="17173"/>
                    <a:pt x="13942" y="18036"/>
                  </a:cubicBezTo>
                  <a:cubicBezTo>
                    <a:pt x="13799" y="18180"/>
                    <a:pt x="13873" y="18323"/>
                    <a:pt x="14017" y="18467"/>
                  </a:cubicBezTo>
                  <a:cubicBezTo>
                    <a:pt x="14073" y="18523"/>
                    <a:pt x="14139" y="18546"/>
                    <a:pt x="14203" y="18546"/>
                  </a:cubicBezTo>
                  <a:cubicBezTo>
                    <a:pt x="14305" y="18546"/>
                    <a:pt x="14403" y="18486"/>
                    <a:pt x="14448" y="18398"/>
                  </a:cubicBezTo>
                  <a:cubicBezTo>
                    <a:pt x="15167" y="17461"/>
                    <a:pt x="15524" y="16386"/>
                    <a:pt x="15524" y="15236"/>
                  </a:cubicBezTo>
                  <a:cubicBezTo>
                    <a:pt x="15524" y="13655"/>
                    <a:pt x="14805" y="12217"/>
                    <a:pt x="13655" y="11280"/>
                  </a:cubicBezTo>
                  <a:lnTo>
                    <a:pt x="16098" y="7043"/>
                  </a:lnTo>
                  <a:cubicBezTo>
                    <a:pt x="16386" y="7112"/>
                    <a:pt x="16673" y="7187"/>
                    <a:pt x="16961" y="7187"/>
                  </a:cubicBezTo>
                  <a:cubicBezTo>
                    <a:pt x="18904" y="7187"/>
                    <a:pt x="20554" y="5531"/>
                    <a:pt x="20554" y="3593"/>
                  </a:cubicBezTo>
                  <a:cubicBezTo>
                    <a:pt x="20554" y="1581"/>
                    <a:pt x="18904" y="0"/>
                    <a:pt x="16961" y="0"/>
                  </a:cubicBezTo>
                  <a:cubicBezTo>
                    <a:pt x="14949" y="0"/>
                    <a:pt x="13368" y="1581"/>
                    <a:pt x="13368" y="3593"/>
                  </a:cubicBezTo>
                  <a:cubicBezTo>
                    <a:pt x="13368" y="4525"/>
                    <a:pt x="13730" y="5462"/>
                    <a:pt x="14374" y="6106"/>
                  </a:cubicBezTo>
                  <a:lnTo>
                    <a:pt x="12005" y="10274"/>
                  </a:lnTo>
                  <a:cubicBezTo>
                    <a:pt x="11430" y="10130"/>
                    <a:pt x="10855" y="9987"/>
                    <a:pt x="10280" y="9987"/>
                  </a:cubicBezTo>
                  <a:cubicBezTo>
                    <a:pt x="9705" y="9987"/>
                    <a:pt x="9130" y="10130"/>
                    <a:pt x="8624" y="10274"/>
                  </a:cubicBezTo>
                  <a:lnTo>
                    <a:pt x="6181" y="6106"/>
                  </a:lnTo>
                  <a:cubicBezTo>
                    <a:pt x="6830" y="5462"/>
                    <a:pt x="7262" y="4525"/>
                    <a:pt x="7262" y="3593"/>
                  </a:cubicBezTo>
                  <a:cubicBezTo>
                    <a:pt x="7262" y="2875"/>
                    <a:pt x="7043" y="2156"/>
                    <a:pt x="6612" y="1581"/>
                  </a:cubicBezTo>
                  <a:cubicBezTo>
                    <a:pt x="6569" y="1492"/>
                    <a:pt x="6468" y="1429"/>
                    <a:pt x="6364" y="1429"/>
                  </a:cubicBezTo>
                  <a:cubicBezTo>
                    <a:pt x="6300" y="1429"/>
                    <a:pt x="6235" y="1452"/>
                    <a:pt x="6181" y="1506"/>
                  </a:cubicBezTo>
                  <a:cubicBezTo>
                    <a:pt x="6037" y="1581"/>
                    <a:pt x="5968" y="1794"/>
                    <a:pt x="6112" y="1938"/>
                  </a:cubicBezTo>
                  <a:cubicBezTo>
                    <a:pt x="6399" y="2444"/>
                    <a:pt x="6612" y="3018"/>
                    <a:pt x="6612" y="3593"/>
                  </a:cubicBezTo>
                  <a:cubicBezTo>
                    <a:pt x="6612" y="5174"/>
                    <a:pt x="5249" y="6537"/>
                    <a:pt x="3668" y="6537"/>
                  </a:cubicBezTo>
                  <a:cubicBezTo>
                    <a:pt x="2013" y="6537"/>
                    <a:pt x="719" y="5174"/>
                    <a:pt x="719" y="3593"/>
                  </a:cubicBezTo>
                  <a:cubicBezTo>
                    <a:pt x="719" y="1938"/>
                    <a:pt x="2013" y="644"/>
                    <a:pt x="3668" y="644"/>
                  </a:cubicBezTo>
                  <a:cubicBezTo>
                    <a:pt x="4243" y="644"/>
                    <a:pt x="4743" y="788"/>
                    <a:pt x="5249" y="1075"/>
                  </a:cubicBezTo>
                  <a:cubicBezTo>
                    <a:pt x="5305" y="1131"/>
                    <a:pt x="5371" y="1154"/>
                    <a:pt x="5435" y="1154"/>
                  </a:cubicBezTo>
                  <a:cubicBezTo>
                    <a:pt x="5537" y="1154"/>
                    <a:pt x="5635" y="1094"/>
                    <a:pt x="5681" y="1006"/>
                  </a:cubicBezTo>
                  <a:cubicBezTo>
                    <a:pt x="5824" y="862"/>
                    <a:pt x="5750" y="644"/>
                    <a:pt x="5606" y="575"/>
                  </a:cubicBezTo>
                  <a:cubicBezTo>
                    <a:pt x="5031" y="144"/>
                    <a:pt x="4312" y="0"/>
                    <a:pt x="3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493;p63">
              <a:extLst>
                <a:ext uri="{FF2B5EF4-FFF2-40B4-BE49-F238E27FC236}">
                  <a16:creationId xmlns:a16="http://schemas.microsoft.com/office/drawing/2014/main" id="{456A0D0B-8A1D-7770-0224-F1176177AA5E}"/>
                </a:ext>
              </a:extLst>
            </p:cNvPr>
            <p:cNvSpPr/>
            <p:nvPr/>
          </p:nvSpPr>
          <p:spPr>
            <a:xfrm>
              <a:off x="6601584" y="2385131"/>
              <a:ext cx="10075" cy="9997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363" y="1"/>
                  </a:moveTo>
                  <a:cubicBezTo>
                    <a:pt x="144" y="1"/>
                    <a:pt x="0" y="144"/>
                    <a:pt x="0" y="357"/>
                  </a:cubicBezTo>
                  <a:cubicBezTo>
                    <a:pt x="0" y="501"/>
                    <a:pt x="144" y="645"/>
                    <a:pt x="363" y="645"/>
                  </a:cubicBezTo>
                  <a:cubicBezTo>
                    <a:pt x="506" y="645"/>
                    <a:pt x="650" y="501"/>
                    <a:pt x="650" y="357"/>
                  </a:cubicBezTo>
                  <a:cubicBezTo>
                    <a:pt x="650" y="144"/>
                    <a:pt x="506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494;p63">
              <a:extLst>
                <a:ext uri="{FF2B5EF4-FFF2-40B4-BE49-F238E27FC236}">
                  <a16:creationId xmlns:a16="http://schemas.microsoft.com/office/drawing/2014/main" id="{51CBCFC5-1BB5-D41C-E66A-900DE38D77D8}"/>
                </a:ext>
              </a:extLst>
            </p:cNvPr>
            <p:cNvSpPr/>
            <p:nvPr/>
          </p:nvSpPr>
          <p:spPr>
            <a:xfrm>
              <a:off x="6581527" y="2365089"/>
              <a:ext cx="10090" cy="9982"/>
            </a:xfrm>
            <a:custGeom>
              <a:avLst/>
              <a:gdLst/>
              <a:ahLst/>
              <a:cxnLst/>
              <a:rect l="l" t="t" r="r" b="b"/>
              <a:pathLst>
                <a:path w="651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287"/>
                  </a:cubicBezTo>
                  <a:cubicBezTo>
                    <a:pt x="1" y="500"/>
                    <a:pt x="144" y="644"/>
                    <a:pt x="288" y="644"/>
                  </a:cubicBezTo>
                  <a:cubicBezTo>
                    <a:pt x="507" y="644"/>
                    <a:pt x="650" y="500"/>
                    <a:pt x="650" y="287"/>
                  </a:cubicBezTo>
                  <a:cubicBezTo>
                    <a:pt x="650" y="144"/>
                    <a:pt x="507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2" name="TextBox 1791">
            <a:extLst>
              <a:ext uri="{FF2B5EF4-FFF2-40B4-BE49-F238E27FC236}">
                <a16:creationId xmlns:a16="http://schemas.microsoft.com/office/drawing/2014/main" id="{E26D3787-3AAD-B3BF-6EB5-D1150CDCBC8B}"/>
              </a:ext>
            </a:extLst>
          </p:cNvPr>
          <p:cNvSpPr txBox="1"/>
          <p:nvPr/>
        </p:nvSpPr>
        <p:spPr>
          <a:xfrm>
            <a:off x="4206622" y="1241651"/>
            <a:ext cx="752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¹³C</a:t>
            </a:r>
            <a:endParaRPr lang="el-GR" sz="1000" dirty="0"/>
          </a:p>
        </p:txBody>
      </p:sp>
      <p:grpSp>
        <p:nvGrpSpPr>
          <p:cNvPr id="1793" name="Google Shape;2064;p49">
            <a:extLst>
              <a:ext uri="{FF2B5EF4-FFF2-40B4-BE49-F238E27FC236}">
                <a16:creationId xmlns:a16="http://schemas.microsoft.com/office/drawing/2014/main" id="{9DAB4447-AF4F-C01F-4C48-ED52B359E407}"/>
              </a:ext>
            </a:extLst>
          </p:cNvPr>
          <p:cNvGrpSpPr/>
          <p:nvPr/>
        </p:nvGrpSpPr>
        <p:grpSpPr>
          <a:xfrm>
            <a:off x="2591854" y="1329827"/>
            <a:ext cx="295448" cy="373880"/>
            <a:chOff x="3206278" y="2865197"/>
            <a:chExt cx="251767" cy="318603"/>
          </a:xfrm>
        </p:grpSpPr>
        <p:sp>
          <p:nvSpPr>
            <p:cNvPr id="1794" name="Google Shape;2065;p49">
              <a:extLst>
                <a:ext uri="{FF2B5EF4-FFF2-40B4-BE49-F238E27FC236}">
                  <a16:creationId xmlns:a16="http://schemas.microsoft.com/office/drawing/2014/main" id="{17594A57-B252-017F-9E11-7A7F151479F7}"/>
                </a:ext>
              </a:extLst>
            </p:cNvPr>
            <p:cNvSpPr/>
            <p:nvPr/>
          </p:nvSpPr>
          <p:spPr>
            <a:xfrm>
              <a:off x="3267596" y="2865197"/>
              <a:ext cx="170407" cy="198292"/>
            </a:xfrm>
            <a:custGeom>
              <a:avLst/>
              <a:gdLst/>
              <a:ahLst/>
              <a:cxnLst/>
              <a:rect l="l" t="t" r="r" b="b"/>
              <a:pathLst>
                <a:path w="10994" h="12793" extrusionOk="0">
                  <a:moveTo>
                    <a:pt x="4094" y="719"/>
                  </a:moveTo>
                  <a:lnTo>
                    <a:pt x="4094" y="3094"/>
                  </a:lnTo>
                  <a:lnTo>
                    <a:pt x="2082" y="3094"/>
                  </a:lnTo>
                  <a:lnTo>
                    <a:pt x="2082" y="719"/>
                  </a:lnTo>
                  <a:close/>
                  <a:moveTo>
                    <a:pt x="4956" y="3738"/>
                  </a:moveTo>
                  <a:lnTo>
                    <a:pt x="4956" y="10280"/>
                  </a:lnTo>
                  <a:lnTo>
                    <a:pt x="1219" y="10280"/>
                  </a:lnTo>
                  <a:lnTo>
                    <a:pt x="1219" y="3738"/>
                  </a:lnTo>
                  <a:close/>
                  <a:moveTo>
                    <a:pt x="2082" y="10999"/>
                  </a:moveTo>
                  <a:lnTo>
                    <a:pt x="2082" y="12074"/>
                  </a:lnTo>
                  <a:lnTo>
                    <a:pt x="1438" y="12074"/>
                  </a:lnTo>
                  <a:lnTo>
                    <a:pt x="1438" y="10999"/>
                  </a:lnTo>
                  <a:close/>
                  <a:moveTo>
                    <a:pt x="4744" y="10999"/>
                  </a:moveTo>
                  <a:lnTo>
                    <a:pt x="4744" y="12074"/>
                  </a:lnTo>
                  <a:lnTo>
                    <a:pt x="4025" y="12074"/>
                  </a:lnTo>
                  <a:lnTo>
                    <a:pt x="4025" y="10999"/>
                  </a:lnTo>
                  <a:close/>
                  <a:moveTo>
                    <a:pt x="1725" y="0"/>
                  </a:moveTo>
                  <a:cubicBezTo>
                    <a:pt x="1582" y="0"/>
                    <a:pt x="1438" y="219"/>
                    <a:pt x="1438" y="363"/>
                  </a:cubicBezTo>
                  <a:lnTo>
                    <a:pt x="1438" y="3094"/>
                  </a:lnTo>
                  <a:lnTo>
                    <a:pt x="863" y="3094"/>
                  </a:lnTo>
                  <a:cubicBezTo>
                    <a:pt x="719" y="3094"/>
                    <a:pt x="575" y="3237"/>
                    <a:pt x="575" y="3381"/>
                  </a:cubicBezTo>
                  <a:lnTo>
                    <a:pt x="575" y="10280"/>
                  </a:lnTo>
                  <a:lnTo>
                    <a:pt x="357" y="10280"/>
                  </a:lnTo>
                  <a:cubicBezTo>
                    <a:pt x="144" y="10280"/>
                    <a:pt x="0" y="10493"/>
                    <a:pt x="0" y="10637"/>
                  </a:cubicBezTo>
                  <a:cubicBezTo>
                    <a:pt x="0" y="10855"/>
                    <a:pt x="144" y="10999"/>
                    <a:pt x="357" y="10999"/>
                  </a:cubicBezTo>
                  <a:lnTo>
                    <a:pt x="788" y="10999"/>
                  </a:lnTo>
                  <a:lnTo>
                    <a:pt x="788" y="12436"/>
                  </a:lnTo>
                  <a:cubicBezTo>
                    <a:pt x="788" y="12649"/>
                    <a:pt x="932" y="12793"/>
                    <a:pt x="1076" y="12793"/>
                  </a:cubicBezTo>
                  <a:lnTo>
                    <a:pt x="2444" y="12793"/>
                  </a:lnTo>
                  <a:cubicBezTo>
                    <a:pt x="2588" y="12793"/>
                    <a:pt x="2731" y="12649"/>
                    <a:pt x="2731" y="12436"/>
                  </a:cubicBezTo>
                  <a:lnTo>
                    <a:pt x="2731" y="10999"/>
                  </a:lnTo>
                  <a:lnTo>
                    <a:pt x="3375" y="10999"/>
                  </a:lnTo>
                  <a:lnTo>
                    <a:pt x="3375" y="12436"/>
                  </a:lnTo>
                  <a:cubicBezTo>
                    <a:pt x="3375" y="12649"/>
                    <a:pt x="3519" y="12793"/>
                    <a:pt x="3738" y="12793"/>
                  </a:cubicBezTo>
                  <a:lnTo>
                    <a:pt x="5031" y="12793"/>
                  </a:lnTo>
                  <a:cubicBezTo>
                    <a:pt x="5244" y="12793"/>
                    <a:pt x="5388" y="12649"/>
                    <a:pt x="5388" y="12436"/>
                  </a:cubicBezTo>
                  <a:lnTo>
                    <a:pt x="5388" y="10999"/>
                  </a:lnTo>
                  <a:lnTo>
                    <a:pt x="5819" y="10999"/>
                  </a:lnTo>
                  <a:cubicBezTo>
                    <a:pt x="5963" y="10999"/>
                    <a:pt x="6106" y="10855"/>
                    <a:pt x="6106" y="10637"/>
                  </a:cubicBezTo>
                  <a:cubicBezTo>
                    <a:pt x="6106" y="10493"/>
                    <a:pt x="5963" y="10280"/>
                    <a:pt x="5819" y="10280"/>
                  </a:cubicBezTo>
                  <a:lnTo>
                    <a:pt x="5606" y="10280"/>
                  </a:lnTo>
                  <a:lnTo>
                    <a:pt x="5606" y="5750"/>
                  </a:lnTo>
                  <a:lnTo>
                    <a:pt x="6468" y="5750"/>
                  </a:lnTo>
                  <a:lnTo>
                    <a:pt x="9343" y="7331"/>
                  </a:lnTo>
                  <a:cubicBezTo>
                    <a:pt x="9843" y="7693"/>
                    <a:pt x="10349" y="8481"/>
                    <a:pt x="10349" y="9056"/>
                  </a:cubicBezTo>
                  <a:lnTo>
                    <a:pt x="10349" y="11287"/>
                  </a:lnTo>
                  <a:cubicBezTo>
                    <a:pt x="10349" y="11430"/>
                    <a:pt x="10493" y="11574"/>
                    <a:pt x="10637" y="11574"/>
                  </a:cubicBezTo>
                  <a:cubicBezTo>
                    <a:pt x="10850" y="11574"/>
                    <a:pt x="10993" y="11430"/>
                    <a:pt x="10993" y="11287"/>
                  </a:cubicBezTo>
                  <a:lnTo>
                    <a:pt x="10993" y="9056"/>
                  </a:lnTo>
                  <a:cubicBezTo>
                    <a:pt x="10993" y="8193"/>
                    <a:pt x="10418" y="7187"/>
                    <a:pt x="9700" y="6831"/>
                  </a:cubicBezTo>
                  <a:lnTo>
                    <a:pt x="6756" y="5106"/>
                  </a:lnTo>
                  <a:lnTo>
                    <a:pt x="5606" y="5106"/>
                  </a:lnTo>
                  <a:lnTo>
                    <a:pt x="5606" y="3381"/>
                  </a:lnTo>
                  <a:cubicBezTo>
                    <a:pt x="5606" y="3237"/>
                    <a:pt x="5462" y="3094"/>
                    <a:pt x="5244" y="3094"/>
                  </a:cubicBezTo>
                  <a:lnTo>
                    <a:pt x="4744" y="3094"/>
                  </a:lnTo>
                  <a:lnTo>
                    <a:pt x="4744" y="363"/>
                  </a:lnTo>
                  <a:cubicBezTo>
                    <a:pt x="4744" y="219"/>
                    <a:pt x="4600" y="0"/>
                    <a:pt x="4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2066;p49">
              <a:extLst>
                <a:ext uri="{FF2B5EF4-FFF2-40B4-BE49-F238E27FC236}">
                  <a16:creationId xmlns:a16="http://schemas.microsoft.com/office/drawing/2014/main" id="{FBCD4037-5F15-D764-2075-4D901CCE18DE}"/>
                </a:ext>
              </a:extLst>
            </p:cNvPr>
            <p:cNvSpPr/>
            <p:nvPr/>
          </p:nvSpPr>
          <p:spPr>
            <a:xfrm>
              <a:off x="3206278" y="2990979"/>
              <a:ext cx="251767" cy="192820"/>
            </a:xfrm>
            <a:custGeom>
              <a:avLst/>
              <a:gdLst/>
              <a:ahLst/>
              <a:cxnLst/>
              <a:rect l="l" t="t" r="r" b="b"/>
              <a:pathLst>
                <a:path w="16243" h="12440" extrusionOk="0">
                  <a:moveTo>
                    <a:pt x="14593" y="4822"/>
                  </a:moveTo>
                  <a:cubicBezTo>
                    <a:pt x="15168" y="4822"/>
                    <a:pt x="15599" y="5253"/>
                    <a:pt x="15599" y="5759"/>
                  </a:cubicBezTo>
                  <a:cubicBezTo>
                    <a:pt x="15599" y="6334"/>
                    <a:pt x="15168" y="6765"/>
                    <a:pt x="14593" y="6765"/>
                  </a:cubicBezTo>
                  <a:cubicBezTo>
                    <a:pt x="14087" y="6765"/>
                    <a:pt x="13587" y="6334"/>
                    <a:pt x="13587" y="5759"/>
                  </a:cubicBezTo>
                  <a:cubicBezTo>
                    <a:pt x="13587" y="5253"/>
                    <a:pt x="14087" y="4822"/>
                    <a:pt x="14593" y="4822"/>
                  </a:cubicBezTo>
                  <a:close/>
                  <a:moveTo>
                    <a:pt x="10529" y="1"/>
                  </a:moveTo>
                  <a:cubicBezTo>
                    <a:pt x="10424" y="1"/>
                    <a:pt x="10324" y="64"/>
                    <a:pt x="10281" y="153"/>
                  </a:cubicBezTo>
                  <a:cubicBezTo>
                    <a:pt x="10137" y="297"/>
                    <a:pt x="10206" y="510"/>
                    <a:pt x="10350" y="584"/>
                  </a:cubicBezTo>
                  <a:lnTo>
                    <a:pt x="11643" y="1372"/>
                  </a:lnTo>
                  <a:lnTo>
                    <a:pt x="11643" y="5471"/>
                  </a:lnTo>
                  <a:lnTo>
                    <a:pt x="4313" y="5471"/>
                  </a:lnTo>
                  <a:cubicBezTo>
                    <a:pt x="4100" y="5471"/>
                    <a:pt x="3956" y="5615"/>
                    <a:pt x="3956" y="5759"/>
                  </a:cubicBezTo>
                  <a:lnTo>
                    <a:pt x="3956" y="7121"/>
                  </a:lnTo>
                  <a:cubicBezTo>
                    <a:pt x="3956" y="7265"/>
                    <a:pt x="4100" y="7409"/>
                    <a:pt x="4313" y="7409"/>
                  </a:cubicBezTo>
                  <a:lnTo>
                    <a:pt x="10637" y="7409"/>
                  </a:lnTo>
                  <a:cubicBezTo>
                    <a:pt x="10856" y="7409"/>
                    <a:pt x="10999" y="7265"/>
                    <a:pt x="10999" y="7121"/>
                  </a:cubicBezTo>
                  <a:cubicBezTo>
                    <a:pt x="10999" y="6909"/>
                    <a:pt x="10856" y="6765"/>
                    <a:pt x="10637" y="6765"/>
                  </a:cubicBezTo>
                  <a:lnTo>
                    <a:pt x="4600" y="6765"/>
                  </a:lnTo>
                  <a:lnTo>
                    <a:pt x="4600" y="6115"/>
                  </a:lnTo>
                  <a:lnTo>
                    <a:pt x="11643" y="6115"/>
                  </a:lnTo>
                  <a:lnTo>
                    <a:pt x="11643" y="8271"/>
                  </a:lnTo>
                  <a:lnTo>
                    <a:pt x="3163" y="8271"/>
                  </a:lnTo>
                  <a:cubicBezTo>
                    <a:pt x="2375" y="8271"/>
                    <a:pt x="1438" y="8846"/>
                    <a:pt x="1082" y="9640"/>
                  </a:cubicBezTo>
                  <a:lnTo>
                    <a:pt x="76" y="11939"/>
                  </a:lnTo>
                  <a:cubicBezTo>
                    <a:pt x="1" y="12083"/>
                    <a:pt x="76" y="12152"/>
                    <a:pt x="76" y="12296"/>
                  </a:cubicBezTo>
                  <a:cubicBezTo>
                    <a:pt x="145" y="12371"/>
                    <a:pt x="288" y="12440"/>
                    <a:pt x="363" y="12440"/>
                  </a:cubicBezTo>
                  <a:lnTo>
                    <a:pt x="14593" y="12440"/>
                  </a:lnTo>
                  <a:cubicBezTo>
                    <a:pt x="14806" y="12440"/>
                    <a:pt x="14949" y="12296"/>
                    <a:pt x="14949" y="12083"/>
                  </a:cubicBezTo>
                  <a:lnTo>
                    <a:pt x="14949" y="7409"/>
                  </a:lnTo>
                  <a:cubicBezTo>
                    <a:pt x="15668" y="7265"/>
                    <a:pt x="16243" y="6621"/>
                    <a:pt x="16243" y="5759"/>
                  </a:cubicBezTo>
                  <a:cubicBezTo>
                    <a:pt x="16243" y="4896"/>
                    <a:pt x="15524" y="4103"/>
                    <a:pt x="14593" y="4103"/>
                  </a:cubicBezTo>
                  <a:cubicBezTo>
                    <a:pt x="13656" y="4103"/>
                    <a:pt x="12937" y="4896"/>
                    <a:pt x="12937" y="5759"/>
                  </a:cubicBezTo>
                  <a:cubicBezTo>
                    <a:pt x="12937" y="6621"/>
                    <a:pt x="13512" y="7265"/>
                    <a:pt x="14305" y="7409"/>
                  </a:cubicBezTo>
                  <a:lnTo>
                    <a:pt x="14305" y="11796"/>
                  </a:lnTo>
                  <a:lnTo>
                    <a:pt x="863" y="11796"/>
                  </a:lnTo>
                  <a:lnTo>
                    <a:pt x="1657" y="9927"/>
                  </a:lnTo>
                  <a:cubicBezTo>
                    <a:pt x="1944" y="9352"/>
                    <a:pt x="2588" y="8921"/>
                    <a:pt x="3163" y="8921"/>
                  </a:cubicBezTo>
                  <a:lnTo>
                    <a:pt x="13299" y="8921"/>
                  </a:lnTo>
                  <a:cubicBezTo>
                    <a:pt x="13443" y="8921"/>
                    <a:pt x="13587" y="8777"/>
                    <a:pt x="13587" y="8559"/>
                  </a:cubicBezTo>
                  <a:cubicBezTo>
                    <a:pt x="13587" y="8415"/>
                    <a:pt x="13443" y="8271"/>
                    <a:pt x="13299" y="8271"/>
                  </a:cubicBezTo>
                  <a:lnTo>
                    <a:pt x="12293" y="8271"/>
                  </a:lnTo>
                  <a:lnTo>
                    <a:pt x="12293" y="1159"/>
                  </a:lnTo>
                  <a:cubicBezTo>
                    <a:pt x="12293" y="1016"/>
                    <a:pt x="12218" y="941"/>
                    <a:pt x="12149" y="872"/>
                  </a:cubicBezTo>
                  <a:lnTo>
                    <a:pt x="10712" y="78"/>
                  </a:lnTo>
                  <a:cubicBezTo>
                    <a:pt x="10658" y="24"/>
                    <a:pt x="10593" y="1"/>
                    <a:pt x="10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9">
          <a:extLst>
            <a:ext uri="{FF2B5EF4-FFF2-40B4-BE49-F238E27FC236}">
              <a16:creationId xmlns:a16="http://schemas.microsoft.com/office/drawing/2014/main" id="{907B2412-94A3-BF36-F88B-9B50E99F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46">
            <a:extLst>
              <a:ext uri="{FF2B5EF4-FFF2-40B4-BE49-F238E27FC236}">
                <a16:creationId xmlns:a16="http://schemas.microsoft.com/office/drawing/2014/main" id="{C913AA14-61CA-D8F1-0333-8210B9A287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11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dirty="0"/>
              <a:t>Στοιχειομετρική μήτρα </a:t>
            </a:r>
            <a:r>
              <a:rPr lang="el-GR" b="1" dirty="0"/>
              <a:t>S</a:t>
            </a:r>
            <a:r>
              <a:rPr lang="el-GR" dirty="0"/>
              <a:t> και FBA</a:t>
            </a:r>
            <a:endParaRPr dirty="0"/>
          </a:p>
        </p:txBody>
      </p:sp>
      <p:sp>
        <p:nvSpPr>
          <p:cNvPr id="1961" name="Google Shape;1961;p46">
            <a:extLst>
              <a:ext uri="{FF2B5EF4-FFF2-40B4-BE49-F238E27FC236}">
                <a16:creationId xmlns:a16="http://schemas.microsoft.com/office/drawing/2014/main" id="{F9B1C4FF-CB62-464B-70E9-020580B76B6D}"/>
              </a:ext>
            </a:extLst>
          </p:cNvPr>
          <p:cNvSpPr txBox="1"/>
          <p:nvPr/>
        </p:nvSpPr>
        <p:spPr>
          <a:xfrm>
            <a:off x="720000" y="959075"/>
            <a:ext cx="23775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  <a:buSzPts val="1100"/>
            </a:pPr>
            <a:r>
              <a:rPr lang="el-GR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Στοιχειομετρική μήτρα </a:t>
            </a:r>
            <a:r>
              <a:rPr lang="en-US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</a:t>
            </a:r>
            <a:endParaRPr b="1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962" name="Google Shape;1962;p46">
            <a:extLst>
              <a:ext uri="{FF2B5EF4-FFF2-40B4-BE49-F238E27FC236}">
                <a16:creationId xmlns:a16="http://schemas.microsoft.com/office/drawing/2014/main" id="{B4249D76-FF32-0EBA-9C00-D0354D9ACFDE}"/>
              </a:ext>
            </a:extLst>
          </p:cNvPr>
          <p:cNvSpPr txBox="1"/>
          <p:nvPr/>
        </p:nvSpPr>
        <p:spPr>
          <a:xfrm>
            <a:off x="697672" y="1399029"/>
            <a:ext cx="3277633" cy="24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Οι γραμμές αντιστοιχούν στους μεταβολίτες.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Οι στήλες αντιστοιχούν στις βιοχημικές αντιδράσεις.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Κάθε στοιχείο της μήτρας δείχνει τη συμμετοχή ενός μεταβολίτη σε μια αντίδραση.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Οι αρνητικές τιμές δηλώνουν κατανάλωση μεταβολίτη.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Οι θετικές τιμές δηλώνουν παραγωγή μεταβολίτη.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l-GR" sz="5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Βασική σχέση ισοζυγίου μάζας: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l-GR" sz="1200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dC/dt = S · v</a:t>
            </a:r>
            <a:r>
              <a:rPr lang="el-GR" sz="12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l-GR" sz="12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, </a:t>
            </a:r>
            <a:r>
              <a:rPr lang="el-GR" sz="11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όπου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1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 = διάνυσμα συγκεντρώσεων μεταβολιτών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1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 = στοιχειομετρική μήτρα</a:t>
            </a:r>
          </a:p>
          <a:p>
            <a: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100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 = διάνυσμα μεταβολικών ροών</a:t>
            </a:r>
          </a:p>
        </p:txBody>
      </p:sp>
      <p:cxnSp>
        <p:nvCxnSpPr>
          <p:cNvPr id="1976" name="Google Shape;1976;p46">
            <a:extLst>
              <a:ext uri="{FF2B5EF4-FFF2-40B4-BE49-F238E27FC236}">
                <a16:creationId xmlns:a16="http://schemas.microsoft.com/office/drawing/2014/main" id="{8BEA38DD-F879-A821-0502-B184C1AC77B0}"/>
              </a:ext>
            </a:extLst>
          </p:cNvPr>
          <p:cNvCxnSpPr>
            <a:cxnSpLocks/>
          </p:cNvCxnSpPr>
          <p:nvPr/>
        </p:nvCxnSpPr>
        <p:spPr>
          <a:xfrm>
            <a:off x="4078644" y="1193079"/>
            <a:ext cx="0" cy="3766379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1961;p46">
            <a:extLst>
              <a:ext uri="{FF2B5EF4-FFF2-40B4-BE49-F238E27FC236}">
                <a16:creationId xmlns:a16="http://schemas.microsoft.com/office/drawing/2014/main" id="{793FE530-DD11-163C-E8DB-F1AD6B578143}"/>
              </a:ext>
            </a:extLst>
          </p:cNvPr>
          <p:cNvSpPr txBox="1"/>
          <p:nvPr/>
        </p:nvSpPr>
        <p:spPr>
          <a:xfrm>
            <a:off x="4290525" y="1076077"/>
            <a:ext cx="4155803" cy="312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  <a:buSzPts val="1100"/>
            </a:pPr>
            <a:r>
              <a:rPr lang="el-GR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Στην FBA, </a:t>
            </a:r>
            <a:r>
              <a:rPr lang="el-GR" sz="1200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υπό την παραδοχή της μεταβολικής σταθερής κατάστασης:</a:t>
            </a:r>
          </a:p>
          <a:p>
            <a:pPr lvl="0" algn="ctr">
              <a:lnSpc>
                <a:spcPct val="100000"/>
              </a:lnSpc>
              <a:buSzPts val="1100"/>
            </a:pPr>
            <a:r>
              <a:rPr lang="en-US" sz="1600" b="1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S · v = 0</a:t>
            </a:r>
            <a:endParaRPr lang="el-GR" sz="1600" b="1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lvl="0" algn="ctr">
              <a:lnSpc>
                <a:spcPct val="100000"/>
              </a:lnSpc>
              <a:buSzPts val="1100"/>
            </a:pPr>
            <a:endParaRPr lang="el-GR" sz="1600" b="1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lvl="0">
              <a:lnSpc>
                <a:spcPct val="100000"/>
              </a:lnSpc>
              <a:buSzPts val="1100"/>
            </a:pPr>
            <a:r>
              <a:rPr lang="el-GR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Η FBA αναζητά μια κατανομή ροών που:</a:t>
            </a:r>
          </a:p>
          <a:p>
            <a:pPr marL="171450" lvl="0" indent="-171450">
              <a:lnSpc>
                <a:spcPct val="100000"/>
              </a:lnSpc>
              <a:buSzPts val="1100"/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ικανοποιεί τους στοιχειομετρικούς περιορισμούς, </a:t>
            </a:r>
          </a:p>
          <a:p>
            <a:pPr marL="171450" lvl="0" indent="-171450">
              <a:lnSpc>
                <a:spcPct val="100000"/>
              </a:lnSpc>
              <a:buSzPts val="1100"/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σέβεται τα κατώτερα και ανώτερα όρια των αντιδράσεων, </a:t>
            </a:r>
          </a:p>
          <a:p>
            <a:pPr marL="171450" lvl="0" indent="-171450">
              <a:lnSpc>
                <a:spcPct val="100000"/>
              </a:lnSpc>
              <a:buSzPts val="1100"/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βελτιστοποιεί μια αντικειμενική συνάρτηση, συνήθως σχετική με την παραγωγή βιομάζας.</a:t>
            </a:r>
          </a:p>
          <a:p>
            <a:pPr marL="171450" lvl="0" indent="-171450">
              <a:lnSpc>
                <a:spcPct val="100000"/>
              </a:lnSpc>
              <a:buSzPts val="1100"/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Η </a:t>
            </a:r>
            <a:r>
              <a:rPr lang="en-US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F</a:t>
            </a:r>
            <a:r>
              <a:rPr lang="el-GR" sz="12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BA δεν αποτελεί πειραματική μέτρηση. Είναι πρόβλεψη που εξαρτάται από τη δομή του μοντέλου, τα όρια των αντιδράσεων, το θρεπτικό μέσο και την αντικειμενική συνάρτηση.</a:t>
            </a:r>
          </a:p>
          <a:p>
            <a:pPr lvl="0">
              <a:lnSpc>
                <a:spcPct val="100000"/>
              </a:lnSpc>
              <a:buSzPts val="1100"/>
            </a:pPr>
            <a:endParaRPr lang="el-GR" sz="1600" b="1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2" name="Google Shape;2127;p53">
            <a:extLst>
              <a:ext uri="{FF2B5EF4-FFF2-40B4-BE49-F238E27FC236}">
                <a16:creationId xmlns:a16="http://schemas.microsoft.com/office/drawing/2014/main" id="{9732D3FC-48FB-F1EC-FC77-B4D627B77ACB}"/>
              </a:ext>
            </a:extLst>
          </p:cNvPr>
          <p:cNvSpPr txBox="1"/>
          <p:nvPr/>
        </p:nvSpPr>
        <p:spPr>
          <a:xfrm>
            <a:off x="4268070" y="4082679"/>
            <a:ext cx="4402189" cy="836685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0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Η στοιχειομετρική μήτρα S μετατρέπει τη βιοχημική πληροφορία του μεταβολικού δικτύου σε μαθηματικό σύστημα, πάνω στο οποίο εφαρμόζεται η FBA για την πρόβλεψη εφικτών μεταβολικών ροών.</a:t>
            </a:r>
            <a:endParaRPr sz="1000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2163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Σκοπός της εργασίας</a:t>
            </a:r>
            <a:endParaRPr dirty="0"/>
          </a:p>
        </p:txBody>
      </p:sp>
      <p:sp>
        <p:nvSpPr>
          <p:cNvPr id="1794" name="Google Shape;1794;p36"/>
          <p:cNvSpPr txBox="1">
            <a:spLocks noGrp="1"/>
          </p:cNvSpPr>
          <p:nvPr>
            <p:ph type="body" idx="1"/>
          </p:nvPr>
        </p:nvSpPr>
        <p:spPr>
          <a:xfrm>
            <a:off x="239553" y="1508958"/>
            <a:ext cx="8904447" cy="663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/>
              <a:t>Η ανάπτυξη υπολογιστικής διαδικασίας ανάλυσης μεταβολικών ροών, με χρήση Python &amp; COBRApy</a:t>
            </a:r>
          </a:p>
          <a:p>
            <a:pPr marL="171450" lvl="0" indent="-1714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/>
              <a:t>η διερεύνηση της πιθανής αξιοποίησης των παραγόμενων μετρικών σε μελλοντικές εφαρμογές Μηχανικής Μάθησης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795" name="Google Shape;1795;p36"/>
          <p:cNvSpPr/>
          <p:nvPr/>
        </p:nvSpPr>
        <p:spPr>
          <a:xfrm>
            <a:off x="7345092" y="-941922"/>
            <a:ext cx="116702" cy="100642"/>
          </a:xfrm>
          <a:custGeom>
            <a:avLst/>
            <a:gdLst/>
            <a:ahLst/>
            <a:cxnLst/>
            <a:rect l="l" t="t" r="r" b="b"/>
            <a:pathLst>
              <a:path w="7736" h="6673" extrusionOk="0">
                <a:moveTo>
                  <a:pt x="1937" y="0"/>
                </a:moveTo>
                <a:lnTo>
                  <a:pt x="0" y="3304"/>
                </a:lnTo>
                <a:lnTo>
                  <a:pt x="1937" y="6672"/>
                </a:lnTo>
                <a:lnTo>
                  <a:pt x="5804" y="6672"/>
                </a:lnTo>
                <a:lnTo>
                  <a:pt x="7736" y="3304"/>
                </a:lnTo>
                <a:lnTo>
                  <a:pt x="5804" y="0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36"/>
          <p:cNvSpPr/>
          <p:nvPr/>
        </p:nvSpPr>
        <p:spPr>
          <a:xfrm rot="-5400000">
            <a:off x="8354727" y="-379252"/>
            <a:ext cx="115792" cy="100646"/>
          </a:xfrm>
          <a:custGeom>
            <a:avLst/>
            <a:gdLst/>
            <a:ahLst/>
            <a:cxnLst/>
            <a:rect l="l" t="t" r="r" b="b"/>
            <a:pathLst>
              <a:path w="7676" h="6673" extrusionOk="0">
                <a:moveTo>
                  <a:pt x="1872" y="1"/>
                </a:moveTo>
                <a:lnTo>
                  <a:pt x="0" y="3369"/>
                </a:lnTo>
                <a:lnTo>
                  <a:pt x="1872" y="6673"/>
                </a:lnTo>
                <a:lnTo>
                  <a:pt x="5739" y="6673"/>
                </a:lnTo>
                <a:lnTo>
                  <a:pt x="7675" y="3369"/>
                </a:lnTo>
                <a:lnTo>
                  <a:pt x="5739" y="1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7" name="Google Shape;1797;p36"/>
          <p:cNvSpPr/>
          <p:nvPr/>
        </p:nvSpPr>
        <p:spPr>
          <a:xfrm rot="-5400000">
            <a:off x="8723348" y="-1472805"/>
            <a:ext cx="116698" cy="100721"/>
          </a:xfrm>
          <a:custGeom>
            <a:avLst/>
            <a:gdLst/>
            <a:ahLst/>
            <a:cxnLst/>
            <a:rect l="l" t="t" r="r" b="b"/>
            <a:pathLst>
              <a:path w="7736" h="6678" extrusionOk="0">
                <a:moveTo>
                  <a:pt x="1937" y="1"/>
                </a:moveTo>
                <a:lnTo>
                  <a:pt x="0" y="3309"/>
                </a:lnTo>
                <a:lnTo>
                  <a:pt x="1937" y="6678"/>
                </a:lnTo>
                <a:lnTo>
                  <a:pt x="5804" y="6678"/>
                </a:lnTo>
                <a:lnTo>
                  <a:pt x="7735" y="3309"/>
                </a:lnTo>
                <a:lnTo>
                  <a:pt x="5804" y="1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8" name="Google Shape;1798;p36"/>
          <p:cNvSpPr/>
          <p:nvPr/>
        </p:nvSpPr>
        <p:spPr>
          <a:xfrm rot="-5400000">
            <a:off x="8462604" y="-1150350"/>
            <a:ext cx="116713" cy="100736"/>
          </a:xfrm>
          <a:custGeom>
            <a:avLst/>
            <a:gdLst/>
            <a:ahLst/>
            <a:cxnLst/>
            <a:rect l="l" t="t" r="r" b="b"/>
            <a:pathLst>
              <a:path w="7737" h="6679" extrusionOk="0">
                <a:moveTo>
                  <a:pt x="1932" y="1"/>
                </a:moveTo>
                <a:lnTo>
                  <a:pt x="1" y="3369"/>
                </a:lnTo>
                <a:lnTo>
                  <a:pt x="1932" y="6678"/>
                </a:lnTo>
                <a:lnTo>
                  <a:pt x="5800" y="6678"/>
                </a:lnTo>
                <a:lnTo>
                  <a:pt x="7736" y="3369"/>
                </a:lnTo>
                <a:lnTo>
                  <a:pt x="5800" y="1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9" name="Google Shape;1799;p36"/>
          <p:cNvSpPr/>
          <p:nvPr/>
        </p:nvSpPr>
        <p:spPr>
          <a:xfrm>
            <a:off x="8111112" y="-827168"/>
            <a:ext cx="176923" cy="153339"/>
          </a:xfrm>
          <a:custGeom>
            <a:avLst/>
            <a:gdLst/>
            <a:ahLst/>
            <a:cxnLst/>
            <a:rect l="l" t="t" r="r" b="b"/>
            <a:pathLst>
              <a:path w="11728" h="10167" extrusionOk="0">
                <a:moveTo>
                  <a:pt x="2935" y="1"/>
                </a:moveTo>
                <a:lnTo>
                  <a:pt x="0" y="5051"/>
                </a:lnTo>
                <a:lnTo>
                  <a:pt x="2935" y="10166"/>
                </a:lnTo>
                <a:lnTo>
                  <a:pt x="8798" y="10166"/>
                </a:lnTo>
                <a:lnTo>
                  <a:pt x="11728" y="5051"/>
                </a:lnTo>
                <a:lnTo>
                  <a:pt x="8798" y="1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0" name="Google Shape;1800;p36"/>
          <p:cNvSpPr/>
          <p:nvPr/>
        </p:nvSpPr>
        <p:spPr>
          <a:xfrm rot="-5400000">
            <a:off x="8692731" y="-485637"/>
            <a:ext cx="177897" cy="153344"/>
          </a:xfrm>
          <a:custGeom>
            <a:avLst/>
            <a:gdLst/>
            <a:ahLst/>
            <a:cxnLst/>
            <a:rect l="l" t="t" r="r" b="b"/>
            <a:pathLst>
              <a:path w="11793" h="10167" extrusionOk="0">
                <a:moveTo>
                  <a:pt x="2934" y="1"/>
                </a:moveTo>
                <a:lnTo>
                  <a:pt x="0" y="5116"/>
                </a:lnTo>
                <a:lnTo>
                  <a:pt x="2934" y="10166"/>
                </a:lnTo>
                <a:lnTo>
                  <a:pt x="8798" y="10166"/>
                </a:lnTo>
                <a:lnTo>
                  <a:pt x="11792" y="5116"/>
                </a:lnTo>
                <a:lnTo>
                  <a:pt x="8798" y="1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36"/>
          <p:cNvSpPr/>
          <p:nvPr/>
        </p:nvSpPr>
        <p:spPr>
          <a:xfrm>
            <a:off x="7760087" y="-899849"/>
            <a:ext cx="177919" cy="153323"/>
          </a:xfrm>
          <a:custGeom>
            <a:avLst/>
            <a:gdLst/>
            <a:ahLst/>
            <a:cxnLst/>
            <a:rect l="l" t="t" r="r" b="b"/>
            <a:pathLst>
              <a:path w="11794" h="10166" extrusionOk="0">
                <a:moveTo>
                  <a:pt x="2935" y="0"/>
                </a:moveTo>
                <a:lnTo>
                  <a:pt x="1" y="5115"/>
                </a:lnTo>
                <a:lnTo>
                  <a:pt x="2935" y="10166"/>
                </a:lnTo>
                <a:lnTo>
                  <a:pt x="8799" y="10166"/>
                </a:lnTo>
                <a:lnTo>
                  <a:pt x="11793" y="5115"/>
                </a:lnTo>
                <a:lnTo>
                  <a:pt x="8799" y="0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36"/>
          <p:cNvSpPr/>
          <p:nvPr/>
        </p:nvSpPr>
        <p:spPr>
          <a:xfrm>
            <a:off x="7795911" y="-1158334"/>
            <a:ext cx="176923" cy="153323"/>
          </a:xfrm>
          <a:custGeom>
            <a:avLst/>
            <a:gdLst/>
            <a:ahLst/>
            <a:cxnLst/>
            <a:rect l="l" t="t" r="r" b="b"/>
            <a:pathLst>
              <a:path w="11728" h="10166" extrusionOk="0">
                <a:moveTo>
                  <a:pt x="2930" y="0"/>
                </a:moveTo>
                <a:lnTo>
                  <a:pt x="0" y="5050"/>
                </a:lnTo>
                <a:lnTo>
                  <a:pt x="2930" y="10166"/>
                </a:lnTo>
                <a:lnTo>
                  <a:pt x="8794" y="10166"/>
                </a:lnTo>
                <a:lnTo>
                  <a:pt x="11728" y="5050"/>
                </a:lnTo>
                <a:lnTo>
                  <a:pt x="8794" y="0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36"/>
          <p:cNvSpPr/>
          <p:nvPr/>
        </p:nvSpPr>
        <p:spPr>
          <a:xfrm rot="-5400000">
            <a:off x="8878833" y="-705674"/>
            <a:ext cx="176932" cy="153404"/>
          </a:xfrm>
          <a:custGeom>
            <a:avLst/>
            <a:gdLst/>
            <a:ahLst/>
            <a:cxnLst/>
            <a:rect l="l" t="t" r="r" b="b"/>
            <a:pathLst>
              <a:path w="11729" h="10171" extrusionOk="0">
                <a:moveTo>
                  <a:pt x="2930" y="0"/>
                </a:moveTo>
                <a:lnTo>
                  <a:pt x="1" y="5055"/>
                </a:lnTo>
                <a:lnTo>
                  <a:pt x="2930" y="10171"/>
                </a:lnTo>
                <a:lnTo>
                  <a:pt x="8794" y="10171"/>
                </a:lnTo>
                <a:lnTo>
                  <a:pt x="11728" y="5055"/>
                </a:lnTo>
                <a:lnTo>
                  <a:pt x="8794" y="0"/>
                </a:lnTo>
                <a:close/>
              </a:path>
            </a:pathLst>
          </a:custGeom>
          <a:solidFill>
            <a:srgbClr val="F8F8F8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04" name="Google Shape;1804;p36"/>
          <p:cNvGraphicFramePr/>
          <p:nvPr>
            <p:extLst>
              <p:ext uri="{D42A27DB-BD31-4B8C-83A1-F6EECF244321}">
                <p14:modId xmlns:p14="http://schemas.microsoft.com/office/powerpoint/2010/main" val="275534283"/>
              </p:ext>
            </p:extLst>
          </p:nvPr>
        </p:nvGraphicFramePr>
        <p:xfrm>
          <a:off x="602792" y="2385551"/>
          <a:ext cx="7938415" cy="2090374"/>
        </p:xfrm>
        <a:graphic>
          <a:graphicData uri="http://schemas.openxmlformats.org/drawingml/2006/table">
            <a:tbl>
              <a:tblPr>
                <a:noFill/>
                <a:tableStyleId>{7DB40B1C-C6FC-4F9A-9B64-01A4D7B7A8F9}</a:tableStyleId>
              </a:tblPr>
              <a:tblGrid>
                <a:gridCol w="2621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4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-GR" sz="1200" b="1" u="sng" dirty="0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Επίδραση θρεπτικού μέσου</a:t>
                      </a:r>
                      <a:endParaRPr sz="1200" b="1" u="sng" dirty="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Μελέτη του μοντέλου </a:t>
                      </a: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iML1515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 του </a:t>
                      </a:r>
                      <a:r>
                        <a:rPr lang="el-GR" sz="1000" i="1" dirty="0">
                          <a:solidFill>
                            <a:schemeClr val="tx1"/>
                          </a:solidFill>
                        </a:rPr>
                        <a:t>E. coli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 υπό διαφορετικές συνθήκες: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πηγές άνθρακα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συνθήκες διαθεσιμότητας οξυγόνου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0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-GR" sz="1200" b="1" u="sng" dirty="0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Σύγκριση μεταβολικών μοντέλων</a:t>
                      </a:r>
                      <a:endParaRPr sz="1200" b="1" u="sng" dirty="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Σύγκριση των </a:t>
                      </a: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iML1515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 και </a:t>
                      </a: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iJO1366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 υπό τις ίδιες συνθήκες, ώστε να διερευνηθεί η επίδραση της </a:t>
                      </a: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επιλογής μεταβολικής ανακατασκευής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 στις προβλέψεις της FBA.</a:t>
                      </a:r>
                      <a:endParaRPr sz="1000" dirty="0">
                        <a:solidFill>
                          <a:schemeClr val="tx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8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l-GR" sz="1200" b="1" u="sng" dirty="0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Σύνδεση με Μηχανική Μάθηση</a:t>
                      </a:r>
                      <a:endParaRPr sz="1200" b="1" u="sng" dirty="0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Εξαγωγή και οργάνωση μετρικών, όπως: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τιμή αντικειμενικής συνάρτησης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ενεργές ροές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αποκλεισμένες αντιδράσεις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εσωτερικές ροές</a:t>
                      </a:r>
                      <a:endParaRPr lang="el-GR" sz="10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ως πιθανά </a:t>
                      </a:r>
                      <a:r>
                        <a:rPr lang="el-GR" sz="1000" b="1" dirty="0">
                          <a:solidFill>
                            <a:schemeClr val="tx1"/>
                          </a:solidFill>
                        </a:rPr>
                        <a:t>χαρακτηριστικά εισόδου</a:t>
                      </a:r>
                      <a:r>
                        <a:rPr lang="el-GR" sz="1000" dirty="0">
                          <a:solidFill>
                            <a:schemeClr val="tx1"/>
                          </a:solidFill>
                        </a:rPr>
                        <a:t> για μελλοντικές εφαρμογές Μηχανικής Μάθησης.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1">
          <a:extLst>
            <a:ext uri="{FF2B5EF4-FFF2-40B4-BE49-F238E27FC236}">
              <a16:creationId xmlns:a16="http://schemas.microsoft.com/office/drawing/2014/main" id="{7B637722-5918-152C-71C9-826BB573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53">
            <a:extLst>
              <a:ext uri="{FF2B5EF4-FFF2-40B4-BE49-F238E27FC236}">
                <a16:creationId xmlns:a16="http://schemas.microsoft.com/office/drawing/2014/main" id="{828EE09F-762F-C2E5-AB6C-816AF819E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8644" y="7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dirty="0"/>
              <a:t>Υπολογιστική προσέγγιση - Μεθοδολογία</a:t>
            </a:r>
            <a:endParaRPr dirty="0"/>
          </a:p>
        </p:txBody>
      </p:sp>
      <p:sp>
        <p:nvSpPr>
          <p:cNvPr id="2123" name="Google Shape;2123;p53">
            <a:extLst>
              <a:ext uri="{FF2B5EF4-FFF2-40B4-BE49-F238E27FC236}">
                <a16:creationId xmlns:a16="http://schemas.microsoft.com/office/drawing/2014/main" id="{9B431C0B-D73A-1144-34A3-47D3DA704EBD}"/>
              </a:ext>
            </a:extLst>
          </p:cNvPr>
          <p:cNvSpPr txBox="1"/>
          <p:nvPr/>
        </p:nvSpPr>
        <p:spPr>
          <a:xfrm>
            <a:off x="5343650" y="1696800"/>
            <a:ext cx="3653116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Πιλοτικός έλεγχος με εκπαιδευτικό μοντέλο COBRApy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4" name="Google Shape;2124;p53">
            <a:extLst>
              <a:ext uri="{FF2B5EF4-FFF2-40B4-BE49-F238E27FC236}">
                <a16:creationId xmlns:a16="http://schemas.microsoft.com/office/drawing/2014/main" id="{3C4D53B1-91F1-E789-CBC5-0BDFCFC0BDE0}"/>
              </a:ext>
            </a:extLst>
          </p:cNvPr>
          <p:cNvSpPr txBox="1"/>
          <p:nvPr/>
        </p:nvSpPr>
        <p:spPr>
          <a:xfrm>
            <a:off x="5340000" y="2616392"/>
            <a:ext cx="3656766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Ανάλυση του iML1515 σε διαφορετικές συνθήκες θρεπτικού μέσου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5" name="Google Shape;2125;p53">
            <a:extLst>
              <a:ext uri="{FF2B5EF4-FFF2-40B4-BE49-F238E27FC236}">
                <a16:creationId xmlns:a16="http://schemas.microsoft.com/office/drawing/2014/main" id="{EF5C588D-8E37-2F6D-FC0D-61E505CAA563}"/>
              </a:ext>
            </a:extLst>
          </p:cNvPr>
          <p:cNvSpPr txBox="1"/>
          <p:nvPr/>
        </p:nvSpPr>
        <p:spPr>
          <a:xfrm>
            <a:off x="5339999" y="3535983"/>
            <a:ext cx="3656765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Σύγκριση iML1515 και iJO1366 υπό τις ίδιες συνθήκες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6" name="Google Shape;2126;p53">
            <a:extLst>
              <a:ext uri="{FF2B5EF4-FFF2-40B4-BE49-F238E27FC236}">
                <a16:creationId xmlns:a16="http://schemas.microsoft.com/office/drawing/2014/main" id="{791CDA7C-E04A-D509-DF2A-94C0082DE97D}"/>
              </a:ext>
            </a:extLst>
          </p:cNvPr>
          <p:cNvSpPr txBox="1"/>
          <p:nvPr/>
        </p:nvSpPr>
        <p:spPr>
          <a:xfrm>
            <a:off x="5343649" y="4455575"/>
            <a:ext cx="3738357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Βιβλιογραφικό πλαίσιο</a:t>
            </a:r>
            <a:r>
              <a:rPr lang="en-US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 </a:t>
            </a:r>
            <a:r>
              <a:rPr lang="el-GR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Σύνδεση με δημοσιευμένα fluxomics / ¹³C-MFA δεδομένα</a:t>
            </a:r>
            <a:endParaRPr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7" name="Google Shape;2127;p53">
            <a:extLst>
              <a:ext uri="{FF2B5EF4-FFF2-40B4-BE49-F238E27FC236}">
                <a16:creationId xmlns:a16="http://schemas.microsoft.com/office/drawing/2014/main" id="{8C5DBC69-F234-8B2B-B84E-14E9258974DD}"/>
              </a:ext>
            </a:extLst>
          </p:cNvPr>
          <p:cNvSpPr txBox="1"/>
          <p:nvPr/>
        </p:nvSpPr>
        <p:spPr>
          <a:xfrm>
            <a:off x="286048" y="3160199"/>
            <a:ext cx="1953458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Δομή </a:t>
            </a:r>
            <a:r>
              <a:rPr lang="en-US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notebooks</a:t>
            </a:r>
            <a:endParaRPr sz="1800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2128" name="Google Shape;2128;p53">
            <a:extLst>
              <a:ext uri="{FF2B5EF4-FFF2-40B4-BE49-F238E27FC236}">
                <a16:creationId xmlns:a16="http://schemas.microsoft.com/office/drawing/2014/main" id="{32271A4A-9B66-E701-A6E2-9494DCBC29BD}"/>
              </a:ext>
            </a:extLst>
          </p:cNvPr>
          <p:cNvCxnSpPr>
            <a:cxnSpLocks/>
            <a:stCxn id="2127" idx="0"/>
            <a:endCxn id="2129" idx="1"/>
          </p:cNvCxnSpPr>
          <p:nvPr/>
        </p:nvCxnSpPr>
        <p:spPr>
          <a:xfrm rot="5400000" flipH="1" flipV="1">
            <a:off x="1422990" y="1842438"/>
            <a:ext cx="1157549" cy="1477974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0" name="Google Shape;2130;p53">
            <a:extLst>
              <a:ext uri="{FF2B5EF4-FFF2-40B4-BE49-F238E27FC236}">
                <a16:creationId xmlns:a16="http://schemas.microsoft.com/office/drawing/2014/main" id="{53AD2945-2184-8C78-C4D1-9CF881CF399D}"/>
              </a:ext>
            </a:extLst>
          </p:cNvPr>
          <p:cNvCxnSpPr>
            <a:cxnSpLocks/>
            <a:stCxn id="2127" idx="2"/>
            <a:endCxn id="2131" idx="1"/>
          </p:cNvCxnSpPr>
          <p:nvPr/>
        </p:nvCxnSpPr>
        <p:spPr>
          <a:xfrm rot="16200000" flipH="1">
            <a:off x="1413638" y="3375038"/>
            <a:ext cx="1235526" cy="1537248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9" name="Google Shape;2129;p53">
            <a:extLst>
              <a:ext uri="{FF2B5EF4-FFF2-40B4-BE49-F238E27FC236}">
                <a16:creationId xmlns:a16="http://schemas.microsoft.com/office/drawing/2014/main" id="{E06187C5-7834-356B-99FB-F399548F43E4}"/>
              </a:ext>
            </a:extLst>
          </p:cNvPr>
          <p:cNvSpPr txBox="1"/>
          <p:nvPr/>
        </p:nvSpPr>
        <p:spPr>
          <a:xfrm>
            <a:off x="2740751" y="1696800"/>
            <a:ext cx="2119200" cy="611699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Πιλοτικό μοντέλο του </a:t>
            </a:r>
            <a:r>
              <a:rPr lang="en-US" sz="1800" dirty="0" err="1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COBRApy</a:t>
            </a:r>
            <a:endParaRPr sz="1800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2133" name="Google Shape;2133;p53">
            <a:extLst>
              <a:ext uri="{FF2B5EF4-FFF2-40B4-BE49-F238E27FC236}">
                <a16:creationId xmlns:a16="http://schemas.microsoft.com/office/drawing/2014/main" id="{2DC9846C-45F1-95F5-4073-1C8E249EA62B}"/>
              </a:ext>
            </a:extLst>
          </p:cNvPr>
          <p:cNvSpPr txBox="1"/>
          <p:nvPr/>
        </p:nvSpPr>
        <p:spPr>
          <a:xfrm>
            <a:off x="2800025" y="2739375"/>
            <a:ext cx="2119200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iML1515 </a:t>
            </a: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του </a:t>
            </a:r>
            <a:r>
              <a:rPr lang="en-US" sz="1800" dirty="0" err="1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E.Coli</a:t>
            </a:r>
            <a:endParaRPr sz="1800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2134" name="Google Shape;2134;p53">
            <a:extLst>
              <a:ext uri="{FF2B5EF4-FFF2-40B4-BE49-F238E27FC236}">
                <a16:creationId xmlns:a16="http://schemas.microsoft.com/office/drawing/2014/main" id="{417136A2-DD48-9165-E4DC-E721A1591FA6}"/>
              </a:ext>
            </a:extLst>
          </p:cNvPr>
          <p:cNvSpPr txBox="1"/>
          <p:nvPr/>
        </p:nvSpPr>
        <p:spPr>
          <a:xfrm>
            <a:off x="2800025" y="3519791"/>
            <a:ext cx="2119200" cy="644067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iML1515 </a:t>
            </a: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και </a:t>
            </a:r>
            <a:r>
              <a:rPr lang="en-US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iJO1366 </a:t>
            </a: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του </a:t>
            </a:r>
            <a:r>
              <a:rPr lang="en-US" sz="1800" dirty="0" err="1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E.Coli</a:t>
            </a:r>
            <a:endParaRPr sz="1800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2131" name="Google Shape;2131;p53">
            <a:extLst>
              <a:ext uri="{FF2B5EF4-FFF2-40B4-BE49-F238E27FC236}">
                <a16:creationId xmlns:a16="http://schemas.microsoft.com/office/drawing/2014/main" id="{95114C9D-FC69-D975-06CB-FB9FC9D91591}"/>
              </a:ext>
            </a:extLst>
          </p:cNvPr>
          <p:cNvSpPr txBox="1"/>
          <p:nvPr/>
        </p:nvSpPr>
        <p:spPr>
          <a:xfrm>
            <a:off x="2800025" y="4439391"/>
            <a:ext cx="2119200" cy="644067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Δημοσιευμένες </a:t>
            </a:r>
            <a:r>
              <a:rPr lang="en-US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fluxomics</a:t>
            </a:r>
            <a:r>
              <a:rPr lang="el-GR" sz="1800" dirty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 μελέτες</a:t>
            </a:r>
            <a:endParaRPr sz="1800" dirty="0">
              <a:solidFill>
                <a:schemeClr val="dk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2136" name="Google Shape;2136;p53">
            <a:extLst>
              <a:ext uri="{FF2B5EF4-FFF2-40B4-BE49-F238E27FC236}">
                <a16:creationId xmlns:a16="http://schemas.microsoft.com/office/drawing/2014/main" id="{3F1260C3-C841-1931-4258-D54716DA3B4A}"/>
              </a:ext>
            </a:extLst>
          </p:cNvPr>
          <p:cNvCxnSpPr>
            <a:cxnSpLocks/>
            <a:stCxn id="2129" idx="3"/>
            <a:endCxn id="2123" idx="1"/>
          </p:cNvCxnSpPr>
          <p:nvPr/>
        </p:nvCxnSpPr>
        <p:spPr>
          <a:xfrm>
            <a:off x="4859951" y="2002650"/>
            <a:ext cx="483699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7" name="Google Shape;2137;p53">
            <a:extLst>
              <a:ext uri="{FF2B5EF4-FFF2-40B4-BE49-F238E27FC236}">
                <a16:creationId xmlns:a16="http://schemas.microsoft.com/office/drawing/2014/main" id="{D03D8441-0102-2310-8FF4-E5F779F0E6C2}"/>
              </a:ext>
            </a:extLst>
          </p:cNvPr>
          <p:cNvCxnSpPr>
            <a:cxnSpLocks/>
            <a:stCxn id="2133" idx="3"/>
            <a:endCxn id="2124" idx="1"/>
          </p:cNvCxnSpPr>
          <p:nvPr/>
        </p:nvCxnSpPr>
        <p:spPr>
          <a:xfrm>
            <a:off x="4919225" y="2922225"/>
            <a:ext cx="420775" cy="1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8" name="Google Shape;2138;p53">
            <a:extLst>
              <a:ext uri="{FF2B5EF4-FFF2-40B4-BE49-F238E27FC236}">
                <a16:creationId xmlns:a16="http://schemas.microsoft.com/office/drawing/2014/main" id="{69283E22-F1FF-7C00-99CB-F427B78A8A0D}"/>
              </a:ext>
            </a:extLst>
          </p:cNvPr>
          <p:cNvCxnSpPr>
            <a:cxnSpLocks/>
            <a:stCxn id="2134" idx="3"/>
            <a:endCxn id="2125" idx="1"/>
          </p:cNvCxnSpPr>
          <p:nvPr/>
        </p:nvCxnSpPr>
        <p:spPr>
          <a:xfrm>
            <a:off x="4919225" y="3841825"/>
            <a:ext cx="420774" cy="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39" name="Google Shape;2139;p53">
            <a:extLst>
              <a:ext uri="{FF2B5EF4-FFF2-40B4-BE49-F238E27FC236}">
                <a16:creationId xmlns:a16="http://schemas.microsoft.com/office/drawing/2014/main" id="{BA6AE4C8-C06B-9548-B238-0C2C638BCD0B}"/>
              </a:ext>
            </a:extLst>
          </p:cNvPr>
          <p:cNvCxnSpPr>
            <a:cxnSpLocks/>
            <a:stCxn id="2131" idx="3"/>
            <a:endCxn id="2126" idx="1"/>
          </p:cNvCxnSpPr>
          <p:nvPr/>
        </p:nvCxnSpPr>
        <p:spPr>
          <a:xfrm>
            <a:off x="4919225" y="4761425"/>
            <a:ext cx="424424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Google Shape;2126;p53">
            <a:extLst>
              <a:ext uri="{FF2B5EF4-FFF2-40B4-BE49-F238E27FC236}">
                <a16:creationId xmlns:a16="http://schemas.microsoft.com/office/drawing/2014/main" id="{ACE07C15-DEA9-32D6-D4C0-6D14501B0C6F}"/>
              </a:ext>
            </a:extLst>
          </p:cNvPr>
          <p:cNvSpPr txBox="1"/>
          <p:nvPr/>
        </p:nvSpPr>
        <p:spPr>
          <a:xfrm>
            <a:off x="145433" y="929725"/>
            <a:ext cx="5309184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Βασικά εργαλεία: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l-GR" sz="600"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Python · Jupyter Notebooks · </a:t>
            </a:r>
            <a:r>
              <a:rPr lang="en-US" b="1" dirty="0" err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COBRApy</a:t>
            </a:r>
            <a:r>
              <a:rPr lang="en-US" b="1" dirty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· pandas · matplotlib</a:t>
            </a:r>
            <a:endParaRPr b="1" dirty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63625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0">
          <a:extLst>
            <a:ext uri="{FF2B5EF4-FFF2-40B4-BE49-F238E27FC236}">
              <a16:creationId xmlns:a16="http://schemas.microsoft.com/office/drawing/2014/main" id="{B88003F2-5BA5-5349-099E-98C8C6747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47">
            <a:extLst>
              <a:ext uri="{FF2B5EF4-FFF2-40B4-BE49-F238E27FC236}">
                <a16:creationId xmlns:a16="http://schemas.microsoft.com/office/drawing/2014/main" id="{FB489FA2-576E-AB63-EEDD-8F70545ED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129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sz="2400" dirty="0"/>
              <a:t>Μεταβολικά μοντέλα του Escherichia coli</a:t>
            </a:r>
            <a:br>
              <a:rPr lang="el-GR" sz="2400" dirty="0"/>
            </a:br>
            <a:r>
              <a:rPr lang="el-GR" sz="2400" b="1" dirty="0"/>
              <a:t>iML1515 και iJO1366</a:t>
            </a:r>
            <a:endParaRPr sz="2400" b="1" dirty="0"/>
          </a:p>
        </p:txBody>
      </p:sp>
      <p:sp>
        <p:nvSpPr>
          <p:cNvPr id="1984" name="Google Shape;1984;p47">
            <a:extLst>
              <a:ext uri="{FF2B5EF4-FFF2-40B4-BE49-F238E27FC236}">
                <a16:creationId xmlns:a16="http://schemas.microsoft.com/office/drawing/2014/main" id="{5F3443BF-5BD6-8F8F-BD02-7A36E67712E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81817" y="4475187"/>
            <a:ext cx="7397982" cy="683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l-GR" b="1" dirty="0"/>
              <a:t>Στόχος:</a:t>
            </a:r>
            <a:r>
              <a:rPr lang="el-GR" dirty="0"/>
              <a:t> να διερευνηθεί κατά πόσο η επιλογή της μεταβολικής ανακατασκευής επηρεάζει τις προβλέψεις της FBA.</a:t>
            </a:r>
            <a:endParaRPr dirty="0"/>
          </a:p>
        </p:txBody>
      </p:sp>
      <p:sp>
        <p:nvSpPr>
          <p:cNvPr id="1988" name="Google Shape;1988;p47">
            <a:extLst>
              <a:ext uri="{FF2B5EF4-FFF2-40B4-BE49-F238E27FC236}">
                <a16:creationId xmlns:a16="http://schemas.microsoft.com/office/drawing/2014/main" id="{F8B0A0EE-F8B1-E00F-8825-14D1CA94BB69}"/>
              </a:ext>
            </a:extLst>
          </p:cNvPr>
          <p:cNvSpPr txBox="1"/>
          <p:nvPr/>
        </p:nvSpPr>
        <p:spPr>
          <a:xfrm>
            <a:off x="931111" y="1160358"/>
            <a:ext cx="3315423" cy="86992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iML1515</a:t>
            </a:r>
            <a:endParaRPr lang="el-GR" sz="2000" dirty="0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tx1"/>
                </a:solidFill>
                <a:latin typeface="+mn-lt"/>
                <a:ea typeface="Archivo ExtraBold"/>
                <a:cs typeface="Archivo ExtraBold"/>
                <a:sym typeface="Archivo ExtraBold"/>
              </a:rPr>
              <a:t>Κύριο μοντέλο ανάλυσης </a:t>
            </a:r>
            <a:r>
              <a:rPr lang="en-US" sz="1200" i="1" dirty="0">
                <a:solidFill>
                  <a:schemeClr val="dk1"/>
                </a:solidFill>
                <a:latin typeface="+mn-lt"/>
                <a:ea typeface="Archivo ExtraBold"/>
                <a:cs typeface="Archivo ExtraBold"/>
                <a:sym typeface="Archivo ExtraBold"/>
              </a:rPr>
              <a:t>Escherichia coli</a:t>
            </a:r>
            <a:endParaRPr sz="1800" i="1" dirty="0">
              <a:solidFill>
                <a:schemeClr val="dk1"/>
              </a:solidFill>
              <a:latin typeface="+mn-lt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15" name="Google Shape;1988;p47">
            <a:extLst>
              <a:ext uri="{FF2B5EF4-FFF2-40B4-BE49-F238E27FC236}">
                <a16:creationId xmlns:a16="http://schemas.microsoft.com/office/drawing/2014/main" id="{CA29AF53-7799-DC65-11C6-DF6CDE9E6BDF}"/>
              </a:ext>
            </a:extLst>
          </p:cNvPr>
          <p:cNvSpPr txBox="1"/>
          <p:nvPr/>
        </p:nvSpPr>
        <p:spPr>
          <a:xfrm>
            <a:off x="931110" y="2030278"/>
            <a:ext cx="3315423" cy="1829341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grpSp>
        <p:nvGrpSpPr>
          <p:cNvPr id="16" name="Google Shape;11826;p78">
            <a:extLst>
              <a:ext uri="{FF2B5EF4-FFF2-40B4-BE49-F238E27FC236}">
                <a16:creationId xmlns:a16="http://schemas.microsoft.com/office/drawing/2014/main" id="{7961A8DA-39B2-07AA-8C38-845E540CD2B6}"/>
              </a:ext>
            </a:extLst>
          </p:cNvPr>
          <p:cNvGrpSpPr/>
          <p:nvPr/>
        </p:nvGrpSpPr>
        <p:grpSpPr>
          <a:xfrm>
            <a:off x="1220450" y="2281483"/>
            <a:ext cx="352840" cy="354717"/>
            <a:chOff x="3095745" y="3805393"/>
            <a:chExt cx="352840" cy="354717"/>
          </a:xfrm>
        </p:grpSpPr>
        <p:sp>
          <p:nvSpPr>
            <p:cNvPr id="17" name="Google Shape;11827;p78">
              <a:extLst>
                <a:ext uri="{FF2B5EF4-FFF2-40B4-BE49-F238E27FC236}">
                  <a16:creationId xmlns:a16="http://schemas.microsoft.com/office/drawing/2014/main" id="{8D1B8915-9163-0023-3876-1C7B1308ACFD}"/>
                </a:ext>
              </a:extLst>
            </p:cNvPr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828;p78">
              <a:extLst>
                <a:ext uri="{FF2B5EF4-FFF2-40B4-BE49-F238E27FC236}">
                  <a16:creationId xmlns:a16="http://schemas.microsoft.com/office/drawing/2014/main" id="{3BC9F129-15DE-C186-BC31-F5E0562D1B91}"/>
                </a:ext>
              </a:extLst>
            </p:cNvPr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29;p78">
              <a:extLst>
                <a:ext uri="{FF2B5EF4-FFF2-40B4-BE49-F238E27FC236}">
                  <a16:creationId xmlns:a16="http://schemas.microsoft.com/office/drawing/2014/main" id="{5F08C994-CEF8-2DDD-EEAD-DB3C15EDAD7B}"/>
                </a:ext>
              </a:extLst>
            </p:cNvPr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830;p78">
              <a:extLst>
                <a:ext uri="{FF2B5EF4-FFF2-40B4-BE49-F238E27FC236}">
                  <a16:creationId xmlns:a16="http://schemas.microsoft.com/office/drawing/2014/main" id="{CAF8D7F3-50A2-681D-24CD-6FF9E97362E6}"/>
                </a:ext>
              </a:extLst>
            </p:cNvPr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831;p78">
              <a:extLst>
                <a:ext uri="{FF2B5EF4-FFF2-40B4-BE49-F238E27FC236}">
                  <a16:creationId xmlns:a16="http://schemas.microsoft.com/office/drawing/2014/main" id="{6AA3B42C-889F-DDD9-01AC-889282CAC568}"/>
                </a:ext>
              </a:extLst>
            </p:cNvPr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832;p78">
              <a:extLst>
                <a:ext uri="{FF2B5EF4-FFF2-40B4-BE49-F238E27FC236}">
                  <a16:creationId xmlns:a16="http://schemas.microsoft.com/office/drawing/2014/main" id="{4E300652-BD5C-2E6A-F677-C1D55CB30C94}"/>
                </a:ext>
              </a:extLst>
            </p:cNvPr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491;p63">
            <a:extLst>
              <a:ext uri="{FF2B5EF4-FFF2-40B4-BE49-F238E27FC236}">
                <a16:creationId xmlns:a16="http://schemas.microsoft.com/office/drawing/2014/main" id="{DAC495B5-DC17-772B-EDE6-AF0DCAE34CF3}"/>
              </a:ext>
            </a:extLst>
          </p:cNvPr>
          <p:cNvGrpSpPr/>
          <p:nvPr/>
        </p:nvGrpSpPr>
        <p:grpSpPr>
          <a:xfrm rot="19224247">
            <a:off x="1232113" y="2825911"/>
            <a:ext cx="373880" cy="372516"/>
            <a:chOff x="6467912" y="2113338"/>
            <a:chExt cx="318603" cy="317440"/>
          </a:xfrm>
        </p:grpSpPr>
        <p:sp>
          <p:nvSpPr>
            <p:cNvPr id="24" name="Google Shape;2492;p63">
              <a:extLst>
                <a:ext uri="{FF2B5EF4-FFF2-40B4-BE49-F238E27FC236}">
                  <a16:creationId xmlns:a16="http://schemas.microsoft.com/office/drawing/2014/main" id="{BF91DC0C-DA37-FA98-BC7E-773D99651C8F}"/>
                </a:ext>
              </a:extLst>
            </p:cNvPr>
            <p:cNvSpPr/>
            <p:nvPr/>
          </p:nvSpPr>
          <p:spPr>
            <a:xfrm>
              <a:off x="6467912" y="2113338"/>
              <a:ext cx="318603" cy="317440"/>
            </a:xfrm>
            <a:custGeom>
              <a:avLst/>
              <a:gdLst/>
              <a:ahLst/>
              <a:cxnLst/>
              <a:rect l="l" t="t" r="r" b="b"/>
              <a:pathLst>
                <a:path w="20555" h="20480" extrusionOk="0">
                  <a:moveTo>
                    <a:pt x="16961" y="644"/>
                  </a:moveTo>
                  <a:cubicBezTo>
                    <a:pt x="18542" y="644"/>
                    <a:pt x="19910" y="1938"/>
                    <a:pt x="19910" y="3593"/>
                  </a:cubicBezTo>
                  <a:cubicBezTo>
                    <a:pt x="19910" y="5174"/>
                    <a:pt x="18542" y="6537"/>
                    <a:pt x="16961" y="6537"/>
                  </a:cubicBezTo>
                  <a:cubicBezTo>
                    <a:pt x="15311" y="6537"/>
                    <a:pt x="14017" y="5174"/>
                    <a:pt x="14017" y="3593"/>
                  </a:cubicBezTo>
                  <a:cubicBezTo>
                    <a:pt x="14017" y="1938"/>
                    <a:pt x="15311" y="644"/>
                    <a:pt x="16961" y="644"/>
                  </a:cubicBezTo>
                  <a:close/>
                  <a:moveTo>
                    <a:pt x="5681" y="6537"/>
                  </a:moveTo>
                  <a:lnTo>
                    <a:pt x="7980" y="10562"/>
                  </a:lnTo>
                  <a:cubicBezTo>
                    <a:pt x="7762" y="10636"/>
                    <a:pt x="7618" y="10705"/>
                    <a:pt x="7405" y="10849"/>
                  </a:cubicBezTo>
                  <a:lnTo>
                    <a:pt x="5106" y="6825"/>
                  </a:lnTo>
                  <a:cubicBezTo>
                    <a:pt x="5318" y="6756"/>
                    <a:pt x="5537" y="6612"/>
                    <a:pt x="5681" y="6537"/>
                  </a:cubicBezTo>
                  <a:close/>
                  <a:moveTo>
                    <a:pt x="14880" y="6537"/>
                  </a:moveTo>
                  <a:cubicBezTo>
                    <a:pt x="15092" y="6612"/>
                    <a:pt x="15236" y="6756"/>
                    <a:pt x="15455" y="6825"/>
                  </a:cubicBezTo>
                  <a:lnTo>
                    <a:pt x="13155" y="10849"/>
                  </a:lnTo>
                  <a:cubicBezTo>
                    <a:pt x="13011" y="10705"/>
                    <a:pt x="12793" y="10636"/>
                    <a:pt x="12580" y="10562"/>
                  </a:cubicBezTo>
                  <a:lnTo>
                    <a:pt x="14880" y="6537"/>
                  </a:lnTo>
                  <a:close/>
                  <a:moveTo>
                    <a:pt x="3668" y="0"/>
                  </a:moveTo>
                  <a:cubicBezTo>
                    <a:pt x="1656" y="0"/>
                    <a:pt x="0" y="1581"/>
                    <a:pt x="0" y="3593"/>
                  </a:cubicBezTo>
                  <a:cubicBezTo>
                    <a:pt x="0" y="5531"/>
                    <a:pt x="1656" y="7187"/>
                    <a:pt x="3668" y="7187"/>
                  </a:cubicBezTo>
                  <a:cubicBezTo>
                    <a:pt x="3956" y="7187"/>
                    <a:pt x="4243" y="7112"/>
                    <a:pt x="4531" y="7043"/>
                  </a:cubicBezTo>
                  <a:lnTo>
                    <a:pt x="6899" y="11280"/>
                  </a:lnTo>
                  <a:cubicBezTo>
                    <a:pt x="5750" y="12217"/>
                    <a:pt x="5031" y="13655"/>
                    <a:pt x="5031" y="15236"/>
                  </a:cubicBezTo>
                  <a:cubicBezTo>
                    <a:pt x="5031" y="18111"/>
                    <a:pt x="7405" y="20479"/>
                    <a:pt x="10280" y="20479"/>
                  </a:cubicBezTo>
                  <a:cubicBezTo>
                    <a:pt x="11430" y="20479"/>
                    <a:pt x="12580" y="20123"/>
                    <a:pt x="13442" y="19404"/>
                  </a:cubicBezTo>
                  <a:cubicBezTo>
                    <a:pt x="13586" y="19260"/>
                    <a:pt x="13655" y="19117"/>
                    <a:pt x="13511" y="18973"/>
                  </a:cubicBezTo>
                  <a:cubicBezTo>
                    <a:pt x="13468" y="18884"/>
                    <a:pt x="13368" y="18821"/>
                    <a:pt x="13263" y="18821"/>
                  </a:cubicBezTo>
                  <a:cubicBezTo>
                    <a:pt x="13199" y="18821"/>
                    <a:pt x="13134" y="18844"/>
                    <a:pt x="13080" y="18898"/>
                  </a:cubicBezTo>
                  <a:cubicBezTo>
                    <a:pt x="12292" y="19473"/>
                    <a:pt x="11286" y="19835"/>
                    <a:pt x="10280" y="19835"/>
                  </a:cubicBezTo>
                  <a:cubicBezTo>
                    <a:pt x="7762" y="19835"/>
                    <a:pt x="5681" y="17748"/>
                    <a:pt x="5681" y="15236"/>
                  </a:cubicBezTo>
                  <a:cubicBezTo>
                    <a:pt x="5681" y="12718"/>
                    <a:pt x="7762" y="10636"/>
                    <a:pt x="10280" y="10636"/>
                  </a:cubicBezTo>
                  <a:cubicBezTo>
                    <a:pt x="12793" y="10636"/>
                    <a:pt x="14880" y="12718"/>
                    <a:pt x="14880" y="15236"/>
                  </a:cubicBezTo>
                  <a:cubicBezTo>
                    <a:pt x="14880" y="16242"/>
                    <a:pt x="14517" y="17173"/>
                    <a:pt x="13942" y="18036"/>
                  </a:cubicBezTo>
                  <a:cubicBezTo>
                    <a:pt x="13799" y="18180"/>
                    <a:pt x="13873" y="18323"/>
                    <a:pt x="14017" y="18467"/>
                  </a:cubicBezTo>
                  <a:cubicBezTo>
                    <a:pt x="14073" y="18523"/>
                    <a:pt x="14139" y="18546"/>
                    <a:pt x="14203" y="18546"/>
                  </a:cubicBezTo>
                  <a:cubicBezTo>
                    <a:pt x="14305" y="18546"/>
                    <a:pt x="14403" y="18486"/>
                    <a:pt x="14448" y="18398"/>
                  </a:cubicBezTo>
                  <a:cubicBezTo>
                    <a:pt x="15167" y="17461"/>
                    <a:pt x="15524" y="16386"/>
                    <a:pt x="15524" y="15236"/>
                  </a:cubicBezTo>
                  <a:cubicBezTo>
                    <a:pt x="15524" y="13655"/>
                    <a:pt x="14805" y="12217"/>
                    <a:pt x="13655" y="11280"/>
                  </a:cubicBezTo>
                  <a:lnTo>
                    <a:pt x="16098" y="7043"/>
                  </a:lnTo>
                  <a:cubicBezTo>
                    <a:pt x="16386" y="7112"/>
                    <a:pt x="16673" y="7187"/>
                    <a:pt x="16961" y="7187"/>
                  </a:cubicBezTo>
                  <a:cubicBezTo>
                    <a:pt x="18904" y="7187"/>
                    <a:pt x="20554" y="5531"/>
                    <a:pt x="20554" y="3593"/>
                  </a:cubicBezTo>
                  <a:cubicBezTo>
                    <a:pt x="20554" y="1581"/>
                    <a:pt x="18904" y="0"/>
                    <a:pt x="16961" y="0"/>
                  </a:cubicBezTo>
                  <a:cubicBezTo>
                    <a:pt x="14949" y="0"/>
                    <a:pt x="13368" y="1581"/>
                    <a:pt x="13368" y="3593"/>
                  </a:cubicBezTo>
                  <a:cubicBezTo>
                    <a:pt x="13368" y="4525"/>
                    <a:pt x="13730" y="5462"/>
                    <a:pt x="14374" y="6106"/>
                  </a:cubicBezTo>
                  <a:lnTo>
                    <a:pt x="12005" y="10274"/>
                  </a:lnTo>
                  <a:cubicBezTo>
                    <a:pt x="11430" y="10130"/>
                    <a:pt x="10855" y="9987"/>
                    <a:pt x="10280" y="9987"/>
                  </a:cubicBezTo>
                  <a:cubicBezTo>
                    <a:pt x="9705" y="9987"/>
                    <a:pt x="9130" y="10130"/>
                    <a:pt x="8624" y="10274"/>
                  </a:cubicBezTo>
                  <a:lnTo>
                    <a:pt x="6181" y="6106"/>
                  </a:lnTo>
                  <a:cubicBezTo>
                    <a:pt x="6830" y="5462"/>
                    <a:pt x="7262" y="4525"/>
                    <a:pt x="7262" y="3593"/>
                  </a:cubicBezTo>
                  <a:cubicBezTo>
                    <a:pt x="7262" y="2875"/>
                    <a:pt x="7043" y="2156"/>
                    <a:pt x="6612" y="1581"/>
                  </a:cubicBezTo>
                  <a:cubicBezTo>
                    <a:pt x="6569" y="1492"/>
                    <a:pt x="6468" y="1429"/>
                    <a:pt x="6364" y="1429"/>
                  </a:cubicBezTo>
                  <a:cubicBezTo>
                    <a:pt x="6300" y="1429"/>
                    <a:pt x="6235" y="1452"/>
                    <a:pt x="6181" y="1506"/>
                  </a:cubicBezTo>
                  <a:cubicBezTo>
                    <a:pt x="6037" y="1581"/>
                    <a:pt x="5968" y="1794"/>
                    <a:pt x="6112" y="1938"/>
                  </a:cubicBezTo>
                  <a:cubicBezTo>
                    <a:pt x="6399" y="2444"/>
                    <a:pt x="6612" y="3018"/>
                    <a:pt x="6612" y="3593"/>
                  </a:cubicBezTo>
                  <a:cubicBezTo>
                    <a:pt x="6612" y="5174"/>
                    <a:pt x="5249" y="6537"/>
                    <a:pt x="3668" y="6537"/>
                  </a:cubicBezTo>
                  <a:cubicBezTo>
                    <a:pt x="2013" y="6537"/>
                    <a:pt x="719" y="5174"/>
                    <a:pt x="719" y="3593"/>
                  </a:cubicBezTo>
                  <a:cubicBezTo>
                    <a:pt x="719" y="1938"/>
                    <a:pt x="2013" y="644"/>
                    <a:pt x="3668" y="644"/>
                  </a:cubicBezTo>
                  <a:cubicBezTo>
                    <a:pt x="4243" y="644"/>
                    <a:pt x="4743" y="788"/>
                    <a:pt x="5249" y="1075"/>
                  </a:cubicBezTo>
                  <a:cubicBezTo>
                    <a:pt x="5305" y="1131"/>
                    <a:pt x="5371" y="1154"/>
                    <a:pt x="5435" y="1154"/>
                  </a:cubicBezTo>
                  <a:cubicBezTo>
                    <a:pt x="5537" y="1154"/>
                    <a:pt x="5635" y="1094"/>
                    <a:pt x="5681" y="1006"/>
                  </a:cubicBezTo>
                  <a:cubicBezTo>
                    <a:pt x="5824" y="862"/>
                    <a:pt x="5750" y="644"/>
                    <a:pt x="5606" y="575"/>
                  </a:cubicBezTo>
                  <a:cubicBezTo>
                    <a:pt x="5031" y="144"/>
                    <a:pt x="4312" y="0"/>
                    <a:pt x="3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493;p63">
              <a:extLst>
                <a:ext uri="{FF2B5EF4-FFF2-40B4-BE49-F238E27FC236}">
                  <a16:creationId xmlns:a16="http://schemas.microsoft.com/office/drawing/2014/main" id="{A8B30962-6055-D4A6-3BF2-1470228E1CDC}"/>
                </a:ext>
              </a:extLst>
            </p:cNvPr>
            <p:cNvSpPr/>
            <p:nvPr/>
          </p:nvSpPr>
          <p:spPr>
            <a:xfrm>
              <a:off x="6601584" y="2385131"/>
              <a:ext cx="10075" cy="9997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363" y="1"/>
                  </a:moveTo>
                  <a:cubicBezTo>
                    <a:pt x="144" y="1"/>
                    <a:pt x="0" y="144"/>
                    <a:pt x="0" y="357"/>
                  </a:cubicBezTo>
                  <a:cubicBezTo>
                    <a:pt x="0" y="501"/>
                    <a:pt x="144" y="645"/>
                    <a:pt x="363" y="645"/>
                  </a:cubicBezTo>
                  <a:cubicBezTo>
                    <a:pt x="506" y="645"/>
                    <a:pt x="650" y="501"/>
                    <a:pt x="650" y="357"/>
                  </a:cubicBezTo>
                  <a:cubicBezTo>
                    <a:pt x="650" y="144"/>
                    <a:pt x="506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4;p63">
              <a:extLst>
                <a:ext uri="{FF2B5EF4-FFF2-40B4-BE49-F238E27FC236}">
                  <a16:creationId xmlns:a16="http://schemas.microsoft.com/office/drawing/2014/main" id="{C6CBF6D3-F28F-D3C6-801A-6A3A45DB4147}"/>
                </a:ext>
              </a:extLst>
            </p:cNvPr>
            <p:cNvSpPr/>
            <p:nvPr/>
          </p:nvSpPr>
          <p:spPr>
            <a:xfrm>
              <a:off x="6581527" y="2365089"/>
              <a:ext cx="10090" cy="9982"/>
            </a:xfrm>
            <a:custGeom>
              <a:avLst/>
              <a:gdLst/>
              <a:ahLst/>
              <a:cxnLst/>
              <a:rect l="l" t="t" r="r" b="b"/>
              <a:pathLst>
                <a:path w="651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287"/>
                  </a:cubicBezTo>
                  <a:cubicBezTo>
                    <a:pt x="1" y="500"/>
                    <a:pt x="144" y="644"/>
                    <a:pt x="288" y="644"/>
                  </a:cubicBezTo>
                  <a:cubicBezTo>
                    <a:pt x="507" y="644"/>
                    <a:pt x="650" y="500"/>
                    <a:pt x="650" y="287"/>
                  </a:cubicBezTo>
                  <a:cubicBezTo>
                    <a:pt x="650" y="144"/>
                    <a:pt x="507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7523BFB-600B-529E-CE64-34503FE5C67A}"/>
              </a:ext>
            </a:extLst>
          </p:cNvPr>
          <p:cNvSpPr/>
          <p:nvPr/>
        </p:nvSpPr>
        <p:spPr>
          <a:xfrm>
            <a:off x="1742294" y="2316601"/>
            <a:ext cx="170271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b="1" cap="none" spc="0" dirty="0">
                <a:ln w="0"/>
                <a:solidFill>
                  <a:schemeClr val="tx1"/>
                </a:solidFill>
              </a:rPr>
              <a:t>2.712 αντιδράσεις</a:t>
            </a:r>
            <a:endParaRPr lang="en-US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992A7D-EA6C-340B-2879-DFD442B9BEDD}"/>
              </a:ext>
            </a:extLst>
          </p:cNvPr>
          <p:cNvSpPr/>
          <p:nvPr/>
        </p:nvSpPr>
        <p:spPr>
          <a:xfrm>
            <a:off x="1742274" y="2910971"/>
            <a:ext cx="16930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b="1" cap="none" spc="0" dirty="0">
                <a:ln w="0"/>
                <a:solidFill>
                  <a:schemeClr val="tx1"/>
                </a:solidFill>
              </a:rPr>
              <a:t>1.877 μεταβολίτες</a:t>
            </a:r>
            <a:endParaRPr lang="en-US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D84BDF-D5E5-45D9-5FC8-0ABC46839F66}"/>
              </a:ext>
            </a:extLst>
          </p:cNvPr>
          <p:cNvSpPr/>
          <p:nvPr/>
        </p:nvSpPr>
        <p:spPr>
          <a:xfrm>
            <a:off x="1742274" y="3479648"/>
            <a:ext cx="130837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b="1" cap="none" spc="0" dirty="0">
                <a:ln w="0"/>
                <a:solidFill>
                  <a:schemeClr val="tx1"/>
                </a:solidFill>
              </a:rPr>
              <a:t>1.516 γονίδια</a:t>
            </a:r>
            <a:endParaRPr lang="en-US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Google Shape;1988;p47">
            <a:extLst>
              <a:ext uri="{FF2B5EF4-FFF2-40B4-BE49-F238E27FC236}">
                <a16:creationId xmlns:a16="http://schemas.microsoft.com/office/drawing/2014/main" id="{728FC388-7749-64C6-5166-38C5585BBA64}"/>
              </a:ext>
            </a:extLst>
          </p:cNvPr>
          <p:cNvSpPr txBox="1"/>
          <p:nvPr/>
        </p:nvSpPr>
        <p:spPr>
          <a:xfrm>
            <a:off x="931109" y="3869263"/>
            <a:ext cx="3315423" cy="473997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b="1" dirty="0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Ανάλυση διαφορετικών συνθηκών θρεπτικού μέσου</a:t>
            </a:r>
            <a:endParaRPr b="1" dirty="0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40" name="Google Shape;1988;p47">
            <a:extLst>
              <a:ext uri="{FF2B5EF4-FFF2-40B4-BE49-F238E27FC236}">
                <a16:creationId xmlns:a16="http://schemas.microsoft.com/office/drawing/2014/main" id="{36C32E2B-1988-35CE-8530-AF7C2F1313FD}"/>
              </a:ext>
            </a:extLst>
          </p:cNvPr>
          <p:cNvSpPr txBox="1"/>
          <p:nvPr/>
        </p:nvSpPr>
        <p:spPr>
          <a:xfrm>
            <a:off x="5283552" y="1160358"/>
            <a:ext cx="3315423" cy="86992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iJO1366</a:t>
            </a:r>
            <a:endParaRPr lang="el-GR" sz="2000" dirty="0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tx1"/>
                </a:solidFill>
                <a:latin typeface="+mn-lt"/>
                <a:ea typeface="Archivo ExtraBold"/>
                <a:cs typeface="Archivo ExtraBold"/>
                <a:sym typeface="Archivo ExtraBold"/>
              </a:rPr>
              <a:t>Μοντέλο σύγκρισης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dk1"/>
                </a:solidFill>
                <a:latin typeface="+mn-lt"/>
                <a:ea typeface="Archivo ExtraBold"/>
                <a:cs typeface="Archivo ExtraBold"/>
                <a:sym typeface="Archivo ExtraBold"/>
              </a:rPr>
              <a:t>Escherichia coli</a:t>
            </a:r>
            <a:endParaRPr sz="1800" i="1" dirty="0">
              <a:solidFill>
                <a:schemeClr val="dk1"/>
              </a:solidFill>
              <a:latin typeface="+mn-lt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42" name="Google Shape;1988;p47">
            <a:extLst>
              <a:ext uri="{FF2B5EF4-FFF2-40B4-BE49-F238E27FC236}">
                <a16:creationId xmlns:a16="http://schemas.microsoft.com/office/drawing/2014/main" id="{6FCFE22D-87A6-FC6B-CAD2-EC009E9DF29C}"/>
              </a:ext>
            </a:extLst>
          </p:cNvPr>
          <p:cNvSpPr txBox="1"/>
          <p:nvPr/>
        </p:nvSpPr>
        <p:spPr>
          <a:xfrm>
            <a:off x="5283551" y="2030277"/>
            <a:ext cx="3315423" cy="1829341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44" name="Google Shape;1988;p47">
            <a:extLst>
              <a:ext uri="{FF2B5EF4-FFF2-40B4-BE49-F238E27FC236}">
                <a16:creationId xmlns:a16="http://schemas.microsoft.com/office/drawing/2014/main" id="{2B216C26-767F-3F01-90E5-7B2B4E8651BC}"/>
              </a:ext>
            </a:extLst>
          </p:cNvPr>
          <p:cNvSpPr txBox="1"/>
          <p:nvPr/>
        </p:nvSpPr>
        <p:spPr>
          <a:xfrm>
            <a:off x="5283550" y="3869263"/>
            <a:ext cx="3315423" cy="473997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b="1" dirty="0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Εφαρμογή των ίδιων συνθηκών για σύγκριση</a:t>
            </a:r>
            <a:endParaRPr b="1" dirty="0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grpSp>
        <p:nvGrpSpPr>
          <p:cNvPr id="45" name="Google Shape;11826;p78">
            <a:extLst>
              <a:ext uri="{FF2B5EF4-FFF2-40B4-BE49-F238E27FC236}">
                <a16:creationId xmlns:a16="http://schemas.microsoft.com/office/drawing/2014/main" id="{7416B2FE-7D28-7B0A-F8E0-0AC69A7C6EFD}"/>
              </a:ext>
            </a:extLst>
          </p:cNvPr>
          <p:cNvGrpSpPr/>
          <p:nvPr/>
        </p:nvGrpSpPr>
        <p:grpSpPr>
          <a:xfrm>
            <a:off x="5596138" y="2281484"/>
            <a:ext cx="352840" cy="354717"/>
            <a:chOff x="3095745" y="3805393"/>
            <a:chExt cx="352840" cy="354717"/>
          </a:xfrm>
        </p:grpSpPr>
        <p:sp>
          <p:nvSpPr>
            <p:cNvPr id="46" name="Google Shape;11827;p78">
              <a:extLst>
                <a:ext uri="{FF2B5EF4-FFF2-40B4-BE49-F238E27FC236}">
                  <a16:creationId xmlns:a16="http://schemas.microsoft.com/office/drawing/2014/main" id="{DF205EFA-9B54-7225-5FAE-6C6C9FC59DF8}"/>
                </a:ext>
              </a:extLst>
            </p:cNvPr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828;p78">
              <a:extLst>
                <a:ext uri="{FF2B5EF4-FFF2-40B4-BE49-F238E27FC236}">
                  <a16:creationId xmlns:a16="http://schemas.microsoft.com/office/drawing/2014/main" id="{8F8D3386-7150-EED4-F9C2-756721298727}"/>
                </a:ext>
              </a:extLst>
            </p:cNvPr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829;p78">
              <a:extLst>
                <a:ext uri="{FF2B5EF4-FFF2-40B4-BE49-F238E27FC236}">
                  <a16:creationId xmlns:a16="http://schemas.microsoft.com/office/drawing/2014/main" id="{E16A47FD-D394-757F-8BE7-44E1A7DC68F3}"/>
                </a:ext>
              </a:extLst>
            </p:cNvPr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830;p78">
              <a:extLst>
                <a:ext uri="{FF2B5EF4-FFF2-40B4-BE49-F238E27FC236}">
                  <a16:creationId xmlns:a16="http://schemas.microsoft.com/office/drawing/2014/main" id="{E0F706A6-CA2A-2447-244C-BDB6B3979265}"/>
                </a:ext>
              </a:extLst>
            </p:cNvPr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831;p78">
              <a:extLst>
                <a:ext uri="{FF2B5EF4-FFF2-40B4-BE49-F238E27FC236}">
                  <a16:creationId xmlns:a16="http://schemas.microsoft.com/office/drawing/2014/main" id="{69C83180-191E-C1CF-12FE-D69CEBB9081E}"/>
                </a:ext>
              </a:extLst>
            </p:cNvPr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832;p78">
              <a:extLst>
                <a:ext uri="{FF2B5EF4-FFF2-40B4-BE49-F238E27FC236}">
                  <a16:creationId xmlns:a16="http://schemas.microsoft.com/office/drawing/2014/main" id="{8FBA6D01-748D-0F55-F298-D4AEE0759D98}"/>
                </a:ext>
              </a:extLst>
            </p:cNvPr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2491;p63">
            <a:extLst>
              <a:ext uri="{FF2B5EF4-FFF2-40B4-BE49-F238E27FC236}">
                <a16:creationId xmlns:a16="http://schemas.microsoft.com/office/drawing/2014/main" id="{0DCED3A6-AE45-F875-D2A6-2091E077B257}"/>
              </a:ext>
            </a:extLst>
          </p:cNvPr>
          <p:cNvGrpSpPr/>
          <p:nvPr/>
        </p:nvGrpSpPr>
        <p:grpSpPr>
          <a:xfrm rot="19224247">
            <a:off x="5607801" y="2825910"/>
            <a:ext cx="373880" cy="372516"/>
            <a:chOff x="6467912" y="2113338"/>
            <a:chExt cx="318603" cy="317440"/>
          </a:xfrm>
        </p:grpSpPr>
        <p:sp>
          <p:nvSpPr>
            <p:cNvPr id="53" name="Google Shape;2492;p63">
              <a:extLst>
                <a:ext uri="{FF2B5EF4-FFF2-40B4-BE49-F238E27FC236}">
                  <a16:creationId xmlns:a16="http://schemas.microsoft.com/office/drawing/2014/main" id="{93DD3A11-9E1C-DE83-C7B6-F6A635B0DD45}"/>
                </a:ext>
              </a:extLst>
            </p:cNvPr>
            <p:cNvSpPr/>
            <p:nvPr/>
          </p:nvSpPr>
          <p:spPr>
            <a:xfrm>
              <a:off x="6467912" y="2113338"/>
              <a:ext cx="318603" cy="317440"/>
            </a:xfrm>
            <a:custGeom>
              <a:avLst/>
              <a:gdLst/>
              <a:ahLst/>
              <a:cxnLst/>
              <a:rect l="l" t="t" r="r" b="b"/>
              <a:pathLst>
                <a:path w="20555" h="20480" extrusionOk="0">
                  <a:moveTo>
                    <a:pt x="16961" y="644"/>
                  </a:moveTo>
                  <a:cubicBezTo>
                    <a:pt x="18542" y="644"/>
                    <a:pt x="19910" y="1938"/>
                    <a:pt x="19910" y="3593"/>
                  </a:cubicBezTo>
                  <a:cubicBezTo>
                    <a:pt x="19910" y="5174"/>
                    <a:pt x="18542" y="6537"/>
                    <a:pt x="16961" y="6537"/>
                  </a:cubicBezTo>
                  <a:cubicBezTo>
                    <a:pt x="15311" y="6537"/>
                    <a:pt x="14017" y="5174"/>
                    <a:pt x="14017" y="3593"/>
                  </a:cubicBezTo>
                  <a:cubicBezTo>
                    <a:pt x="14017" y="1938"/>
                    <a:pt x="15311" y="644"/>
                    <a:pt x="16961" y="644"/>
                  </a:cubicBezTo>
                  <a:close/>
                  <a:moveTo>
                    <a:pt x="5681" y="6537"/>
                  </a:moveTo>
                  <a:lnTo>
                    <a:pt x="7980" y="10562"/>
                  </a:lnTo>
                  <a:cubicBezTo>
                    <a:pt x="7762" y="10636"/>
                    <a:pt x="7618" y="10705"/>
                    <a:pt x="7405" y="10849"/>
                  </a:cubicBezTo>
                  <a:lnTo>
                    <a:pt x="5106" y="6825"/>
                  </a:lnTo>
                  <a:cubicBezTo>
                    <a:pt x="5318" y="6756"/>
                    <a:pt x="5537" y="6612"/>
                    <a:pt x="5681" y="6537"/>
                  </a:cubicBezTo>
                  <a:close/>
                  <a:moveTo>
                    <a:pt x="14880" y="6537"/>
                  </a:moveTo>
                  <a:cubicBezTo>
                    <a:pt x="15092" y="6612"/>
                    <a:pt x="15236" y="6756"/>
                    <a:pt x="15455" y="6825"/>
                  </a:cubicBezTo>
                  <a:lnTo>
                    <a:pt x="13155" y="10849"/>
                  </a:lnTo>
                  <a:cubicBezTo>
                    <a:pt x="13011" y="10705"/>
                    <a:pt x="12793" y="10636"/>
                    <a:pt x="12580" y="10562"/>
                  </a:cubicBezTo>
                  <a:lnTo>
                    <a:pt x="14880" y="6537"/>
                  </a:lnTo>
                  <a:close/>
                  <a:moveTo>
                    <a:pt x="3668" y="0"/>
                  </a:moveTo>
                  <a:cubicBezTo>
                    <a:pt x="1656" y="0"/>
                    <a:pt x="0" y="1581"/>
                    <a:pt x="0" y="3593"/>
                  </a:cubicBezTo>
                  <a:cubicBezTo>
                    <a:pt x="0" y="5531"/>
                    <a:pt x="1656" y="7187"/>
                    <a:pt x="3668" y="7187"/>
                  </a:cubicBezTo>
                  <a:cubicBezTo>
                    <a:pt x="3956" y="7187"/>
                    <a:pt x="4243" y="7112"/>
                    <a:pt x="4531" y="7043"/>
                  </a:cubicBezTo>
                  <a:lnTo>
                    <a:pt x="6899" y="11280"/>
                  </a:lnTo>
                  <a:cubicBezTo>
                    <a:pt x="5750" y="12217"/>
                    <a:pt x="5031" y="13655"/>
                    <a:pt x="5031" y="15236"/>
                  </a:cubicBezTo>
                  <a:cubicBezTo>
                    <a:pt x="5031" y="18111"/>
                    <a:pt x="7405" y="20479"/>
                    <a:pt x="10280" y="20479"/>
                  </a:cubicBezTo>
                  <a:cubicBezTo>
                    <a:pt x="11430" y="20479"/>
                    <a:pt x="12580" y="20123"/>
                    <a:pt x="13442" y="19404"/>
                  </a:cubicBezTo>
                  <a:cubicBezTo>
                    <a:pt x="13586" y="19260"/>
                    <a:pt x="13655" y="19117"/>
                    <a:pt x="13511" y="18973"/>
                  </a:cubicBezTo>
                  <a:cubicBezTo>
                    <a:pt x="13468" y="18884"/>
                    <a:pt x="13368" y="18821"/>
                    <a:pt x="13263" y="18821"/>
                  </a:cubicBezTo>
                  <a:cubicBezTo>
                    <a:pt x="13199" y="18821"/>
                    <a:pt x="13134" y="18844"/>
                    <a:pt x="13080" y="18898"/>
                  </a:cubicBezTo>
                  <a:cubicBezTo>
                    <a:pt x="12292" y="19473"/>
                    <a:pt x="11286" y="19835"/>
                    <a:pt x="10280" y="19835"/>
                  </a:cubicBezTo>
                  <a:cubicBezTo>
                    <a:pt x="7762" y="19835"/>
                    <a:pt x="5681" y="17748"/>
                    <a:pt x="5681" y="15236"/>
                  </a:cubicBezTo>
                  <a:cubicBezTo>
                    <a:pt x="5681" y="12718"/>
                    <a:pt x="7762" y="10636"/>
                    <a:pt x="10280" y="10636"/>
                  </a:cubicBezTo>
                  <a:cubicBezTo>
                    <a:pt x="12793" y="10636"/>
                    <a:pt x="14880" y="12718"/>
                    <a:pt x="14880" y="15236"/>
                  </a:cubicBezTo>
                  <a:cubicBezTo>
                    <a:pt x="14880" y="16242"/>
                    <a:pt x="14517" y="17173"/>
                    <a:pt x="13942" y="18036"/>
                  </a:cubicBezTo>
                  <a:cubicBezTo>
                    <a:pt x="13799" y="18180"/>
                    <a:pt x="13873" y="18323"/>
                    <a:pt x="14017" y="18467"/>
                  </a:cubicBezTo>
                  <a:cubicBezTo>
                    <a:pt x="14073" y="18523"/>
                    <a:pt x="14139" y="18546"/>
                    <a:pt x="14203" y="18546"/>
                  </a:cubicBezTo>
                  <a:cubicBezTo>
                    <a:pt x="14305" y="18546"/>
                    <a:pt x="14403" y="18486"/>
                    <a:pt x="14448" y="18398"/>
                  </a:cubicBezTo>
                  <a:cubicBezTo>
                    <a:pt x="15167" y="17461"/>
                    <a:pt x="15524" y="16386"/>
                    <a:pt x="15524" y="15236"/>
                  </a:cubicBezTo>
                  <a:cubicBezTo>
                    <a:pt x="15524" y="13655"/>
                    <a:pt x="14805" y="12217"/>
                    <a:pt x="13655" y="11280"/>
                  </a:cubicBezTo>
                  <a:lnTo>
                    <a:pt x="16098" y="7043"/>
                  </a:lnTo>
                  <a:cubicBezTo>
                    <a:pt x="16386" y="7112"/>
                    <a:pt x="16673" y="7187"/>
                    <a:pt x="16961" y="7187"/>
                  </a:cubicBezTo>
                  <a:cubicBezTo>
                    <a:pt x="18904" y="7187"/>
                    <a:pt x="20554" y="5531"/>
                    <a:pt x="20554" y="3593"/>
                  </a:cubicBezTo>
                  <a:cubicBezTo>
                    <a:pt x="20554" y="1581"/>
                    <a:pt x="18904" y="0"/>
                    <a:pt x="16961" y="0"/>
                  </a:cubicBezTo>
                  <a:cubicBezTo>
                    <a:pt x="14949" y="0"/>
                    <a:pt x="13368" y="1581"/>
                    <a:pt x="13368" y="3593"/>
                  </a:cubicBezTo>
                  <a:cubicBezTo>
                    <a:pt x="13368" y="4525"/>
                    <a:pt x="13730" y="5462"/>
                    <a:pt x="14374" y="6106"/>
                  </a:cubicBezTo>
                  <a:lnTo>
                    <a:pt x="12005" y="10274"/>
                  </a:lnTo>
                  <a:cubicBezTo>
                    <a:pt x="11430" y="10130"/>
                    <a:pt x="10855" y="9987"/>
                    <a:pt x="10280" y="9987"/>
                  </a:cubicBezTo>
                  <a:cubicBezTo>
                    <a:pt x="9705" y="9987"/>
                    <a:pt x="9130" y="10130"/>
                    <a:pt x="8624" y="10274"/>
                  </a:cubicBezTo>
                  <a:lnTo>
                    <a:pt x="6181" y="6106"/>
                  </a:lnTo>
                  <a:cubicBezTo>
                    <a:pt x="6830" y="5462"/>
                    <a:pt x="7262" y="4525"/>
                    <a:pt x="7262" y="3593"/>
                  </a:cubicBezTo>
                  <a:cubicBezTo>
                    <a:pt x="7262" y="2875"/>
                    <a:pt x="7043" y="2156"/>
                    <a:pt x="6612" y="1581"/>
                  </a:cubicBezTo>
                  <a:cubicBezTo>
                    <a:pt x="6569" y="1492"/>
                    <a:pt x="6468" y="1429"/>
                    <a:pt x="6364" y="1429"/>
                  </a:cubicBezTo>
                  <a:cubicBezTo>
                    <a:pt x="6300" y="1429"/>
                    <a:pt x="6235" y="1452"/>
                    <a:pt x="6181" y="1506"/>
                  </a:cubicBezTo>
                  <a:cubicBezTo>
                    <a:pt x="6037" y="1581"/>
                    <a:pt x="5968" y="1794"/>
                    <a:pt x="6112" y="1938"/>
                  </a:cubicBezTo>
                  <a:cubicBezTo>
                    <a:pt x="6399" y="2444"/>
                    <a:pt x="6612" y="3018"/>
                    <a:pt x="6612" y="3593"/>
                  </a:cubicBezTo>
                  <a:cubicBezTo>
                    <a:pt x="6612" y="5174"/>
                    <a:pt x="5249" y="6537"/>
                    <a:pt x="3668" y="6537"/>
                  </a:cubicBezTo>
                  <a:cubicBezTo>
                    <a:pt x="2013" y="6537"/>
                    <a:pt x="719" y="5174"/>
                    <a:pt x="719" y="3593"/>
                  </a:cubicBezTo>
                  <a:cubicBezTo>
                    <a:pt x="719" y="1938"/>
                    <a:pt x="2013" y="644"/>
                    <a:pt x="3668" y="644"/>
                  </a:cubicBezTo>
                  <a:cubicBezTo>
                    <a:pt x="4243" y="644"/>
                    <a:pt x="4743" y="788"/>
                    <a:pt x="5249" y="1075"/>
                  </a:cubicBezTo>
                  <a:cubicBezTo>
                    <a:pt x="5305" y="1131"/>
                    <a:pt x="5371" y="1154"/>
                    <a:pt x="5435" y="1154"/>
                  </a:cubicBezTo>
                  <a:cubicBezTo>
                    <a:pt x="5537" y="1154"/>
                    <a:pt x="5635" y="1094"/>
                    <a:pt x="5681" y="1006"/>
                  </a:cubicBezTo>
                  <a:cubicBezTo>
                    <a:pt x="5824" y="862"/>
                    <a:pt x="5750" y="644"/>
                    <a:pt x="5606" y="575"/>
                  </a:cubicBezTo>
                  <a:cubicBezTo>
                    <a:pt x="5031" y="144"/>
                    <a:pt x="4312" y="0"/>
                    <a:pt x="3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93;p63">
              <a:extLst>
                <a:ext uri="{FF2B5EF4-FFF2-40B4-BE49-F238E27FC236}">
                  <a16:creationId xmlns:a16="http://schemas.microsoft.com/office/drawing/2014/main" id="{44B5F19A-1495-2545-1A0A-B050C518C9F4}"/>
                </a:ext>
              </a:extLst>
            </p:cNvPr>
            <p:cNvSpPr/>
            <p:nvPr/>
          </p:nvSpPr>
          <p:spPr>
            <a:xfrm>
              <a:off x="6601584" y="2385131"/>
              <a:ext cx="10075" cy="9997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363" y="1"/>
                  </a:moveTo>
                  <a:cubicBezTo>
                    <a:pt x="144" y="1"/>
                    <a:pt x="0" y="144"/>
                    <a:pt x="0" y="357"/>
                  </a:cubicBezTo>
                  <a:cubicBezTo>
                    <a:pt x="0" y="501"/>
                    <a:pt x="144" y="645"/>
                    <a:pt x="363" y="645"/>
                  </a:cubicBezTo>
                  <a:cubicBezTo>
                    <a:pt x="506" y="645"/>
                    <a:pt x="650" y="501"/>
                    <a:pt x="650" y="357"/>
                  </a:cubicBezTo>
                  <a:cubicBezTo>
                    <a:pt x="650" y="144"/>
                    <a:pt x="506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94;p63">
              <a:extLst>
                <a:ext uri="{FF2B5EF4-FFF2-40B4-BE49-F238E27FC236}">
                  <a16:creationId xmlns:a16="http://schemas.microsoft.com/office/drawing/2014/main" id="{F050E0F7-4BD1-DE08-B59B-3A25FF8B8C18}"/>
                </a:ext>
              </a:extLst>
            </p:cNvPr>
            <p:cNvSpPr/>
            <p:nvPr/>
          </p:nvSpPr>
          <p:spPr>
            <a:xfrm>
              <a:off x="6581527" y="2365089"/>
              <a:ext cx="10090" cy="9982"/>
            </a:xfrm>
            <a:custGeom>
              <a:avLst/>
              <a:gdLst/>
              <a:ahLst/>
              <a:cxnLst/>
              <a:rect l="l" t="t" r="r" b="b"/>
              <a:pathLst>
                <a:path w="651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287"/>
                  </a:cubicBezTo>
                  <a:cubicBezTo>
                    <a:pt x="1" y="500"/>
                    <a:pt x="144" y="644"/>
                    <a:pt x="288" y="644"/>
                  </a:cubicBezTo>
                  <a:cubicBezTo>
                    <a:pt x="507" y="644"/>
                    <a:pt x="650" y="500"/>
                    <a:pt x="650" y="287"/>
                  </a:cubicBezTo>
                  <a:cubicBezTo>
                    <a:pt x="650" y="144"/>
                    <a:pt x="507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495EC0E0-AAC6-C153-7BAB-B6041B0DED4D}"/>
              </a:ext>
            </a:extLst>
          </p:cNvPr>
          <p:cNvSpPr/>
          <p:nvPr/>
        </p:nvSpPr>
        <p:spPr>
          <a:xfrm>
            <a:off x="6089906" y="2311472"/>
            <a:ext cx="170271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b="1" cap="none" spc="0" dirty="0">
                <a:ln w="0"/>
                <a:solidFill>
                  <a:schemeClr val="tx1"/>
                </a:solidFill>
              </a:rPr>
              <a:t>2.583 αντιδράσεις</a:t>
            </a:r>
            <a:endParaRPr lang="en-US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920" name="Rectangle 1919">
            <a:extLst>
              <a:ext uri="{FF2B5EF4-FFF2-40B4-BE49-F238E27FC236}">
                <a16:creationId xmlns:a16="http://schemas.microsoft.com/office/drawing/2014/main" id="{ADAF0A69-EE8E-498A-3B00-5F2AC26FC330}"/>
              </a:ext>
            </a:extLst>
          </p:cNvPr>
          <p:cNvSpPr/>
          <p:nvPr/>
        </p:nvSpPr>
        <p:spPr>
          <a:xfrm>
            <a:off x="6094715" y="2858279"/>
            <a:ext cx="169309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b="1" cap="none" spc="0" dirty="0">
                <a:ln w="0"/>
                <a:solidFill>
                  <a:schemeClr val="tx1"/>
                </a:solidFill>
              </a:rPr>
              <a:t>1.805 μεταβολίτες</a:t>
            </a:r>
            <a:endParaRPr lang="en-US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922" name="Rectangle 1921">
            <a:extLst>
              <a:ext uri="{FF2B5EF4-FFF2-40B4-BE49-F238E27FC236}">
                <a16:creationId xmlns:a16="http://schemas.microsoft.com/office/drawing/2014/main" id="{2C7C3032-FCE3-3E8F-1A0F-FE82F742C781}"/>
              </a:ext>
            </a:extLst>
          </p:cNvPr>
          <p:cNvSpPr/>
          <p:nvPr/>
        </p:nvSpPr>
        <p:spPr>
          <a:xfrm>
            <a:off x="6093355" y="3440876"/>
            <a:ext cx="130837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b="1" cap="none" spc="0" dirty="0">
                <a:ln w="0"/>
                <a:solidFill>
                  <a:schemeClr val="tx1"/>
                </a:solidFill>
              </a:rPr>
              <a:t>1.367 γονίδια</a:t>
            </a:r>
            <a:endParaRPr lang="en-US" b="1" cap="none" spc="0" dirty="0">
              <a:ln w="0"/>
              <a:solidFill>
                <a:schemeClr val="tx1"/>
              </a:solidFill>
            </a:endParaRPr>
          </a:p>
        </p:txBody>
      </p:sp>
      <p:grpSp>
        <p:nvGrpSpPr>
          <p:cNvPr id="1923" name="Google Shape;2430;p63">
            <a:extLst>
              <a:ext uri="{FF2B5EF4-FFF2-40B4-BE49-F238E27FC236}">
                <a16:creationId xmlns:a16="http://schemas.microsoft.com/office/drawing/2014/main" id="{A0D102FF-A9EB-D5A0-FBC9-9A714C37C974}"/>
              </a:ext>
            </a:extLst>
          </p:cNvPr>
          <p:cNvGrpSpPr/>
          <p:nvPr/>
        </p:nvGrpSpPr>
        <p:grpSpPr>
          <a:xfrm>
            <a:off x="1292825" y="3388137"/>
            <a:ext cx="270565" cy="372516"/>
            <a:chOff x="4844938" y="3588194"/>
            <a:chExt cx="230563" cy="317440"/>
          </a:xfrm>
        </p:grpSpPr>
        <p:sp>
          <p:nvSpPr>
            <p:cNvPr id="1924" name="Google Shape;2431;p63">
              <a:extLst>
                <a:ext uri="{FF2B5EF4-FFF2-40B4-BE49-F238E27FC236}">
                  <a16:creationId xmlns:a16="http://schemas.microsoft.com/office/drawing/2014/main" id="{A4FF6D41-CC34-450E-39AA-888C1ED1A3B4}"/>
                </a:ext>
              </a:extLst>
            </p:cNvPr>
            <p:cNvSpPr/>
            <p:nvPr/>
          </p:nvSpPr>
          <p:spPr>
            <a:xfrm>
              <a:off x="4844938" y="3588194"/>
              <a:ext cx="230563" cy="317440"/>
            </a:xfrm>
            <a:custGeom>
              <a:avLst/>
              <a:gdLst/>
              <a:ahLst/>
              <a:cxnLst/>
              <a:rect l="l" t="t" r="r" b="b"/>
              <a:pathLst>
                <a:path w="14875" h="20480" extrusionOk="0">
                  <a:moveTo>
                    <a:pt x="6394" y="10637"/>
                  </a:moveTo>
                  <a:cubicBezTo>
                    <a:pt x="6538" y="10780"/>
                    <a:pt x="6681" y="10924"/>
                    <a:pt x="6825" y="10993"/>
                  </a:cubicBezTo>
                  <a:cubicBezTo>
                    <a:pt x="6900" y="10993"/>
                    <a:pt x="6900" y="11068"/>
                    <a:pt x="6900" y="11068"/>
                  </a:cubicBezTo>
                  <a:cubicBezTo>
                    <a:pt x="5963" y="11786"/>
                    <a:pt x="5031" y="12574"/>
                    <a:pt x="4238" y="13436"/>
                  </a:cubicBezTo>
                  <a:lnTo>
                    <a:pt x="4169" y="13436"/>
                  </a:lnTo>
                  <a:cubicBezTo>
                    <a:pt x="3807" y="13799"/>
                    <a:pt x="3450" y="14230"/>
                    <a:pt x="3163" y="14586"/>
                  </a:cubicBezTo>
                  <a:cubicBezTo>
                    <a:pt x="2800" y="15092"/>
                    <a:pt x="2513" y="15592"/>
                    <a:pt x="2225" y="16098"/>
                  </a:cubicBezTo>
                  <a:lnTo>
                    <a:pt x="2225" y="16167"/>
                  </a:lnTo>
                  <a:cubicBezTo>
                    <a:pt x="1794" y="16961"/>
                    <a:pt x="1582" y="17823"/>
                    <a:pt x="1438" y="18755"/>
                  </a:cubicBezTo>
                  <a:lnTo>
                    <a:pt x="1438" y="18829"/>
                  </a:lnTo>
                  <a:cubicBezTo>
                    <a:pt x="1363" y="19117"/>
                    <a:pt x="1363" y="19473"/>
                    <a:pt x="1363" y="19836"/>
                  </a:cubicBezTo>
                  <a:lnTo>
                    <a:pt x="719" y="19836"/>
                  </a:lnTo>
                  <a:cubicBezTo>
                    <a:pt x="719" y="17680"/>
                    <a:pt x="1438" y="15811"/>
                    <a:pt x="2731" y="14086"/>
                  </a:cubicBezTo>
                  <a:cubicBezTo>
                    <a:pt x="3807" y="12718"/>
                    <a:pt x="5175" y="11568"/>
                    <a:pt x="6394" y="10637"/>
                  </a:cubicBezTo>
                  <a:close/>
                  <a:moveTo>
                    <a:pt x="1363" y="644"/>
                  </a:moveTo>
                  <a:cubicBezTo>
                    <a:pt x="1438" y="2656"/>
                    <a:pt x="2082" y="4456"/>
                    <a:pt x="3306" y="6037"/>
                  </a:cubicBezTo>
                  <a:cubicBezTo>
                    <a:pt x="4456" y="7543"/>
                    <a:pt x="6037" y="8693"/>
                    <a:pt x="7618" y="9987"/>
                  </a:cubicBezTo>
                  <a:cubicBezTo>
                    <a:pt x="9268" y="11211"/>
                    <a:pt x="10924" y="12505"/>
                    <a:pt x="12143" y="14086"/>
                  </a:cubicBezTo>
                  <a:cubicBezTo>
                    <a:pt x="13437" y="15811"/>
                    <a:pt x="14155" y="17680"/>
                    <a:pt x="14230" y="19836"/>
                  </a:cubicBezTo>
                  <a:lnTo>
                    <a:pt x="13512" y="19836"/>
                  </a:lnTo>
                  <a:cubicBezTo>
                    <a:pt x="13512" y="17823"/>
                    <a:pt x="12862" y="16024"/>
                    <a:pt x="11568" y="14443"/>
                  </a:cubicBezTo>
                  <a:cubicBezTo>
                    <a:pt x="10418" y="12936"/>
                    <a:pt x="8837" y="11712"/>
                    <a:pt x="7256" y="10493"/>
                  </a:cubicBezTo>
                  <a:cubicBezTo>
                    <a:pt x="5675" y="9268"/>
                    <a:pt x="4025" y="7975"/>
                    <a:pt x="2731" y="6393"/>
                  </a:cubicBezTo>
                  <a:cubicBezTo>
                    <a:pt x="1438" y="4669"/>
                    <a:pt x="719" y="2800"/>
                    <a:pt x="719" y="644"/>
                  </a:cubicBezTo>
                  <a:close/>
                  <a:moveTo>
                    <a:pt x="357" y="0"/>
                  </a:moveTo>
                  <a:cubicBezTo>
                    <a:pt x="144" y="0"/>
                    <a:pt x="0" y="144"/>
                    <a:pt x="0" y="288"/>
                  </a:cubicBezTo>
                  <a:cubicBezTo>
                    <a:pt x="0" y="2731"/>
                    <a:pt x="788" y="4887"/>
                    <a:pt x="2225" y="6825"/>
                  </a:cubicBezTo>
                  <a:cubicBezTo>
                    <a:pt x="3232" y="8118"/>
                    <a:pt x="4525" y="9199"/>
                    <a:pt x="5819" y="10205"/>
                  </a:cubicBezTo>
                  <a:cubicBezTo>
                    <a:pt x="4600" y="11211"/>
                    <a:pt x="3306" y="12287"/>
                    <a:pt x="2225" y="13655"/>
                  </a:cubicBezTo>
                  <a:cubicBezTo>
                    <a:pt x="788" y="15592"/>
                    <a:pt x="0" y="17680"/>
                    <a:pt x="0" y="20123"/>
                  </a:cubicBezTo>
                  <a:cubicBezTo>
                    <a:pt x="0" y="20336"/>
                    <a:pt x="144" y="20479"/>
                    <a:pt x="357" y="20479"/>
                  </a:cubicBezTo>
                  <a:lnTo>
                    <a:pt x="1651" y="20479"/>
                  </a:lnTo>
                  <a:cubicBezTo>
                    <a:pt x="1869" y="20479"/>
                    <a:pt x="2013" y="20336"/>
                    <a:pt x="2013" y="20123"/>
                  </a:cubicBezTo>
                  <a:lnTo>
                    <a:pt x="2013" y="19186"/>
                  </a:lnTo>
                  <a:lnTo>
                    <a:pt x="4382" y="19186"/>
                  </a:lnTo>
                  <a:cubicBezTo>
                    <a:pt x="4525" y="19186"/>
                    <a:pt x="4669" y="19042"/>
                    <a:pt x="4669" y="18829"/>
                  </a:cubicBezTo>
                  <a:cubicBezTo>
                    <a:pt x="4669" y="18686"/>
                    <a:pt x="4525" y="18542"/>
                    <a:pt x="4382" y="18542"/>
                  </a:cubicBezTo>
                  <a:lnTo>
                    <a:pt x="2157" y="18542"/>
                  </a:lnTo>
                  <a:cubicBezTo>
                    <a:pt x="2225" y="17823"/>
                    <a:pt x="2444" y="17174"/>
                    <a:pt x="2731" y="16599"/>
                  </a:cubicBezTo>
                  <a:lnTo>
                    <a:pt x="10850" y="16599"/>
                  </a:lnTo>
                  <a:cubicBezTo>
                    <a:pt x="10993" y="16599"/>
                    <a:pt x="11212" y="16455"/>
                    <a:pt x="11212" y="16242"/>
                  </a:cubicBezTo>
                  <a:cubicBezTo>
                    <a:pt x="11212" y="16098"/>
                    <a:pt x="10993" y="15955"/>
                    <a:pt x="10850" y="15955"/>
                  </a:cubicBezTo>
                  <a:lnTo>
                    <a:pt x="3088" y="15955"/>
                  </a:lnTo>
                  <a:cubicBezTo>
                    <a:pt x="3519" y="15236"/>
                    <a:pt x="4025" y="14586"/>
                    <a:pt x="4600" y="14011"/>
                  </a:cubicBezTo>
                  <a:lnTo>
                    <a:pt x="8550" y="14011"/>
                  </a:lnTo>
                  <a:cubicBezTo>
                    <a:pt x="8768" y="14011"/>
                    <a:pt x="8912" y="13868"/>
                    <a:pt x="8912" y="13655"/>
                  </a:cubicBezTo>
                  <a:cubicBezTo>
                    <a:pt x="8912" y="13511"/>
                    <a:pt x="8768" y="13293"/>
                    <a:pt x="8550" y="13293"/>
                  </a:cubicBezTo>
                  <a:lnTo>
                    <a:pt x="5244" y="13293"/>
                  </a:lnTo>
                  <a:cubicBezTo>
                    <a:pt x="5894" y="12718"/>
                    <a:pt x="6681" y="12074"/>
                    <a:pt x="7475" y="11499"/>
                  </a:cubicBezTo>
                  <a:cubicBezTo>
                    <a:pt x="10349" y="13724"/>
                    <a:pt x="12862" y="15955"/>
                    <a:pt x="12862" y="20123"/>
                  </a:cubicBezTo>
                  <a:cubicBezTo>
                    <a:pt x="12862" y="20336"/>
                    <a:pt x="13006" y="20479"/>
                    <a:pt x="13224" y="20479"/>
                  </a:cubicBezTo>
                  <a:lnTo>
                    <a:pt x="14518" y="20479"/>
                  </a:lnTo>
                  <a:cubicBezTo>
                    <a:pt x="14730" y="20479"/>
                    <a:pt x="14874" y="20336"/>
                    <a:pt x="14874" y="20123"/>
                  </a:cubicBezTo>
                  <a:cubicBezTo>
                    <a:pt x="14874" y="17680"/>
                    <a:pt x="14155" y="15592"/>
                    <a:pt x="12649" y="13655"/>
                  </a:cubicBezTo>
                  <a:cubicBezTo>
                    <a:pt x="11356" y="11999"/>
                    <a:pt x="9700" y="10706"/>
                    <a:pt x="8050" y="9487"/>
                  </a:cubicBezTo>
                  <a:cubicBezTo>
                    <a:pt x="4956" y="7043"/>
                    <a:pt x="2013" y="4812"/>
                    <a:pt x="2013" y="288"/>
                  </a:cubicBezTo>
                  <a:cubicBezTo>
                    <a:pt x="2013" y="144"/>
                    <a:pt x="1869" y="0"/>
                    <a:pt x="1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2432;p63">
              <a:extLst>
                <a:ext uri="{FF2B5EF4-FFF2-40B4-BE49-F238E27FC236}">
                  <a16:creationId xmlns:a16="http://schemas.microsoft.com/office/drawing/2014/main" id="{62F4E650-65F0-59A9-5458-070C71512BED}"/>
                </a:ext>
              </a:extLst>
            </p:cNvPr>
            <p:cNvSpPr/>
            <p:nvPr/>
          </p:nvSpPr>
          <p:spPr>
            <a:xfrm>
              <a:off x="4902862" y="3648350"/>
              <a:ext cx="30054" cy="9982"/>
            </a:xfrm>
            <a:custGeom>
              <a:avLst/>
              <a:gdLst/>
              <a:ahLst/>
              <a:cxnLst/>
              <a:rect l="l" t="t" r="r" b="b"/>
              <a:pathLst>
                <a:path w="1939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356"/>
                  </a:cubicBezTo>
                  <a:cubicBezTo>
                    <a:pt x="1" y="500"/>
                    <a:pt x="144" y="644"/>
                    <a:pt x="288" y="644"/>
                  </a:cubicBezTo>
                  <a:lnTo>
                    <a:pt x="1582" y="644"/>
                  </a:lnTo>
                  <a:cubicBezTo>
                    <a:pt x="1794" y="644"/>
                    <a:pt x="1938" y="500"/>
                    <a:pt x="1938" y="356"/>
                  </a:cubicBezTo>
                  <a:cubicBezTo>
                    <a:pt x="1938" y="144"/>
                    <a:pt x="1794" y="0"/>
                    <a:pt x="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2433;p63">
              <a:extLst>
                <a:ext uri="{FF2B5EF4-FFF2-40B4-BE49-F238E27FC236}">
                  <a16:creationId xmlns:a16="http://schemas.microsoft.com/office/drawing/2014/main" id="{F59468C7-9AEE-3783-AA81-A2FD2B61E030}"/>
                </a:ext>
              </a:extLst>
            </p:cNvPr>
            <p:cNvSpPr/>
            <p:nvPr/>
          </p:nvSpPr>
          <p:spPr>
            <a:xfrm>
              <a:off x="4887269" y="3588194"/>
              <a:ext cx="188232" cy="150350"/>
            </a:xfrm>
            <a:custGeom>
              <a:avLst/>
              <a:gdLst/>
              <a:ahLst/>
              <a:cxnLst/>
              <a:rect l="l" t="t" r="r" b="b"/>
              <a:pathLst>
                <a:path w="12144" h="9700" extrusionOk="0">
                  <a:moveTo>
                    <a:pt x="10493" y="0"/>
                  </a:moveTo>
                  <a:cubicBezTo>
                    <a:pt x="10275" y="0"/>
                    <a:pt x="10131" y="144"/>
                    <a:pt x="10131" y="288"/>
                  </a:cubicBezTo>
                  <a:lnTo>
                    <a:pt x="10131" y="1294"/>
                  </a:lnTo>
                  <a:lnTo>
                    <a:pt x="357" y="1294"/>
                  </a:lnTo>
                  <a:cubicBezTo>
                    <a:pt x="144" y="1294"/>
                    <a:pt x="0" y="1438"/>
                    <a:pt x="0" y="1650"/>
                  </a:cubicBezTo>
                  <a:cubicBezTo>
                    <a:pt x="0" y="1794"/>
                    <a:pt x="144" y="1938"/>
                    <a:pt x="357" y="1938"/>
                  </a:cubicBezTo>
                  <a:lnTo>
                    <a:pt x="10062" y="1938"/>
                  </a:lnTo>
                  <a:cubicBezTo>
                    <a:pt x="9918" y="2656"/>
                    <a:pt x="9700" y="3306"/>
                    <a:pt x="9412" y="3881"/>
                  </a:cubicBezTo>
                  <a:lnTo>
                    <a:pt x="3950" y="3881"/>
                  </a:lnTo>
                  <a:cubicBezTo>
                    <a:pt x="3738" y="3881"/>
                    <a:pt x="3594" y="4025"/>
                    <a:pt x="3594" y="4237"/>
                  </a:cubicBezTo>
                  <a:cubicBezTo>
                    <a:pt x="3594" y="4381"/>
                    <a:pt x="3738" y="4525"/>
                    <a:pt x="3950" y="4525"/>
                  </a:cubicBezTo>
                  <a:lnTo>
                    <a:pt x="9056" y="4525"/>
                  </a:lnTo>
                  <a:cubicBezTo>
                    <a:pt x="8694" y="5244"/>
                    <a:pt x="8193" y="5893"/>
                    <a:pt x="7618" y="6468"/>
                  </a:cubicBezTo>
                  <a:lnTo>
                    <a:pt x="3594" y="6468"/>
                  </a:lnTo>
                  <a:cubicBezTo>
                    <a:pt x="3375" y="6468"/>
                    <a:pt x="3232" y="6612"/>
                    <a:pt x="3232" y="6825"/>
                  </a:cubicBezTo>
                  <a:cubicBezTo>
                    <a:pt x="3232" y="6968"/>
                    <a:pt x="3375" y="7112"/>
                    <a:pt x="3594" y="7112"/>
                  </a:cubicBezTo>
                  <a:lnTo>
                    <a:pt x="6900" y="7112"/>
                  </a:lnTo>
                  <a:cubicBezTo>
                    <a:pt x="6537" y="7543"/>
                    <a:pt x="6037" y="7906"/>
                    <a:pt x="5531" y="8337"/>
                  </a:cubicBezTo>
                  <a:cubicBezTo>
                    <a:pt x="5462" y="8406"/>
                    <a:pt x="5388" y="8624"/>
                    <a:pt x="5531" y="8768"/>
                  </a:cubicBezTo>
                  <a:cubicBezTo>
                    <a:pt x="5575" y="8851"/>
                    <a:pt x="5665" y="8886"/>
                    <a:pt x="5761" y="8886"/>
                  </a:cubicBezTo>
                  <a:cubicBezTo>
                    <a:pt x="5830" y="8886"/>
                    <a:pt x="5902" y="8868"/>
                    <a:pt x="5963" y="8837"/>
                  </a:cubicBezTo>
                  <a:cubicBezTo>
                    <a:pt x="7400" y="7618"/>
                    <a:pt x="8981" y="6250"/>
                    <a:pt x="9918" y="4381"/>
                  </a:cubicBezTo>
                  <a:lnTo>
                    <a:pt x="9918" y="4312"/>
                  </a:lnTo>
                  <a:cubicBezTo>
                    <a:pt x="10275" y="3519"/>
                    <a:pt x="10562" y="2656"/>
                    <a:pt x="10706" y="1650"/>
                  </a:cubicBezTo>
                  <a:cubicBezTo>
                    <a:pt x="10781" y="1294"/>
                    <a:pt x="10781" y="1006"/>
                    <a:pt x="10781" y="644"/>
                  </a:cubicBezTo>
                  <a:lnTo>
                    <a:pt x="11499" y="644"/>
                  </a:lnTo>
                  <a:cubicBezTo>
                    <a:pt x="11424" y="2800"/>
                    <a:pt x="10706" y="4669"/>
                    <a:pt x="9412" y="6393"/>
                  </a:cubicBezTo>
                  <a:cubicBezTo>
                    <a:pt x="8694" y="7256"/>
                    <a:pt x="7831" y="8118"/>
                    <a:pt x="6612" y="9124"/>
                  </a:cubicBezTo>
                  <a:cubicBezTo>
                    <a:pt x="6468" y="9268"/>
                    <a:pt x="6468" y="9487"/>
                    <a:pt x="6612" y="9630"/>
                  </a:cubicBezTo>
                  <a:cubicBezTo>
                    <a:pt x="6612" y="9699"/>
                    <a:pt x="6756" y="9699"/>
                    <a:pt x="6825" y="9699"/>
                  </a:cubicBezTo>
                  <a:cubicBezTo>
                    <a:pt x="6900" y="9699"/>
                    <a:pt x="6969" y="9699"/>
                    <a:pt x="7043" y="9630"/>
                  </a:cubicBezTo>
                  <a:cubicBezTo>
                    <a:pt x="8262" y="8624"/>
                    <a:pt x="9199" y="7687"/>
                    <a:pt x="9918" y="6825"/>
                  </a:cubicBezTo>
                  <a:cubicBezTo>
                    <a:pt x="11424" y="4887"/>
                    <a:pt x="12143" y="2731"/>
                    <a:pt x="12143" y="288"/>
                  </a:cubicBezTo>
                  <a:cubicBezTo>
                    <a:pt x="12143" y="144"/>
                    <a:pt x="11999" y="0"/>
                    <a:pt x="11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2434;p63">
              <a:extLst>
                <a:ext uri="{FF2B5EF4-FFF2-40B4-BE49-F238E27FC236}">
                  <a16:creationId xmlns:a16="http://schemas.microsoft.com/office/drawing/2014/main" id="{5D490880-8B80-561A-D546-7FC9DCFCDE66}"/>
                </a:ext>
              </a:extLst>
            </p:cNvPr>
            <p:cNvSpPr/>
            <p:nvPr/>
          </p:nvSpPr>
          <p:spPr>
            <a:xfrm>
              <a:off x="4927367" y="3875580"/>
              <a:ext cx="105803" cy="9997"/>
            </a:xfrm>
            <a:custGeom>
              <a:avLst/>
              <a:gdLst/>
              <a:ahLst/>
              <a:cxnLst/>
              <a:rect l="l" t="t" r="r" b="b"/>
              <a:pathLst>
                <a:path w="6826" h="645" extrusionOk="0">
                  <a:moveTo>
                    <a:pt x="357" y="1"/>
                  </a:moveTo>
                  <a:cubicBezTo>
                    <a:pt x="213" y="1"/>
                    <a:pt x="1" y="145"/>
                    <a:pt x="1" y="288"/>
                  </a:cubicBezTo>
                  <a:cubicBezTo>
                    <a:pt x="1" y="501"/>
                    <a:pt x="213" y="645"/>
                    <a:pt x="357" y="645"/>
                  </a:cubicBezTo>
                  <a:lnTo>
                    <a:pt x="6469" y="645"/>
                  </a:lnTo>
                  <a:cubicBezTo>
                    <a:pt x="6681" y="645"/>
                    <a:pt x="6825" y="501"/>
                    <a:pt x="6825" y="288"/>
                  </a:cubicBezTo>
                  <a:cubicBezTo>
                    <a:pt x="6825" y="145"/>
                    <a:pt x="6681" y="1"/>
                    <a:pt x="6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0" name="Google Shape;2430;p63">
            <a:extLst>
              <a:ext uri="{FF2B5EF4-FFF2-40B4-BE49-F238E27FC236}">
                <a16:creationId xmlns:a16="http://schemas.microsoft.com/office/drawing/2014/main" id="{5428DDC7-46C3-669B-CB5B-475368B74A36}"/>
              </a:ext>
            </a:extLst>
          </p:cNvPr>
          <p:cNvGrpSpPr/>
          <p:nvPr/>
        </p:nvGrpSpPr>
        <p:grpSpPr>
          <a:xfrm>
            <a:off x="5629859" y="3392127"/>
            <a:ext cx="270565" cy="372516"/>
            <a:chOff x="4844938" y="3588194"/>
            <a:chExt cx="230563" cy="317440"/>
          </a:xfrm>
        </p:grpSpPr>
        <p:sp>
          <p:nvSpPr>
            <p:cNvPr id="1931" name="Google Shape;2431;p63">
              <a:extLst>
                <a:ext uri="{FF2B5EF4-FFF2-40B4-BE49-F238E27FC236}">
                  <a16:creationId xmlns:a16="http://schemas.microsoft.com/office/drawing/2014/main" id="{290FEE14-69FB-4B27-EC8F-72079FC06DF0}"/>
                </a:ext>
              </a:extLst>
            </p:cNvPr>
            <p:cNvSpPr/>
            <p:nvPr/>
          </p:nvSpPr>
          <p:spPr>
            <a:xfrm>
              <a:off x="4844938" y="3588194"/>
              <a:ext cx="230563" cy="317440"/>
            </a:xfrm>
            <a:custGeom>
              <a:avLst/>
              <a:gdLst/>
              <a:ahLst/>
              <a:cxnLst/>
              <a:rect l="l" t="t" r="r" b="b"/>
              <a:pathLst>
                <a:path w="14875" h="20480" extrusionOk="0">
                  <a:moveTo>
                    <a:pt x="6394" y="10637"/>
                  </a:moveTo>
                  <a:cubicBezTo>
                    <a:pt x="6538" y="10780"/>
                    <a:pt x="6681" y="10924"/>
                    <a:pt x="6825" y="10993"/>
                  </a:cubicBezTo>
                  <a:cubicBezTo>
                    <a:pt x="6900" y="10993"/>
                    <a:pt x="6900" y="11068"/>
                    <a:pt x="6900" y="11068"/>
                  </a:cubicBezTo>
                  <a:cubicBezTo>
                    <a:pt x="5963" y="11786"/>
                    <a:pt x="5031" y="12574"/>
                    <a:pt x="4238" y="13436"/>
                  </a:cubicBezTo>
                  <a:lnTo>
                    <a:pt x="4169" y="13436"/>
                  </a:lnTo>
                  <a:cubicBezTo>
                    <a:pt x="3807" y="13799"/>
                    <a:pt x="3450" y="14230"/>
                    <a:pt x="3163" y="14586"/>
                  </a:cubicBezTo>
                  <a:cubicBezTo>
                    <a:pt x="2800" y="15092"/>
                    <a:pt x="2513" y="15592"/>
                    <a:pt x="2225" y="16098"/>
                  </a:cubicBezTo>
                  <a:lnTo>
                    <a:pt x="2225" y="16167"/>
                  </a:lnTo>
                  <a:cubicBezTo>
                    <a:pt x="1794" y="16961"/>
                    <a:pt x="1582" y="17823"/>
                    <a:pt x="1438" y="18755"/>
                  </a:cubicBezTo>
                  <a:lnTo>
                    <a:pt x="1438" y="18829"/>
                  </a:lnTo>
                  <a:cubicBezTo>
                    <a:pt x="1363" y="19117"/>
                    <a:pt x="1363" y="19473"/>
                    <a:pt x="1363" y="19836"/>
                  </a:cubicBezTo>
                  <a:lnTo>
                    <a:pt x="719" y="19836"/>
                  </a:lnTo>
                  <a:cubicBezTo>
                    <a:pt x="719" y="17680"/>
                    <a:pt x="1438" y="15811"/>
                    <a:pt x="2731" y="14086"/>
                  </a:cubicBezTo>
                  <a:cubicBezTo>
                    <a:pt x="3807" y="12718"/>
                    <a:pt x="5175" y="11568"/>
                    <a:pt x="6394" y="10637"/>
                  </a:cubicBezTo>
                  <a:close/>
                  <a:moveTo>
                    <a:pt x="1363" y="644"/>
                  </a:moveTo>
                  <a:cubicBezTo>
                    <a:pt x="1438" y="2656"/>
                    <a:pt x="2082" y="4456"/>
                    <a:pt x="3306" y="6037"/>
                  </a:cubicBezTo>
                  <a:cubicBezTo>
                    <a:pt x="4456" y="7543"/>
                    <a:pt x="6037" y="8693"/>
                    <a:pt x="7618" y="9987"/>
                  </a:cubicBezTo>
                  <a:cubicBezTo>
                    <a:pt x="9268" y="11211"/>
                    <a:pt x="10924" y="12505"/>
                    <a:pt x="12143" y="14086"/>
                  </a:cubicBezTo>
                  <a:cubicBezTo>
                    <a:pt x="13437" y="15811"/>
                    <a:pt x="14155" y="17680"/>
                    <a:pt x="14230" y="19836"/>
                  </a:cubicBezTo>
                  <a:lnTo>
                    <a:pt x="13512" y="19836"/>
                  </a:lnTo>
                  <a:cubicBezTo>
                    <a:pt x="13512" y="17823"/>
                    <a:pt x="12862" y="16024"/>
                    <a:pt x="11568" y="14443"/>
                  </a:cubicBezTo>
                  <a:cubicBezTo>
                    <a:pt x="10418" y="12936"/>
                    <a:pt x="8837" y="11712"/>
                    <a:pt x="7256" y="10493"/>
                  </a:cubicBezTo>
                  <a:cubicBezTo>
                    <a:pt x="5675" y="9268"/>
                    <a:pt x="4025" y="7975"/>
                    <a:pt x="2731" y="6393"/>
                  </a:cubicBezTo>
                  <a:cubicBezTo>
                    <a:pt x="1438" y="4669"/>
                    <a:pt x="719" y="2800"/>
                    <a:pt x="719" y="644"/>
                  </a:cubicBezTo>
                  <a:close/>
                  <a:moveTo>
                    <a:pt x="357" y="0"/>
                  </a:moveTo>
                  <a:cubicBezTo>
                    <a:pt x="144" y="0"/>
                    <a:pt x="0" y="144"/>
                    <a:pt x="0" y="288"/>
                  </a:cubicBezTo>
                  <a:cubicBezTo>
                    <a:pt x="0" y="2731"/>
                    <a:pt x="788" y="4887"/>
                    <a:pt x="2225" y="6825"/>
                  </a:cubicBezTo>
                  <a:cubicBezTo>
                    <a:pt x="3232" y="8118"/>
                    <a:pt x="4525" y="9199"/>
                    <a:pt x="5819" y="10205"/>
                  </a:cubicBezTo>
                  <a:cubicBezTo>
                    <a:pt x="4600" y="11211"/>
                    <a:pt x="3306" y="12287"/>
                    <a:pt x="2225" y="13655"/>
                  </a:cubicBezTo>
                  <a:cubicBezTo>
                    <a:pt x="788" y="15592"/>
                    <a:pt x="0" y="17680"/>
                    <a:pt x="0" y="20123"/>
                  </a:cubicBezTo>
                  <a:cubicBezTo>
                    <a:pt x="0" y="20336"/>
                    <a:pt x="144" y="20479"/>
                    <a:pt x="357" y="20479"/>
                  </a:cubicBezTo>
                  <a:lnTo>
                    <a:pt x="1651" y="20479"/>
                  </a:lnTo>
                  <a:cubicBezTo>
                    <a:pt x="1869" y="20479"/>
                    <a:pt x="2013" y="20336"/>
                    <a:pt x="2013" y="20123"/>
                  </a:cubicBezTo>
                  <a:lnTo>
                    <a:pt x="2013" y="19186"/>
                  </a:lnTo>
                  <a:lnTo>
                    <a:pt x="4382" y="19186"/>
                  </a:lnTo>
                  <a:cubicBezTo>
                    <a:pt x="4525" y="19186"/>
                    <a:pt x="4669" y="19042"/>
                    <a:pt x="4669" y="18829"/>
                  </a:cubicBezTo>
                  <a:cubicBezTo>
                    <a:pt x="4669" y="18686"/>
                    <a:pt x="4525" y="18542"/>
                    <a:pt x="4382" y="18542"/>
                  </a:cubicBezTo>
                  <a:lnTo>
                    <a:pt x="2157" y="18542"/>
                  </a:lnTo>
                  <a:cubicBezTo>
                    <a:pt x="2225" y="17823"/>
                    <a:pt x="2444" y="17174"/>
                    <a:pt x="2731" y="16599"/>
                  </a:cubicBezTo>
                  <a:lnTo>
                    <a:pt x="10850" y="16599"/>
                  </a:lnTo>
                  <a:cubicBezTo>
                    <a:pt x="10993" y="16599"/>
                    <a:pt x="11212" y="16455"/>
                    <a:pt x="11212" y="16242"/>
                  </a:cubicBezTo>
                  <a:cubicBezTo>
                    <a:pt x="11212" y="16098"/>
                    <a:pt x="10993" y="15955"/>
                    <a:pt x="10850" y="15955"/>
                  </a:cubicBezTo>
                  <a:lnTo>
                    <a:pt x="3088" y="15955"/>
                  </a:lnTo>
                  <a:cubicBezTo>
                    <a:pt x="3519" y="15236"/>
                    <a:pt x="4025" y="14586"/>
                    <a:pt x="4600" y="14011"/>
                  </a:cubicBezTo>
                  <a:lnTo>
                    <a:pt x="8550" y="14011"/>
                  </a:lnTo>
                  <a:cubicBezTo>
                    <a:pt x="8768" y="14011"/>
                    <a:pt x="8912" y="13868"/>
                    <a:pt x="8912" y="13655"/>
                  </a:cubicBezTo>
                  <a:cubicBezTo>
                    <a:pt x="8912" y="13511"/>
                    <a:pt x="8768" y="13293"/>
                    <a:pt x="8550" y="13293"/>
                  </a:cubicBezTo>
                  <a:lnTo>
                    <a:pt x="5244" y="13293"/>
                  </a:lnTo>
                  <a:cubicBezTo>
                    <a:pt x="5894" y="12718"/>
                    <a:pt x="6681" y="12074"/>
                    <a:pt x="7475" y="11499"/>
                  </a:cubicBezTo>
                  <a:cubicBezTo>
                    <a:pt x="10349" y="13724"/>
                    <a:pt x="12862" y="15955"/>
                    <a:pt x="12862" y="20123"/>
                  </a:cubicBezTo>
                  <a:cubicBezTo>
                    <a:pt x="12862" y="20336"/>
                    <a:pt x="13006" y="20479"/>
                    <a:pt x="13224" y="20479"/>
                  </a:cubicBezTo>
                  <a:lnTo>
                    <a:pt x="14518" y="20479"/>
                  </a:lnTo>
                  <a:cubicBezTo>
                    <a:pt x="14730" y="20479"/>
                    <a:pt x="14874" y="20336"/>
                    <a:pt x="14874" y="20123"/>
                  </a:cubicBezTo>
                  <a:cubicBezTo>
                    <a:pt x="14874" y="17680"/>
                    <a:pt x="14155" y="15592"/>
                    <a:pt x="12649" y="13655"/>
                  </a:cubicBezTo>
                  <a:cubicBezTo>
                    <a:pt x="11356" y="11999"/>
                    <a:pt x="9700" y="10706"/>
                    <a:pt x="8050" y="9487"/>
                  </a:cubicBezTo>
                  <a:cubicBezTo>
                    <a:pt x="4956" y="7043"/>
                    <a:pt x="2013" y="4812"/>
                    <a:pt x="2013" y="288"/>
                  </a:cubicBezTo>
                  <a:cubicBezTo>
                    <a:pt x="2013" y="144"/>
                    <a:pt x="1869" y="0"/>
                    <a:pt x="1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2432;p63">
              <a:extLst>
                <a:ext uri="{FF2B5EF4-FFF2-40B4-BE49-F238E27FC236}">
                  <a16:creationId xmlns:a16="http://schemas.microsoft.com/office/drawing/2014/main" id="{B155DD30-192C-CC31-5A81-845A68CB1E07}"/>
                </a:ext>
              </a:extLst>
            </p:cNvPr>
            <p:cNvSpPr/>
            <p:nvPr/>
          </p:nvSpPr>
          <p:spPr>
            <a:xfrm>
              <a:off x="4902862" y="3648350"/>
              <a:ext cx="30054" cy="9982"/>
            </a:xfrm>
            <a:custGeom>
              <a:avLst/>
              <a:gdLst/>
              <a:ahLst/>
              <a:cxnLst/>
              <a:rect l="l" t="t" r="r" b="b"/>
              <a:pathLst>
                <a:path w="1939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356"/>
                  </a:cubicBezTo>
                  <a:cubicBezTo>
                    <a:pt x="1" y="500"/>
                    <a:pt x="144" y="644"/>
                    <a:pt x="288" y="644"/>
                  </a:cubicBezTo>
                  <a:lnTo>
                    <a:pt x="1582" y="644"/>
                  </a:lnTo>
                  <a:cubicBezTo>
                    <a:pt x="1794" y="644"/>
                    <a:pt x="1938" y="500"/>
                    <a:pt x="1938" y="356"/>
                  </a:cubicBezTo>
                  <a:cubicBezTo>
                    <a:pt x="1938" y="144"/>
                    <a:pt x="1794" y="0"/>
                    <a:pt x="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2433;p63">
              <a:extLst>
                <a:ext uri="{FF2B5EF4-FFF2-40B4-BE49-F238E27FC236}">
                  <a16:creationId xmlns:a16="http://schemas.microsoft.com/office/drawing/2014/main" id="{4D010279-BCCF-2155-AF69-B4368F207132}"/>
                </a:ext>
              </a:extLst>
            </p:cNvPr>
            <p:cNvSpPr/>
            <p:nvPr/>
          </p:nvSpPr>
          <p:spPr>
            <a:xfrm>
              <a:off x="4887269" y="3588194"/>
              <a:ext cx="188232" cy="150350"/>
            </a:xfrm>
            <a:custGeom>
              <a:avLst/>
              <a:gdLst/>
              <a:ahLst/>
              <a:cxnLst/>
              <a:rect l="l" t="t" r="r" b="b"/>
              <a:pathLst>
                <a:path w="12144" h="9700" extrusionOk="0">
                  <a:moveTo>
                    <a:pt x="10493" y="0"/>
                  </a:moveTo>
                  <a:cubicBezTo>
                    <a:pt x="10275" y="0"/>
                    <a:pt x="10131" y="144"/>
                    <a:pt x="10131" y="288"/>
                  </a:cubicBezTo>
                  <a:lnTo>
                    <a:pt x="10131" y="1294"/>
                  </a:lnTo>
                  <a:lnTo>
                    <a:pt x="357" y="1294"/>
                  </a:lnTo>
                  <a:cubicBezTo>
                    <a:pt x="144" y="1294"/>
                    <a:pt x="0" y="1438"/>
                    <a:pt x="0" y="1650"/>
                  </a:cubicBezTo>
                  <a:cubicBezTo>
                    <a:pt x="0" y="1794"/>
                    <a:pt x="144" y="1938"/>
                    <a:pt x="357" y="1938"/>
                  </a:cubicBezTo>
                  <a:lnTo>
                    <a:pt x="10062" y="1938"/>
                  </a:lnTo>
                  <a:cubicBezTo>
                    <a:pt x="9918" y="2656"/>
                    <a:pt x="9700" y="3306"/>
                    <a:pt x="9412" y="3881"/>
                  </a:cubicBezTo>
                  <a:lnTo>
                    <a:pt x="3950" y="3881"/>
                  </a:lnTo>
                  <a:cubicBezTo>
                    <a:pt x="3738" y="3881"/>
                    <a:pt x="3594" y="4025"/>
                    <a:pt x="3594" y="4237"/>
                  </a:cubicBezTo>
                  <a:cubicBezTo>
                    <a:pt x="3594" y="4381"/>
                    <a:pt x="3738" y="4525"/>
                    <a:pt x="3950" y="4525"/>
                  </a:cubicBezTo>
                  <a:lnTo>
                    <a:pt x="9056" y="4525"/>
                  </a:lnTo>
                  <a:cubicBezTo>
                    <a:pt x="8694" y="5244"/>
                    <a:pt x="8193" y="5893"/>
                    <a:pt x="7618" y="6468"/>
                  </a:cubicBezTo>
                  <a:lnTo>
                    <a:pt x="3594" y="6468"/>
                  </a:lnTo>
                  <a:cubicBezTo>
                    <a:pt x="3375" y="6468"/>
                    <a:pt x="3232" y="6612"/>
                    <a:pt x="3232" y="6825"/>
                  </a:cubicBezTo>
                  <a:cubicBezTo>
                    <a:pt x="3232" y="6968"/>
                    <a:pt x="3375" y="7112"/>
                    <a:pt x="3594" y="7112"/>
                  </a:cubicBezTo>
                  <a:lnTo>
                    <a:pt x="6900" y="7112"/>
                  </a:lnTo>
                  <a:cubicBezTo>
                    <a:pt x="6537" y="7543"/>
                    <a:pt x="6037" y="7906"/>
                    <a:pt x="5531" y="8337"/>
                  </a:cubicBezTo>
                  <a:cubicBezTo>
                    <a:pt x="5462" y="8406"/>
                    <a:pt x="5388" y="8624"/>
                    <a:pt x="5531" y="8768"/>
                  </a:cubicBezTo>
                  <a:cubicBezTo>
                    <a:pt x="5575" y="8851"/>
                    <a:pt x="5665" y="8886"/>
                    <a:pt x="5761" y="8886"/>
                  </a:cubicBezTo>
                  <a:cubicBezTo>
                    <a:pt x="5830" y="8886"/>
                    <a:pt x="5902" y="8868"/>
                    <a:pt x="5963" y="8837"/>
                  </a:cubicBezTo>
                  <a:cubicBezTo>
                    <a:pt x="7400" y="7618"/>
                    <a:pt x="8981" y="6250"/>
                    <a:pt x="9918" y="4381"/>
                  </a:cubicBezTo>
                  <a:lnTo>
                    <a:pt x="9918" y="4312"/>
                  </a:lnTo>
                  <a:cubicBezTo>
                    <a:pt x="10275" y="3519"/>
                    <a:pt x="10562" y="2656"/>
                    <a:pt x="10706" y="1650"/>
                  </a:cubicBezTo>
                  <a:cubicBezTo>
                    <a:pt x="10781" y="1294"/>
                    <a:pt x="10781" y="1006"/>
                    <a:pt x="10781" y="644"/>
                  </a:cubicBezTo>
                  <a:lnTo>
                    <a:pt x="11499" y="644"/>
                  </a:lnTo>
                  <a:cubicBezTo>
                    <a:pt x="11424" y="2800"/>
                    <a:pt x="10706" y="4669"/>
                    <a:pt x="9412" y="6393"/>
                  </a:cubicBezTo>
                  <a:cubicBezTo>
                    <a:pt x="8694" y="7256"/>
                    <a:pt x="7831" y="8118"/>
                    <a:pt x="6612" y="9124"/>
                  </a:cubicBezTo>
                  <a:cubicBezTo>
                    <a:pt x="6468" y="9268"/>
                    <a:pt x="6468" y="9487"/>
                    <a:pt x="6612" y="9630"/>
                  </a:cubicBezTo>
                  <a:cubicBezTo>
                    <a:pt x="6612" y="9699"/>
                    <a:pt x="6756" y="9699"/>
                    <a:pt x="6825" y="9699"/>
                  </a:cubicBezTo>
                  <a:cubicBezTo>
                    <a:pt x="6900" y="9699"/>
                    <a:pt x="6969" y="9699"/>
                    <a:pt x="7043" y="9630"/>
                  </a:cubicBezTo>
                  <a:cubicBezTo>
                    <a:pt x="8262" y="8624"/>
                    <a:pt x="9199" y="7687"/>
                    <a:pt x="9918" y="6825"/>
                  </a:cubicBezTo>
                  <a:cubicBezTo>
                    <a:pt x="11424" y="4887"/>
                    <a:pt x="12143" y="2731"/>
                    <a:pt x="12143" y="288"/>
                  </a:cubicBezTo>
                  <a:cubicBezTo>
                    <a:pt x="12143" y="144"/>
                    <a:pt x="11999" y="0"/>
                    <a:pt x="11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2434;p63">
              <a:extLst>
                <a:ext uri="{FF2B5EF4-FFF2-40B4-BE49-F238E27FC236}">
                  <a16:creationId xmlns:a16="http://schemas.microsoft.com/office/drawing/2014/main" id="{7D056F02-1D76-9ED8-374A-B32D894A0D5A}"/>
                </a:ext>
              </a:extLst>
            </p:cNvPr>
            <p:cNvSpPr/>
            <p:nvPr/>
          </p:nvSpPr>
          <p:spPr>
            <a:xfrm>
              <a:off x="4927367" y="3875580"/>
              <a:ext cx="105803" cy="9997"/>
            </a:xfrm>
            <a:custGeom>
              <a:avLst/>
              <a:gdLst/>
              <a:ahLst/>
              <a:cxnLst/>
              <a:rect l="l" t="t" r="r" b="b"/>
              <a:pathLst>
                <a:path w="6826" h="645" extrusionOk="0">
                  <a:moveTo>
                    <a:pt x="357" y="1"/>
                  </a:moveTo>
                  <a:cubicBezTo>
                    <a:pt x="213" y="1"/>
                    <a:pt x="1" y="145"/>
                    <a:pt x="1" y="288"/>
                  </a:cubicBezTo>
                  <a:cubicBezTo>
                    <a:pt x="1" y="501"/>
                    <a:pt x="213" y="645"/>
                    <a:pt x="357" y="645"/>
                  </a:cubicBezTo>
                  <a:lnTo>
                    <a:pt x="6469" y="645"/>
                  </a:lnTo>
                  <a:cubicBezTo>
                    <a:pt x="6681" y="645"/>
                    <a:pt x="6825" y="501"/>
                    <a:pt x="6825" y="288"/>
                  </a:cubicBezTo>
                  <a:cubicBezTo>
                    <a:pt x="6825" y="145"/>
                    <a:pt x="6681" y="1"/>
                    <a:pt x="6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5" name="Arrow: Left-Right 1934">
            <a:extLst>
              <a:ext uri="{FF2B5EF4-FFF2-40B4-BE49-F238E27FC236}">
                <a16:creationId xmlns:a16="http://schemas.microsoft.com/office/drawing/2014/main" id="{FD11AA5B-FE78-5301-4236-D4989E3413F7}"/>
              </a:ext>
            </a:extLst>
          </p:cNvPr>
          <p:cNvSpPr/>
          <p:nvPr/>
        </p:nvSpPr>
        <p:spPr>
          <a:xfrm>
            <a:off x="4271319" y="2758912"/>
            <a:ext cx="975022" cy="198733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36" name="Google Shape;1984;p47">
            <a:extLst>
              <a:ext uri="{FF2B5EF4-FFF2-40B4-BE49-F238E27FC236}">
                <a16:creationId xmlns:a16="http://schemas.microsoft.com/office/drawing/2014/main" id="{53A3168A-F6F8-784C-F1B3-61DF39788B9E}"/>
              </a:ext>
            </a:extLst>
          </p:cNvPr>
          <p:cNvSpPr txBox="1">
            <a:spLocks/>
          </p:cNvSpPr>
          <p:nvPr/>
        </p:nvSpPr>
        <p:spPr>
          <a:xfrm>
            <a:off x="4255735" y="2363964"/>
            <a:ext cx="1050501" cy="580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  <a:defRPr sz="1400" b="0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indent="0" algn="ctr"/>
            <a:r>
              <a:rPr lang="el-GR" sz="800" dirty="0"/>
              <a:t>Ίδιος οργανισμός -Ίδιες συνθήκες</a:t>
            </a:r>
          </a:p>
        </p:txBody>
      </p:sp>
    </p:spTree>
    <p:extLst>
      <p:ext uri="{BB962C8B-B14F-4D97-AF65-F5344CB8AC3E}">
        <p14:creationId xmlns:p14="http://schemas.microsoft.com/office/powerpoint/2010/main" val="2162804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>
          <a:extLst>
            <a:ext uri="{FF2B5EF4-FFF2-40B4-BE49-F238E27FC236}">
              <a16:creationId xmlns:a16="http://schemas.microsoft.com/office/drawing/2014/main" id="{A643DDF9-CF78-0374-2790-BBED6A65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40">
            <a:extLst>
              <a:ext uri="{FF2B5EF4-FFF2-40B4-BE49-F238E27FC236}">
                <a16:creationId xmlns:a16="http://schemas.microsoft.com/office/drawing/2014/main" id="{917C8355-70C8-893A-8344-9D65FDB90421}"/>
              </a:ext>
            </a:extLst>
          </p:cNvPr>
          <p:cNvSpPr/>
          <p:nvPr/>
        </p:nvSpPr>
        <p:spPr>
          <a:xfrm rot="-5400000">
            <a:off x="352058" y="5320775"/>
            <a:ext cx="126812" cy="109387"/>
          </a:xfrm>
          <a:custGeom>
            <a:avLst/>
            <a:gdLst/>
            <a:ahLst/>
            <a:cxnLst/>
            <a:rect l="l" t="t" r="r" b="b"/>
            <a:pathLst>
              <a:path w="7736" h="6673" extrusionOk="0">
                <a:moveTo>
                  <a:pt x="1937" y="0"/>
                </a:moveTo>
                <a:lnTo>
                  <a:pt x="0" y="3304"/>
                </a:lnTo>
                <a:lnTo>
                  <a:pt x="1937" y="6672"/>
                </a:lnTo>
                <a:lnTo>
                  <a:pt x="5804" y="6672"/>
                </a:lnTo>
                <a:lnTo>
                  <a:pt x="7736" y="3304"/>
                </a:lnTo>
                <a:lnTo>
                  <a:pt x="58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981;p47">
            <a:extLst>
              <a:ext uri="{FF2B5EF4-FFF2-40B4-BE49-F238E27FC236}">
                <a16:creationId xmlns:a16="http://schemas.microsoft.com/office/drawing/2014/main" id="{3918E768-CE8D-6F94-853F-77A5A29E702B}"/>
              </a:ext>
            </a:extLst>
          </p:cNvPr>
          <p:cNvSpPr txBox="1">
            <a:spLocks/>
          </p:cNvSpPr>
          <p:nvPr/>
        </p:nvSpPr>
        <p:spPr>
          <a:xfrm>
            <a:off x="789743" y="1679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l-GR" sz="2400" dirty="0"/>
              <a:t>Συνθήκες θρεπτικού μέσου και Μετρικές ανάλυσης</a:t>
            </a:r>
            <a:br>
              <a:rPr lang="el-GR" sz="2400" dirty="0"/>
            </a:br>
            <a:endParaRPr lang="el-GR" sz="2400" b="1" dirty="0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3290ED01-CCE4-066F-28BE-D3362E526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096126"/>
              </p:ext>
            </p:extLst>
          </p:nvPr>
        </p:nvGraphicFramePr>
        <p:xfrm>
          <a:off x="1073257" y="1080157"/>
          <a:ext cx="2944678" cy="3555886"/>
        </p:xfrm>
        <a:graphic>
          <a:graphicData uri="http://schemas.openxmlformats.org/drawingml/2006/table">
            <a:tbl>
              <a:tblPr/>
              <a:tblGrid>
                <a:gridCol w="2944678">
                  <a:extLst>
                    <a:ext uri="{9D8B030D-6E8A-4147-A177-3AD203B41FA5}">
                      <a16:colId xmlns:a16="http://schemas.microsoft.com/office/drawing/2014/main" val="1633065731"/>
                    </a:ext>
                  </a:extLst>
                </a:gridCol>
              </a:tblGrid>
              <a:tr h="3555886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750558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456D0731-0C40-4474-E3BA-D70A15F6A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886719"/>
              </p:ext>
            </p:extLst>
          </p:nvPr>
        </p:nvGraphicFramePr>
        <p:xfrm>
          <a:off x="1238572" y="3365831"/>
          <a:ext cx="2614047" cy="704837"/>
        </p:xfrm>
        <a:graphic>
          <a:graphicData uri="http://schemas.openxmlformats.org/drawingml/2006/table">
            <a:tbl>
              <a:tblPr/>
              <a:tblGrid>
                <a:gridCol w="2614047">
                  <a:extLst>
                    <a:ext uri="{9D8B030D-6E8A-4147-A177-3AD203B41FA5}">
                      <a16:colId xmlns:a16="http://schemas.microsoft.com/office/drawing/2014/main" val="1633065731"/>
                    </a:ext>
                  </a:extLst>
                </a:gridCol>
              </a:tblGrid>
              <a:tr h="282863">
                <a:tc>
                  <a:txBody>
                    <a:bodyPr/>
                    <a:lstStyle/>
                    <a:p>
                      <a:pPr algn="ctr"/>
                      <a:r>
                        <a:rPr lang="el-GR" b="1" dirty="0"/>
                        <a:t>1 αναερόβια συνθήκη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54499"/>
                  </a:ext>
                </a:extLst>
              </a:tr>
              <a:tr h="400037">
                <a:tc>
                  <a:txBody>
                    <a:bodyPr/>
                    <a:lstStyle/>
                    <a:p>
                      <a:r>
                        <a:rPr lang="el-GR" dirty="0"/>
                        <a:t>Γλυκόζη (χωρίς Ο</a:t>
                      </a:r>
                      <a:r>
                        <a:rPr lang="el-GR" baseline="-25000" dirty="0"/>
                        <a:t>2</a:t>
                      </a:r>
                      <a:r>
                        <a:rPr lang="el-GR" dirty="0"/>
                        <a:t>)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750558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5754E889-37B2-01C2-0B0E-97726252E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44705"/>
              </p:ext>
            </p:extLst>
          </p:nvPr>
        </p:nvGraphicFramePr>
        <p:xfrm>
          <a:off x="1238572" y="1569421"/>
          <a:ext cx="2614047" cy="1692700"/>
        </p:xfrm>
        <a:graphic>
          <a:graphicData uri="http://schemas.openxmlformats.org/drawingml/2006/table">
            <a:tbl>
              <a:tblPr/>
              <a:tblGrid>
                <a:gridCol w="2614047">
                  <a:extLst>
                    <a:ext uri="{9D8B030D-6E8A-4147-A177-3AD203B41FA5}">
                      <a16:colId xmlns:a16="http://schemas.microsoft.com/office/drawing/2014/main" val="1633065731"/>
                    </a:ext>
                  </a:extLst>
                </a:gridCol>
              </a:tblGrid>
              <a:tr h="314931">
                <a:tc>
                  <a:txBody>
                    <a:bodyPr/>
                    <a:lstStyle/>
                    <a:p>
                      <a:pPr algn="ctr"/>
                      <a:r>
                        <a:rPr lang="el-GR" b="1" dirty="0"/>
                        <a:t>6 αερόβιες συνθήκες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750558"/>
                  </a:ext>
                </a:extLst>
              </a:tr>
              <a:tr h="13777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dirty="0"/>
                        <a:t>Γλυκόζη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dirty="0"/>
                        <a:t>Φρουκτόζη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dirty="0"/>
                        <a:t>Γαλακτόζη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dirty="0"/>
                        <a:t>Γλυκερόλη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dirty="0"/>
                        <a:t>Ηλεκτρικό οξύ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l-GR" dirty="0"/>
                        <a:t>Οξικό οξύ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150812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02832393-291B-4140-8A44-39D132F6A615}"/>
              </a:ext>
            </a:extLst>
          </p:cNvPr>
          <p:cNvSpPr txBox="1"/>
          <p:nvPr/>
        </p:nvSpPr>
        <p:spPr>
          <a:xfrm>
            <a:off x="1177871" y="4122523"/>
            <a:ext cx="223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Μεταβλητές: πηγή άνθρακα &amp; διαθεσιμότητα οξυγόνου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5FB9EC-B2CE-0052-C037-D71AB855BC10}"/>
              </a:ext>
            </a:extLst>
          </p:cNvPr>
          <p:cNvSpPr txBox="1"/>
          <p:nvPr/>
        </p:nvSpPr>
        <p:spPr>
          <a:xfrm>
            <a:off x="1196273" y="1170900"/>
            <a:ext cx="2698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solidFill>
                  <a:schemeClr val="tx1"/>
                </a:solidFill>
              </a:rPr>
              <a:t>Συνθήκες Θρεπτικού Μέσου</a:t>
            </a: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6D39D1E8-37FD-9FB1-BCD9-76866F428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547691"/>
              </p:ext>
            </p:extLst>
          </p:nvPr>
        </p:nvGraphicFramePr>
        <p:xfrm>
          <a:off x="4829994" y="1080156"/>
          <a:ext cx="2944678" cy="3555886"/>
        </p:xfrm>
        <a:graphic>
          <a:graphicData uri="http://schemas.openxmlformats.org/drawingml/2006/table">
            <a:tbl>
              <a:tblPr/>
              <a:tblGrid>
                <a:gridCol w="2944678">
                  <a:extLst>
                    <a:ext uri="{9D8B030D-6E8A-4147-A177-3AD203B41FA5}">
                      <a16:colId xmlns:a16="http://schemas.microsoft.com/office/drawing/2014/main" val="1633065731"/>
                    </a:ext>
                  </a:extLst>
                </a:gridCol>
              </a:tblGrid>
              <a:tr h="372774">
                <a:tc>
                  <a:txBody>
                    <a:bodyPr/>
                    <a:lstStyle/>
                    <a:p>
                      <a:pPr algn="ctr"/>
                      <a:r>
                        <a:rPr lang="el-GR" b="1" dirty="0"/>
                        <a:t>Μετρικές που υπολογίστηκαν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750558"/>
                  </a:ext>
                </a:extLst>
              </a:tr>
              <a:tr h="3183112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91731"/>
                  </a:ext>
                </a:extLst>
              </a:tr>
            </a:tbl>
          </a:graphicData>
        </a:graphic>
      </p:graphicFrame>
      <p:sp>
        <p:nvSpPr>
          <p:cNvPr id="55" name="Google Shape;10520;p76">
            <a:extLst>
              <a:ext uri="{FF2B5EF4-FFF2-40B4-BE49-F238E27FC236}">
                <a16:creationId xmlns:a16="http://schemas.microsoft.com/office/drawing/2014/main" id="{46D684C4-CE80-6138-B442-C011B2567A19}"/>
              </a:ext>
            </a:extLst>
          </p:cNvPr>
          <p:cNvSpPr/>
          <p:nvPr/>
        </p:nvSpPr>
        <p:spPr>
          <a:xfrm>
            <a:off x="4933355" y="1731694"/>
            <a:ext cx="374709" cy="233685"/>
          </a:xfrm>
          <a:custGeom>
            <a:avLst/>
            <a:gdLst/>
            <a:ahLst/>
            <a:cxnLst/>
            <a:rect l="l" t="t" r="r" b="b"/>
            <a:pathLst>
              <a:path w="11800" h="7359" extrusionOk="0">
                <a:moveTo>
                  <a:pt x="3180" y="3298"/>
                </a:moveTo>
                <a:lnTo>
                  <a:pt x="3180" y="7001"/>
                </a:lnTo>
                <a:lnTo>
                  <a:pt x="1691" y="7001"/>
                </a:lnTo>
                <a:lnTo>
                  <a:pt x="1691" y="3298"/>
                </a:lnTo>
                <a:close/>
                <a:moveTo>
                  <a:pt x="6680" y="2370"/>
                </a:moveTo>
                <a:lnTo>
                  <a:pt x="6680" y="7001"/>
                </a:lnTo>
                <a:lnTo>
                  <a:pt x="5192" y="7001"/>
                </a:lnTo>
                <a:lnTo>
                  <a:pt x="5192" y="2370"/>
                </a:lnTo>
                <a:close/>
                <a:moveTo>
                  <a:pt x="10180" y="345"/>
                </a:moveTo>
                <a:lnTo>
                  <a:pt x="10180" y="7001"/>
                </a:lnTo>
                <a:lnTo>
                  <a:pt x="8692" y="7001"/>
                </a:lnTo>
                <a:lnTo>
                  <a:pt x="8692" y="345"/>
                </a:lnTo>
                <a:close/>
                <a:moveTo>
                  <a:pt x="8502" y="0"/>
                </a:moveTo>
                <a:cubicBezTo>
                  <a:pt x="8406" y="0"/>
                  <a:pt x="8323" y="84"/>
                  <a:pt x="8323" y="179"/>
                </a:cubicBezTo>
                <a:lnTo>
                  <a:pt x="8323" y="7001"/>
                </a:lnTo>
                <a:lnTo>
                  <a:pt x="7013" y="7001"/>
                </a:lnTo>
                <a:lnTo>
                  <a:pt x="7013" y="2203"/>
                </a:lnTo>
                <a:cubicBezTo>
                  <a:pt x="7013" y="2120"/>
                  <a:pt x="6930" y="2024"/>
                  <a:pt x="6835" y="2024"/>
                </a:cubicBezTo>
                <a:lnTo>
                  <a:pt x="4989" y="2024"/>
                </a:lnTo>
                <a:cubicBezTo>
                  <a:pt x="4894" y="2024"/>
                  <a:pt x="4811" y="2108"/>
                  <a:pt x="4811" y="2203"/>
                </a:cubicBezTo>
                <a:lnTo>
                  <a:pt x="4811" y="7001"/>
                </a:lnTo>
                <a:lnTo>
                  <a:pt x="3501" y="7001"/>
                </a:lnTo>
                <a:lnTo>
                  <a:pt x="3501" y="3132"/>
                </a:lnTo>
                <a:cubicBezTo>
                  <a:pt x="3501" y="3036"/>
                  <a:pt x="3418" y="2953"/>
                  <a:pt x="3322" y="2953"/>
                </a:cubicBezTo>
                <a:lnTo>
                  <a:pt x="1477" y="2953"/>
                </a:lnTo>
                <a:cubicBezTo>
                  <a:pt x="1382" y="2953"/>
                  <a:pt x="1298" y="3024"/>
                  <a:pt x="1298" y="3132"/>
                </a:cubicBezTo>
                <a:lnTo>
                  <a:pt x="1298" y="7001"/>
                </a:lnTo>
                <a:lnTo>
                  <a:pt x="179" y="7001"/>
                </a:lnTo>
                <a:cubicBezTo>
                  <a:pt x="84" y="7001"/>
                  <a:pt x="1" y="7073"/>
                  <a:pt x="1" y="7180"/>
                </a:cubicBezTo>
                <a:cubicBezTo>
                  <a:pt x="1" y="7287"/>
                  <a:pt x="72" y="7358"/>
                  <a:pt x="179" y="7358"/>
                </a:cubicBezTo>
                <a:lnTo>
                  <a:pt x="11597" y="7358"/>
                </a:lnTo>
                <a:cubicBezTo>
                  <a:pt x="11681" y="7358"/>
                  <a:pt x="11776" y="7287"/>
                  <a:pt x="11776" y="7180"/>
                </a:cubicBezTo>
                <a:cubicBezTo>
                  <a:pt x="11800" y="7073"/>
                  <a:pt x="11728" y="7001"/>
                  <a:pt x="11633" y="7001"/>
                </a:cubicBezTo>
                <a:lnTo>
                  <a:pt x="10526" y="7001"/>
                </a:lnTo>
                <a:lnTo>
                  <a:pt x="10526" y="179"/>
                </a:lnTo>
                <a:cubicBezTo>
                  <a:pt x="10526" y="95"/>
                  <a:pt x="10442" y="0"/>
                  <a:pt x="10347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13777;p82">
            <a:extLst>
              <a:ext uri="{FF2B5EF4-FFF2-40B4-BE49-F238E27FC236}">
                <a16:creationId xmlns:a16="http://schemas.microsoft.com/office/drawing/2014/main" id="{E6519B4D-1B9F-9A7E-8B5D-D5F70900A989}"/>
              </a:ext>
            </a:extLst>
          </p:cNvPr>
          <p:cNvGrpSpPr/>
          <p:nvPr/>
        </p:nvGrpSpPr>
        <p:grpSpPr>
          <a:xfrm>
            <a:off x="4948059" y="2264250"/>
            <a:ext cx="362321" cy="364231"/>
            <a:chOff x="6069423" y="2891892"/>
            <a:chExt cx="362321" cy="364231"/>
          </a:xfrm>
        </p:grpSpPr>
        <p:sp>
          <p:nvSpPr>
            <p:cNvPr id="57" name="Google Shape;13778;p82">
              <a:extLst>
                <a:ext uri="{FF2B5EF4-FFF2-40B4-BE49-F238E27FC236}">
                  <a16:creationId xmlns:a16="http://schemas.microsoft.com/office/drawing/2014/main" id="{90359B6B-ED86-81B6-45FE-671DBD922B83}"/>
                </a:ext>
              </a:extLst>
            </p:cNvPr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779;p82">
              <a:extLst>
                <a:ext uri="{FF2B5EF4-FFF2-40B4-BE49-F238E27FC236}">
                  <a16:creationId xmlns:a16="http://schemas.microsoft.com/office/drawing/2014/main" id="{ADF94107-8EAF-C6E0-5A97-0494397C46D2}"/>
                </a:ext>
              </a:extLst>
            </p:cNvPr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780;p82">
              <a:extLst>
                <a:ext uri="{FF2B5EF4-FFF2-40B4-BE49-F238E27FC236}">
                  <a16:creationId xmlns:a16="http://schemas.microsoft.com/office/drawing/2014/main" id="{D74E96A7-3C46-893D-7510-872E1F1FC881}"/>
                </a:ext>
              </a:extLst>
            </p:cNvPr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781;p82">
              <a:extLst>
                <a:ext uri="{FF2B5EF4-FFF2-40B4-BE49-F238E27FC236}">
                  <a16:creationId xmlns:a16="http://schemas.microsoft.com/office/drawing/2014/main" id="{F4741EC8-F773-9AE2-8912-D469417E7886}"/>
                </a:ext>
              </a:extLst>
            </p:cNvPr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782;p82">
              <a:extLst>
                <a:ext uri="{FF2B5EF4-FFF2-40B4-BE49-F238E27FC236}">
                  <a16:creationId xmlns:a16="http://schemas.microsoft.com/office/drawing/2014/main" id="{17329F79-3CC0-4AF0-3E23-3E8CB57E3CC1}"/>
                </a:ext>
              </a:extLst>
            </p:cNvPr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783;p82">
              <a:extLst>
                <a:ext uri="{FF2B5EF4-FFF2-40B4-BE49-F238E27FC236}">
                  <a16:creationId xmlns:a16="http://schemas.microsoft.com/office/drawing/2014/main" id="{086BB9AD-0337-4F84-28CC-DD56DAF7100C}"/>
                </a:ext>
              </a:extLst>
            </p:cNvPr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10499;p76">
            <a:extLst>
              <a:ext uri="{FF2B5EF4-FFF2-40B4-BE49-F238E27FC236}">
                <a16:creationId xmlns:a16="http://schemas.microsoft.com/office/drawing/2014/main" id="{3D0E0F16-023F-82B0-23A4-C27447979E1E}"/>
              </a:ext>
            </a:extLst>
          </p:cNvPr>
          <p:cNvGrpSpPr/>
          <p:nvPr/>
        </p:nvGrpSpPr>
        <p:grpSpPr>
          <a:xfrm>
            <a:off x="4978369" y="2920173"/>
            <a:ext cx="355402" cy="354291"/>
            <a:chOff x="4129482" y="3681059"/>
            <a:chExt cx="355402" cy="354291"/>
          </a:xfrm>
        </p:grpSpPr>
        <p:sp>
          <p:nvSpPr>
            <p:cNvPr id="1856" name="Google Shape;10500;p76">
              <a:extLst>
                <a:ext uri="{FF2B5EF4-FFF2-40B4-BE49-F238E27FC236}">
                  <a16:creationId xmlns:a16="http://schemas.microsoft.com/office/drawing/2014/main" id="{C2C2D516-E166-00F5-6433-8AF3A862EA19}"/>
                </a:ext>
              </a:extLst>
            </p:cNvPr>
            <p:cNvSpPr/>
            <p:nvPr/>
          </p:nvSpPr>
          <p:spPr>
            <a:xfrm>
              <a:off x="4313979" y="3719578"/>
              <a:ext cx="133117" cy="225016"/>
            </a:xfrm>
            <a:custGeom>
              <a:avLst/>
              <a:gdLst/>
              <a:ahLst/>
              <a:cxnLst/>
              <a:rect l="l" t="t" r="r" b="b"/>
              <a:pathLst>
                <a:path w="4192" h="7086" extrusionOk="0">
                  <a:moveTo>
                    <a:pt x="173" y="0"/>
                  </a:moveTo>
                  <a:cubicBezTo>
                    <a:pt x="96" y="0"/>
                    <a:pt x="23" y="68"/>
                    <a:pt x="12" y="156"/>
                  </a:cubicBezTo>
                  <a:cubicBezTo>
                    <a:pt x="0" y="240"/>
                    <a:pt x="72" y="323"/>
                    <a:pt x="167" y="335"/>
                  </a:cubicBezTo>
                  <a:cubicBezTo>
                    <a:pt x="1167" y="418"/>
                    <a:pt x="2108" y="883"/>
                    <a:pt x="2798" y="1633"/>
                  </a:cubicBezTo>
                  <a:cubicBezTo>
                    <a:pt x="3501" y="2383"/>
                    <a:pt x="3870" y="3359"/>
                    <a:pt x="3870" y="4383"/>
                  </a:cubicBezTo>
                  <a:cubicBezTo>
                    <a:pt x="3870" y="5217"/>
                    <a:pt x="3620" y="6002"/>
                    <a:pt x="3156" y="6693"/>
                  </a:cubicBezTo>
                  <a:lnTo>
                    <a:pt x="893" y="4407"/>
                  </a:lnTo>
                  <a:cubicBezTo>
                    <a:pt x="864" y="4377"/>
                    <a:pt x="822" y="4362"/>
                    <a:pt x="779" y="4362"/>
                  </a:cubicBezTo>
                  <a:cubicBezTo>
                    <a:pt x="736" y="4362"/>
                    <a:pt x="691" y="4377"/>
                    <a:pt x="655" y="4407"/>
                  </a:cubicBezTo>
                  <a:cubicBezTo>
                    <a:pt x="596" y="4467"/>
                    <a:pt x="596" y="4574"/>
                    <a:pt x="655" y="4645"/>
                  </a:cubicBezTo>
                  <a:lnTo>
                    <a:pt x="3048" y="7050"/>
                  </a:lnTo>
                  <a:cubicBezTo>
                    <a:pt x="3084" y="7074"/>
                    <a:pt x="3120" y="7086"/>
                    <a:pt x="3167" y="7086"/>
                  </a:cubicBezTo>
                  <a:lnTo>
                    <a:pt x="3179" y="7086"/>
                  </a:lnTo>
                  <a:cubicBezTo>
                    <a:pt x="3227" y="7086"/>
                    <a:pt x="3275" y="7062"/>
                    <a:pt x="3298" y="7026"/>
                  </a:cubicBezTo>
                  <a:cubicBezTo>
                    <a:pt x="3882" y="6252"/>
                    <a:pt x="4191" y="5348"/>
                    <a:pt x="4191" y="4383"/>
                  </a:cubicBezTo>
                  <a:cubicBezTo>
                    <a:pt x="4191" y="3276"/>
                    <a:pt x="3775" y="2228"/>
                    <a:pt x="3036" y="1407"/>
                  </a:cubicBezTo>
                  <a:cubicBezTo>
                    <a:pt x="2286" y="597"/>
                    <a:pt x="1274" y="97"/>
                    <a:pt x="191" y="2"/>
                  </a:cubicBezTo>
                  <a:cubicBezTo>
                    <a:pt x="185" y="1"/>
                    <a:pt x="179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0501;p76">
              <a:extLst>
                <a:ext uri="{FF2B5EF4-FFF2-40B4-BE49-F238E27FC236}">
                  <a16:creationId xmlns:a16="http://schemas.microsoft.com/office/drawing/2014/main" id="{AEF4DDD0-C5EB-D118-D657-AC04242A0BB4}"/>
                </a:ext>
              </a:extLst>
            </p:cNvPr>
            <p:cNvSpPr/>
            <p:nvPr/>
          </p:nvSpPr>
          <p:spPr>
            <a:xfrm>
              <a:off x="4220968" y="3719197"/>
              <a:ext cx="106284" cy="132387"/>
            </a:xfrm>
            <a:custGeom>
              <a:avLst/>
              <a:gdLst/>
              <a:ahLst/>
              <a:cxnLst/>
              <a:rect l="l" t="t" r="r" b="b"/>
              <a:pathLst>
                <a:path w="3347" h="4169" extrusionOk="0">
                  <a:moveTo>
                    <a:pt x="2340" y="1"/>
                  </a:moveTo>
                  <a:cubicBezTo>
                    <a:pt x="2334" y="1"/>
                    <a:pt x="2328" y="1"/>
                    <a:pt x="2322" y="2"/>
                  </a:cubicBezTo>
                  <a:cubicBezTo>
                    <a:pt x="1501" y="73"/>
                    <a:pt x="715" y="371"/>
                    <a:pt x="60" y="883"/>
                  </a:cubicBezTo>
                  <a:cubicBezTo>
                    <a:pt x="12" y="907"/>
                    <a:pt x="0" y="954"/>
                    <a:pt x="0" y="1002"/>
                  </a:cubicBezTo>
                  <a:cubicBezTo>
                    <a:pt x="0" y="1038"/>
                    <a:pt x="12" y="1085"/>
                    <a:pt x="36" y="1133"/>
                  </a:cubicBezTo>
                  <a:lnTo>
                    <a:pt x="3048" y="4121"/>
                  </a:lnTo>
                  <a:cubicBezTo>
                    <a:pt x="3072" y="4157"/>
                    <a:pt x="3120" y="4169"/>
                    <a:pt x="3167" y="4169"/>
                  </a:cubicBezTo>
                  <a:cubicBezTo>
                    <a:pt x="3203" y="4169"/>
                    <a:pt x="3251" y="4157"/>
                    <a:pt x="3287" y="4121"/>
                  </a:cubicBezTo>
                  <a:cubicBezTo>
                    <a:pt x="3346" y="4062"/>
                    <a:pt x="3346" y="3955"/>
                    <a:pt x="3287" y="3883"/>
                  </a:cubicBezTo>
                  <a:lnTo>
                    <a:pt x="429" y="1026"/>
                  </a:lnTo>
                  <a:cubicBezTo>
                    <a:pt x="1001" y="645"/>
                    <a:pt x="1655" y="383"/>
                    <a:pt x="2358" y="323"/>
                  </a:cubicBezTo>
                  <a:cubicBezTo>
                    <a:pt x="2363" y="324"/>
                    <a:pt x="2367" y="324"/>
                    <a:pt x="2372" y="324"/>
                  </a:cubicBezTo>
                  <a:cubicBezTo>
                    <a:pt x="2449" y="324"/>
                    <a:pt x="2512" y="235"/>
                    <a:pt x="2501" y="157"/>
                  </a:cubicBezTo>
                  <a:cubicBezTo>
                    <a:pt x="2479" y="68"/>
                    <a:pt x="2416" y="1"/>
                    <a:pt x="23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0502;p76">
              <a:extLst>
                <a:ext uri="{FF2B5EF4-FFF2-40B4-BE49-F238E27FC236}">
                  <a16:creationId xmlns:a16="http://schemas.microsoft.com/office/drawing/2014/main" id="{6A70E0A7-8949-1CF1-AD13-AF77748E1699}"/>
                </a:ext>
              </a:extLst>
            </p:cNvPr>
            <p:cNvSpPr/>
            <p:nvPr/>
          </p:nvSpPr>
          <p:spPr>
            <a:xfrm>
              <a:off x="4167270" y="3772545"/>
              <a:ext cx="226127" cy="225746"/>
            </a:xfrm>
            <a:custGeom>
              <a:avLst/>
              <a:gdLst/>
              <a:ahLst/>
              <a:cxnLst/>
              <a:rect l="l" t="t" r="r" b="b"/>
              <a:pathLst>
                <a:path w="7121" h="7109" extrusionOk="0">
                  <a:moveTo>
                    <a:pt x="1037" y="405"/>
                  </a:moveTo>
                  <a:lnTo>
                    <a:pt x="6704" y="6061"/>
                  </a:lnTo>
                  <a:cubicBezTo>
                    <a:pt x="6013" y="6537"/>
                    <a:pt x="5228" y="6775"/>
                    <a:pt x="4406" y="6775"/>
                  </a:cubicBezTo>
                  <a:cubicBezTo>
                    <a:pt x="2168" y="6775"/>
                    <a:pt x="334" y="4942"/>
                    <a:pt x="334" y="2703"/>
                  </a:cubicBezTo>
                  <a:cubicBezTo>
                    <a:pt x="334" y="1882"/>
                    <a:pt x="572" y="1096"/>
                    <a:pt x="1037" y="405"/>
                  </a:cubicBezTo>
                  <a:close/>
                  <a:moveTo>
                    <a:pt x="1001" y="1"/>
                  </a:moveTo>
                  <a:cubicBezTo>
                    <a:pt x="953" y="1"/>
                    <a:pt x="918" y="36"/>
                    <a:pt x="882" y="60"/>
                  </a:cubicBezTo>
                  <a:cubicBezTo>
                    <a:pt x="298" y="822"/>
                    <a:pt x="1" y="1739"/>
                    <a:pt x="1" y="2703"/>
                  </a:cubicBezTo>
                  <a:cubicBezTo>
                    <a:pt x="1" y="5120"/>
                    <a:pt x="1989" y="7109"/>
                    <a:pt x="4406" y="7109"/>
                  </a:cubicBezTo>
                  <a:cubicBezTo>
                    <a:pt x="5382" y="7109"/>
                    <a:pt x="6287" y="6811"/>
                    <a:pt x="7061" y="6228"/>
                  </a:cubicBezTo>
                  <a:cubicBezTo>
                    <a:pt x="7109" y="6192"/>
                    <a:pt x="7121" y="6156"/>
                    <a:pt x="7121" y="6108"/>
                  </a:cubicBezTo>
                  <a:cubicBezTo>
                    <a:pt x="7121" y="6061"/>
                    <a:pt x="7109" y="6013"/>
                    <a:pt x="7073" y="5978"/>
                  </a:cubicBezTo>
                  <a:lnTo>
                    <a:pt x="1132" y="36"/>
                  </a:lnTo>
                  <a:cubicBezTo>
                    <a:pt x="1096" y="24"/>
                    <a:pt x="1048" y="1"/>
                    <a:pt x="10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0503;p76">
              <a:extLst>
                <a:ext uri="{FF2B5EF4-FFF2-40B4-BE49-F238E27FC236}">
                  <a16:creationId xmlns:a16="http://schemas.microsoft.com/office/drawing/2014/main" id="{AE920D6F-4CAF-CA26-854D-CFF5FB540CEC}"/>
                </a:ext>
              </a:extLst>
            </p:cNvPr>
            <p:cNvSpPr/>
            <p:nvPr/>
          </p:nvSpPr>
          <p:spPr>
            <a:xfrm>
              <a:off x="4129482" y="3681059"/>
              <a:ext cx="355402" cy="354291"/>
            </a:xfrm>
            <a:custGeom>
              <a:avLst/>
              <a:gdLst/>
              <a:ahLst/>
              <a:cxnLst/>
              <a:rect l="l" t="t" r="r" b="b"/>
              <a:pathLst>
                <a:path w="11192" h="11157" extrusionOk="0">
                  <a:moveTo>
                    <a:pt x="5596" y="0"/>
                  </a:moveTo>
                  <a:cubicBezTo>
                    <a:pt x="4096" y="0"/>
                    <a:pt x="2703" y="572"/>
                    <a:pt x="1643" y="1631"/>
                  </a:cubicBezTo>
                  <a:cubicBezTo>
                    <a:pt x="584" y="2691"/>
                    <a:pt x="0" y="4096"/>
                    <a:pt x="0" y="5584"/>
                  </a:cubicBezTo>
                  <a:cubicBezTo>
                    <a:pt x="0" y="7013"/>
                    <a:pt x="536" y="8358"/>
                    <a:pt x="1512" y="9406"/>
                  </a:cubicBezTo>
                  <a:cubicBezTo>
                    <a:pt x="2477" y="10430"/>
                    <a:pt x="3786" y="11061"/>
                    <a:pt x="5191" y="11156"/>
                  </a:cubicBezTo>
                  <a:cubicBezTo>
                    <a:pt x="5286" y="11156"/>
                    <a:pt x="5358" y="11097"/>
                    <a:pt x="5382" y="11014"/>
                  </a:cubicBezTo>
                  <a:cubicBezTo>
                    <a:pt x="5382" y="10918"/>
                    <a:pt x="5322" y="10847"/>
                    <a:pt x="5227" y="10835"/>
                  </a:cubicBezTo>
                  <a:cubicBezTo>
                    <a:pt x="3905" y="10740"/>
                    <a:pt x="2667" y="10144"/>
                    <a:pt x="1762" y="9180"/>
                  </a:cubicBezTo>
                  <a:cubicBezTo>
                    <a:pt x="834" y="8192"/>
                    <a:pt x="333" y="6930"/>
                    <a:pt x="333" y="5572"/>
                  </a:cubicBezTo>
                  <a:cubicBezTo>
                    <a:pt x="333" y="4179"/>
                    <a:pt x="881" y="2858"/>
                    <a:pt x="1881" y="1858"/>
                  </a:cubicBezTo>
                  <a:cubicBezTo>
                    <a:pt x="2881" y="858"/>
                    <a:pt x="4203" y="310"/>
                    <a:pt x="5596" y="310"/>
                  </a:cubicBezTo>
                  <a:cubicBezTo>
                    <a:pt x="7001" y="310"/>
                    <a:pt x="8323" y="858"/>
                    <a:pt x="9323" y="1858"/>
                  </a:cubicBezTo>
                  <a:cubicBezTo>
                    <a:pt x="10323" y="2858"/>
                    <a:pt x="10871" y="4179"/>
                    <a:pt x="10871" y="5572"/>
                  </a:cubicBezTo>
                  <a:cubicBezTo>
                    <a:pt x="10871" y="6918"/>
                    <a:pt x="10359" y="8192"/>
                    <a:pt x="9442" y="9180"/>
                  </a:cubicBezTo>
                  <a:cubicBezTo>
                    <a:pt x="8525" y="10144"/>
                    <a:pt x="7299" y="10740"/>
                    <a:pt x="5977" y="10835"/>
                  </a:cubicBezTo>
                  <a:cubicBezTo>
                    <a:pt x="5882" y="10835"/>
                    <a:pt x="5810" y="10918"/>
                    <a:pt x="5822" y="11014"/>
                  </a:cubicBezTo>
                  <a:cubicBezTo>
                    <a:pt x="5822" y="11097"/>
                    <a:pt x="5894" y="11156"/>
                    <a:pt x="5989" y="11156"/>
                  </a:cubicBezTo>
                  <a:lnTo>
                    <a:pt x="6001" y="11156"/>
                  </a:lnTo>
                  <a:cubicBezTo>
                    <a:pt x="7418" y="11061"/>
                    <a:pt x="8727" y="10442"/>
                    <a:pt x="9692" y="9406"/>
                  </a:cubicBezTo>
                  <a:cubicBezTo>
                    <a:pt x="10656" y="8358"/>
                    <a:pt x="11192" y="7013"/>
                    <a:pt x="11192" y="5584"/>
                  </a:cubicBezTo>
                  <a:cubicBezTo>
                    <a:pt x="11192" y="4096"/>
                    <a:pt x="10597" y="2691"/>
                    <a:pt x="9561" y="1631"/>
                  </a:cubicBezTo>
                  <a:cubicBezTo>
                    <a:pt x="8501" y="572"/>
                    <a:pt x="7108" y="0"/>
                    <a:pt x="5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3" name="Google Shape;2701;p70">
            <a:extLst>
              <a:ext uri="{FF2B5EF4-FFF2-40B4-BE49-F238E27FC236}">
                <a16:creationId xmlns:a16="http://schemas.microsoft.com/office/drawing/2014/main" id="{7A7AD18C-5A8B-A15E-5106-8A564AA2DB47}"/>
              </a:ext>
            </a:extLst>
          </p:cNvPr>
          <p:cNvGrpSpPr/>
          <p:nvPr/>
        </p:nvGrpSpPr>
        <p:grpSpPr>
          <a:xfrm>
            <a:off x="4978369" y="3511000"/>
            <a:ext cx="355402" cy="354291"/>
            <a:chOff x="5681300" y="2527788"/>
            <a:chExt cx="805800" cy="805800"/>
          </a:xfrm>
        </p:grpSpPr>
        <p:sp>
          <p:nvSpPr>
            <p:cNvPr id="1864" name="Google Shape;2702;p70">
              <a:extLst>
                <a:ext uri="{FF2B5EF4-FFF2-40B4-BE49-F238E27FC236}">
                  <a16:creationId xmlns:a16="http://schemas.microsoft.com/office/drawing/2014/main" id="{594FA6EE-0367-76EE-DEF6-1DC03B51B62A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2703;p70">
              <a:extLst>
                <a:ext uri="{FF2B5EF4-FFF2-40B4-BE49-F238E27FC236}">
                  <a16:creationId xmlns:a16="http://schemas.microsoft.com/office/drawing/2014/main" id="{72400903-D59D-5260-7ADB-8858A12770DE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9" name="Google Shape;2491;p63">
            <a:extLst>
              <a:ext uri="{FF2B5EF4-FFF2-40B4-BE49-F238E27FC236}">
                <a16:creationId xmlns:a16="http://schemas.microsoft.com/office/drawing/2014/main" id="{F8BEEF46-EA80-D2D8-413B-521EBC5BBCB9}"/>
              </a:ext>
            </a:extLst>
          </p:cNvPr>
          <p:cNvGrpSpPr/>
          <p:nvPr/>
        </p:nvGrpSpPr>
        <p:grpSpPr>
          <a:xfrm>
            <a:off x="4987383" y="4104117"/>
            <a:ext cx="373880" cy="372516"/>
            <a:chOff x="6467912" y="2113338"/>
            <a:chExt cx="318603" cy="317440"/>
          </a:xfrm>
        </p:grpSpPr>
        <p:sp>
          <p:nvSpPr>
            <p:cNvPr id="1870" name="Google Shape;2492;p63">
              <a:extLst>
                <a:ext uri="{FF2B5EF4-FFF2-40B4-BE49-F238E27FC236}">
                  <a16:creationId xmlns:a16="http://schemas.microsoft.com/office/drawing/2014/main" id="{A599A69E-D7A0-3D64-D65E-C887BFBD23EA}"/>
                </a:ext>
              </a:extLst>
            </p:cNvPr>
            <p:cNvSpPr/>
            <p:nvPr/>
          </p:nvSpPr>
          <p:spPr>
            <a:xfrm>
              <a:off x="6467912" y="2113338"/>
              <a:ext cx="318603" cy="317440"/>
            </a:xfrm>
            <a:custGeom>
              <a:avLst/>
              <a:gdLst/>
              <a:ahLst/>
              <a:cxnLst/>
              <a:rect l="l" t="t" r="r" b="b"/>
              <a:pathLst>
                <a:path w="20555" h="20480" extrusionOk="0">
                  <a:moveTo>
                    <a:pt x="16961" y="644"/>
                  </a:moveTo>
                  <a:cubicBezTo>
                    <a:pt x="18542" y="644"/>
                    <a:pt x="19910" y="1938"/>
                    <a:pt x="19910" y="3593"/>
                  </a:cubicBezTo>
                  <a:cubicBezTo>
                    <a:pt x="19910" y="5174"/>
                    <a:pt x="18542" y="6537"/>
                    <a:pt x="16961" y="6537"/>
                  </a:cubicBezTo>
                  <a:cubicBezTo>
                    <a:pt x="15311" y="6537"/>
                    <a:pt x="14017" y="5174"/>
                    <a:pt x="14017" y="3593"/>
                  </a:cubicBezTo>
                  <a:cubicBezTo>
                    <a:pt x="14017" y="1938"/>
                    <a:pt x="15311" y="644"/>
                    <a:pt x="16961" y="644"/>
                  </a:cubicBezTo>
                  <a:close/>
                  <a:moveTo>
                    <a:pt x="5681" y="6537"/>
                  </a:moveTo>
                  <a:lnTo>
                    <a:pt x="7980" y="10562"/>
                  </a:lnTo>
                  <a:cubicBezTo>
                    <a:pt x="7762" y="10636"/>
                    <a:pt x="7618" y="10705"/>
                    <a:pt x="7405" y="10849"/>
                  </a:cubicBezTo>
                  <a:lnTo>
                    <a:pt x="5106" y="6825"/>
                  </a:lnTo>
                  <a:cubicBezTo>
                    <a:pt x="5318" y="6756"/>
                    <a:pt x="5537" y="6612"/>
                    <a:pt x="5681" y="6537"/>
                  </a:cubicBezTo>
                  <a:close/>
                  <a:moveTo>
                    <a:pt x="14880" y="6537"/>
                  </a:moveTo>
                  <a:cubicBezTo>
                    <a:pt x="15092" y="6612"/>
                    <a:pt x="15236" y="6756"/>
                    <a:pt x="15455" y="6825"/>
                  </a:cubicBezTo>
                  <a:lnTo>
                    <a:pt x="13155" y="10849"/>
                  </a:lnTo>
                  <a:cubicBezTo>
                    <a:pt x="13011" y="10705"/>
                    <a:pt x="12793" y="10636"/>
                    <a:pt x="12580" y="10562"/>
                  </a:cubicBezTo>
                  <a:lnTo>
                    <a:pt x="14880" y="6537"/>
                  </a:lnTo>
                  <a:close/>
                  <a:moveTo>
                    <a:pt x="3668" y="0"/>
                  </a:moveTo>
                  <a:cubicBezTo>
                    <a:pt x="1656" y="0"/>
                    <a:pt x="0" y="1581"/>
                    <a:pt x="0" y="3593"/>
                  </a:cubicBezTo>
                  <a:cubicBezTo>
                    <a:pt x="0" y="5531"/>
                    <a:pt x="1656" y="7187"/>
                    <a:pt x="3668" y="7187"/>
                  </a:cubicBezTo>
                  <a:cubicBezTo>
                    <a:pt x="3956" y="7187"/>
                    <a:pt x="4243" y="7112"/>
                    <a:pt x="4531" y="7043"/>
                  </a:cubicBezTo>
                  <a:lnTo>
                    <a:pt x="6899" y="11280"/>
                  </a:lnTo>
                  <a:cubicBezTo>
                    <a:pt x="5750" y="12217"/>
                    <a:pt x="5031" y="13655"/>
                    <a:pt x="5031" y="15236"/>
                  </a:cubicBezTo>
                  <a:cubicBezTo>
                    <a:pt x="5031" y="18111"/>
                    <a:pt x="7405" y="20479"/>
                    <a:pt x="10280" y="20479"/>
                  </a:cubicBezTo>
                  <a:cubicBezTo>
                    <a:pt x="11430" y="20479"/>
                    <a:pt x="12580" y="20123"/>
                    <a:pt x="13442" y="19404"/>
                  </a:cubicBezTo>
                  <a:cubicBezTo>
                    <a:pt x="13586" y="19260"/>
                    <a:pt x="13655" y="19117"/>
                    <a:pt x="13511" y="18973"/>
                  </a:cubicBezTo>
                  <a:cubicBezTo>
                    <a:pt x="13468" y="18884"/>
                    <a:pt x="13368" y="18821"/>
                    <a:pt x="13263" y="18821"/>
                  </a:cubicBezTo>
                  <a:cubicBezTo>
                    <a:pt x="13199" y="18821"/>
                    <a:pt x="13134" y="18844"/>
                    <a:pt x="13080" y="18898"/>
                  </a:cubicBezTo>
                  <a:cubicBezTo>
                    <a:pt x="12292" y="19473"/>
                    <a:pt x="11286" y="19835"/>
                    <a:pt x="10280" y="19835"/>
                  </a:cubicBezTo>
                  <a:cubicBezTo>
                    <a:pt x="7762" y="19835"/>
                    <a:pt x="5681" y="17748"/>
                    <a:pt x="5681" y="15236"/>
                  </a:cubicBezTo>
                  <a:cubicBezTo>
                    <a:pt x="5681" y="12718"/>
                    <a:pt x="7762" y="10636"/>
                    <a:pt x="10280" y="10636"/>
                  </a:cubicBezTo>
                  <a:cubicBezTo>
                    <a:pt x="12793" y="10636"/>
                    <a:pt x="14880" y="12718"/>
                    <a:pt x="14880" y="15236"/>
                  </a:cubicBezTo>
                  <a:cubicBezTo>
                    <a:pt x="14880" y="16242"/>
                    <a:pt x="14517" y="17173"/>
                    <a:pt x="13942" y="18036"/>
                  </a:cubicBezTo>
                  <a:cubicBezTo>
                    <a:pt x="13799" y="18180"/>
                    <a:pt x="13873" y="18323"/>
                    <a:pt x="14017" y="18467"/>
                  </a:cubicBezTo>
                  <a:cubicBezTo>
                    <a:pt x="14073" y="18523"/>
                    <a:pt x="14139" y="18546"/>
                    <a:pt x="14203" y="18546"/>
                  </a:cubicBezTo>
                  <a:cubicBezTo>
                    <a:pt x="14305" y="18546"/>
                    <a:pt x="14403" y="18486"/>
                    <a:pt x="14448" y="18398"/>
                  </a:cubicBezTo>
                  <a:cubicBezTo>
                    <a:pt x="15167" y="17461"/>
                    <a:pt x="15524" y="16386"/>
                    <a:pt x="15524" y="15236"/>
                  </a:cubicBezTo>
                  <a:cubicBezTo>
                    <a:pt x="15524" y="13655"/>
                    <a:pt x="14805" y="12217"/>
                    <a:pt x="13655" y="11280"/>
                  </a:cubicBezTo>
                  <a:lnTo>
                    <a:pt x="16098" y="7043"/>
                  </a:lnTo>
                  <a:cubicBezTo>
                    <a:pt x="16386" y="7112"/>
                    <a:pt x="16673" y="7187"/>
                    <a:pt x="16961" y="7187"/>
                  </a:cubicBezTo>
                  <a:cubicBezTo>
                    <a:pt x="18904" y="7187"/>
                    <a:pt x="20554" y="5531"/>
                    <a:pt x="20554" y="3593"/>
                  </a:cubicBezTo>
                  <a:cubicBezTo>
                    <a:pt x="20554" y="1581"/>
                    <a:pt x="18904" y="0"/>
                    <a:pt x="16961" y="0"/>
                  </a:cubicBezTo>
                  <a:cubicBezTo>
                    <a:pt x="14949" y="0"/>
                    <a:pt x="13368" y="1581"/>
                    <a:pt x="13368" y="3593"/>
                  </a:cubicBezTo>
                  <a:cubicBezTo>
                    <a:pt x="13368" y="4525"/>
                    <a:pt x="13730" y="5462"/>
                    <a:pt x="14374" y="6106"/>
                  </a:cubicBezTo>
                  <a:lnTo>
                    <a:pt x="12005" y="10274"/>
                  </a:lnTo>
                  <a:cubicBezTo>
                    <a:pt x="11430" y="10130"/>
                    <a:pt x="10855" y="9987"/>
                    <a:pt x="10280" y="9987"/>
                  </a:cubicBezTo>
                  <a:cubicBezTo>
                    <a:pt x="9705" y="9987"/>
                    <a:pt x="9130" y="10130"/>
                    <a:pt x="8624" y="10274"/>
                  </a:cubicBezTo>
                  <a:lnTo>
                    <a:pt x="6181" y="6106"/>
                  </a:lnTo>
                  <a:cubicBezTo>
                    <a:pt x="6830" y="5462"/>
                    <a:pt x="7262" y="4525"/>
                    <a:pt x="7262" y="3593"/>
                  </a:cubicBezTo>
                  <a:cubicBezTo>
                    <a:pt x="7262" y="2875"/>
                    <a:pt x="7043" y="2156"/>
                    <a:pt x="6612" y="1581"/>
                  </a:cubicBezTo>
                  <a:cubicBezTo>
                    <a:pt x="6569" y="1492"/>
                    <a:pt x="6468" y="1429"/>
                    <a:pt x="6364" y="1429"/>
                  </a:cubicBezTo>
                  <a:cubicBezTo>
                    <a:pt x="6300" y="1429"/>
                    <a:pt x="6235" y="1452"/>
                    <a:pt x="6181" y="1506"/>
                  </a:cubicBezTo>
                  <a:cubicBezTo>
                    <a:pt x="6037" y="1581"/>
                    <a:pt x="5968" y="1794"/>
                    <a:pt x="6112" y="1938"/>
                  </a:cubicBezTo>
                  <a:cubicBezTo>
                    <a:pt x="6399" y="2444"/>
                    <a:pt x="6612" y="3018"/>
                    <a:pt x="6612" y="3593"/>
                  </a:cubicBezTo>
                  <a:cubicBezTo>
                    <a:pt x="6612" y="5174"/>
                    <a:pt x="5249" y="6537"/>
                    <a:pt x="3668" y="6537"/>
                  </a:cubicBezTo>
                  <a:cubicBezTo>
                    <a:pt x="2013" y="6537"/>
                    <a:pt x="719" y="5174"/>
                    <a:pt x="719" y="3593"/>
                  </a:cubicBezTo>
                  <a:cubicBezTo>
                    <a:pt x="719" y="1938"/>
                    <a:pt x="2013" y="644"/>
                    <a:pt x="3668" y="644"/>
                  </a:cubicBezTo>
                  <a:cubicBezTo>
                    <a:pt x="4243" y="644"/>
                    <a:pt x="4743" y="788"/>
                    <a:pt x="5249" y="1075"/>
                  </a:cubicBezTo>
                  <a:cubicBezTo>
                    <a:pt x="5305" y="1131"/>
                    <a:pt x="5371" y="1154"/>
                    <a:pt x="5435" y="1154"/>
                  </a:cubicBezTo>
                  <a:cubicBezTo>
                    <a:pt x="5537" y="1154"/>
                    <a:pt x="5635" y="1094"/>
                    <a:pt x="5681" y="1006"/>
                  </a:cubicBezTo>
                  <a:cubicBezTo>
                    <a:pt x="5824" y="862"/>
                    <a:pt x="5750" y="644"/>
                    <a:pt x="5606" y="575"/>
                  </a:cubicBezTo>
                  <a:cubicBezTo>
                    <a:pt x="5031" y="144"/>
                    <a:pt x="4312" y="0"/>
                    <a:pt x="3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2493;p63">
              <a:extLst>
                <a:ext uri="{FF2B5EF4-FFF2-40B4-BE49-F238E27FC236}">
                  <a16:creationId xmlns:a16="http://schemas.microsoft.com/office/drawing/2014/main" id="{224E7FDC-59C8-9B09-0628-E02955203F8E}"/>
                </a:ext>
              </a:extLst>
            </p:cNvPr>
            <p:cNvSpPr/>
            <p:nvPr/>
          </p:nvSpPr>
          <p:spPr>
            <a:xfrm>
              <a:off x="6601584" y="2385131"/>
              <a:ext cx="10075" cy="9997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363" y="1"/>
                  </a:moveTo>
                  <a:cubicBezTo>
                    <a:pt x="144" y="1"/>
                    <a:pt x="0" y="144"/>
                    <a:pt x="0" y="357"/>
                  </a:cubicBezTo>
                  <a:cubicBezTo>
                    <a:pt x="0" y="501"/>
                    <a:pt x="144" y="645"/>
                    <a:pt x="363" y="645"/>
                  </a:cubicBezTo>
                  <a:cubicBezTo>
                    <a:pt x="506" y="645"/>
                    <a:pt x="650" y="501"/>
                    <a:pt x="650" y="357"/>
                  </a:cubicBezTo>
                  <a:cubicBezTo>
                    <a:pt x="650" y="144"/>
                    <a:pt x="506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2494;p63">
              <a:extLst>
                <a:ext uri="{FF2B5EF4-FFF2-40B4-BE49-F238E27FC236}">
                  <a16:creationId xmlns:a16="http://schemas.microsoft.com/office/drawing/2014/main" id="{B823CBC3-D038-F92C-AD85-7C27BEE1A09E}"/>
                </a:ext>
              </a:extLst>
            </p:cNvPr>
            <p:cNvSpPr/>
            <p:nvPr/>
          </p:nvSpPr>
          <p:spPr>
            <a:xfrm>
              <a:off x="6581527" y="2365089"/>
              <a:ext cx="10090" cy="9982"/>
            </a:xfrm>
            <a:custGeom>
              <a:avLst/>
              <a:gdLst/>
              <a:ahLst/>
              <a:cxnLst/>
              <a:rect l="l" t="t" r="r" b="b"/>
              <a:pathLst>
                <a:path w="651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287"/>
                  </a:cubicBezTo>
                  <a:cubicBezTo>
                    <a:pt x="1" y="500"/>
                    <a:pt x="144" y="644"/>
                    <a:pt x="288" y="644"/>
                  </a:cubicBezTo>
                  <a:cubicBezTo>
                    <a:pt x="507" y="644"/>
                    <a:pt x="650" y="500"/>
                    <a:pt x="650" y="287"/>
                  </a:cubicBezTo>
                  <a:cubicBezTo>
                    <a:pt x="650" y="144"/>
                    <a:pt x="507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3" name="TextBox 1872">
            <a:extLst>
              <a:ext uri="{FF2B5EF4-FFF2-40B4-BE49-F238E27FC236}">
                <a16:creationId xmlns:a16="http://schemas.microsoft.com/office/drawing/2014/main" id="{07976978-6164-D1FD-FA2B-39078C2F2479}"/>
              </a:ext>
            </a:extLst>
          </p:cNvPr>
          <p:cNvSpPr txBox="1"/>
          <p:nvPr/>
        </p:nvSpPr>
        <p:spPr>
          <a:xfrm>
            <a:off x="5486589" y="1586926"/>
            <a:ext cx="223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Τιμή αντικειμενικής συνάρτησης</a:t>
            </a:r>
          </a:p>
        </p:txBody>
      </p:sp>
      <p:sp>
        <p:nvSpPr>
          <p:cNvPr id="1875" name="TextBox 1874">
            <a:extLst>
              <a:ext uri="{FF2B5EF4-FFF2-40B4-BE49-F238E27FC236}">
                <a16:creationId xmlns:a16="http://schemas.microsoft.com/office/drawing/2014/main" id="{608B9182-46DD-C79A-AD9C-7021CFEE4148}"/>
              </a:ext>
            </a:extLst>
          </p:cNvPr>
          <p:cNvSpPr txBox="1"/>
          <p:nvPr/>
        </p:nvSpPr>
        <p:spPr>
          <a:xfrm>
            <a:off x="5486589" y="2340037"/>
            <a:ext cx="2234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Ενεργές ροές</a:t>
            </a:r>
          </a:p>
        </p:txBody>
      </p:sp>
      <p:sp>
        <p:nvSpPr>
          <p:cNvPr id="1877" name="TextBox 1876">
            <a:extLst>
              <a:ext uri="{FF2B5EF4-FFF2-40B4-BE49-F238E27FC236}">
                <a16:creationId xmlns:a16="http://schemas.microsoft.com/office/drawing/2014/main" id="{0DD63199-0C8D-34F3-2497-E97FE4B54C1D}"/>
              </a:ext>
            </a:extLst>
          </p:cNvPr>
          <p:cNvSpPr txBox="1"/>
          <p:nvPr/>
        </p:nvSpPr>
        <p:spPr>
          <a:xfrm>
            <a:off x="5492430" y="2929628"/>
            <a:ext cx="2428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Αποκλεισμένες αντιδράσεις</a:t>
            </a:r>
          </a:p>
        </p:txBody>
      </p:sp>
      <p:sp>
        <p:nvSpPr>
          <p:cNvPr id="1879" name="TextBox 1878">
            <a:extLst>
              <a:ext uri="{FF2B5EF4-FFF2-40B4-BE49-F238E27FC236}">
                <a16:creationId xmlns:a16="http://schemas.microsoft.com/office/drawing/2014/main" id="{199CCABC-991B-E82D-AB52-AAED532E12E3}"/>
              </a:ext>
            </a:extLst>
          </p:cNvPr>
          <p:cNvSpPr txBox="1"/>
          <p:nvPr/>
        </p:nvSpPr>
        <p:spPr>
          <a:xfrm>
            <a:off x="5492430" y="3396450"/>
            <a:ext cx="2412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% αποκλεισμένων αντιδράσεων</a:t>
            </a:r>
          </a:p>
        </p:txBody>
      </p:sp>
      <p:sp>
        <p:nvSpPr>
          <p:cNvPr id="1881" name="TextBox 1880">
            <a:extLst>
              <a:ext uri="{FF2B5EF4-FFF2-40B4-BE49-F238E27FC236}">
                <a16:creationId xmlns:a16="http://schemas.microsoft.com/office/drawing/2014/main" id="{ACA7C982-CFD0-8D70-594D-B25C8EA04696}"/>
              </a:ext>
            </a:extLst>
          </p:cNvPr>
          <p:cNvSpPr txBox="1"/>
          <p:nvPr/>
        </p:nvSpPr>
        <p:spPr>
          <a:xfrm>
            <a:off x="5494590" y="4028765"/>
            <a:ext cx="223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Κύριες εσωτερικές μεταβολικές ροές</a:t>
            </a:r>
          </a:p>
        </p:txBody>
      </p:sp>
      <p:sp>
        <p:nvSpPr>
          <p:cNvPr id="1882" name="Rectangle: Rounded Corners 1881">
            <a:extLst>
              <a:ext uri="{FF2B5EF4-FFF2-40B4-BE49-F238E27FC236}">
                <a16:creationId xmlns:a16="http://schemas.microsoft.com/office/drawing/2014/main" id="{6FD2CE86-B534-76E8-211E-E09EF6C3B881}"/>
              </a:ext>
            </a:extLst>
          </p:cNvPr>
          <p:cNvSpPr/>
          <p:nvPr/>
        </p:nvSpPr>
        <p:spPr>
          <a:xfrm>
            <a:off x="193729" y="4719234"/>
            <a:ext cx="1208868" cy="325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Συνθήκη</a:t>
            </a:r>
          </a:p>
        </p:txBody>
      </p:sp>
      <p:sp>
        <p:nvSpPr>
          <p:cNvPr id="1884" name="Rectangle: Rounded Corners 1883">
            <a:extLst>
              <a:ext uri="{FF2B5EF4-FFF2-40B4-BE49-F238E27FC236}">
                <a16:creationId xmlns:a16="http://schemas.microsoft.com/office/drawing/2014/main" id="{7DB6B061-362C-5F03-F4D1-BC1095A8BE83}"/>
              </a:ext>
            </a:extLst>
          </p:cNvPr>
          <p:cNvSpPr/>
          <p:nvPr/>
        </p:nvSpPr>
        <p:spPr>
          <a:xfrm>
            <a:off x="2208508" y="4719234"/>
            <a:ext cx="1208868" cy="325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FBA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886" name="Rectangle: Rounded Corners 1885">
            <a:extLst>
              <a:ext uri="{FF2B5EF4-FFF2-40B4-BE49-F238E27FC236}">
                <a16:creationId xmlns:a16="http://schemas.microsoft.com/office/drawing/2014/main" id="{D72E2209-6B32-95B6-94C8-255203098726}"/>
              </a:ext>
            </a:extLst>
          </p:cNvPr>
          <p:cNvSpPr/>
          <p:nvPr/>
        </p:nvSpPr>
        <p:spPr>
          <a:xfrm>
            <a:off x="4223287" y="4745137"/>
            <a:ext cx="1208868" cy="325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Μετρικές</a:t>
            </a:r>
          </a:p>
        </p:txBody>
      </p:sp>
      <p:sp>
        <p:nvSpPr>
          <p:cNvPr id="1888" name="Rectangle: Rounded Corners 1887">
            <a:extLst>
              <a:ext uri="{FF2B5EF4-FFF2-40B4-BE49-F238E27FC236}">
                <a16:creationId xmlns:a16="http://schemas.microsoft.com/office/drawing/2014/main" id="{7A6F5E75-5084-1007-FAC8-7C0EC17EFD2E}"/>
              </a:ext>
            </a:extLst>
          </p:cNvPr>
          <p:cNvSpPr/>
          <p:nvPr/>
        </p:nvSpPr>
        <p:spPr>
          <a:xfrm>
            <a:off x="6240339" y="4745137"/>
            <a:ext cx="1208868" cy="325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Σύγκριση</a:t>
            </a:r>
          </a:p>
        </p:txBody>
      </p:sp>
      <p:sp>
        <p:nvSpPr>
          <p:cNvPr id="1889" name="Arrow: Right 1888">
            <a:extLst>
              <a:ext uri="{FF2B5EF4-FFF2-40B4-BE49-F238E27FC236}">
                <a16:creationId xmlns:a16="http://schemas.microsoft.com/office/drawing/2014/main" id="{8BA7F6BB-F190-A558-E3CE-C3499FCA5A98}"/>
              </a:ext>
            </a:extLst>
          </p:cNvPr>
          <p:cNvSpPr/>
          <p:nvPr/>
        </p:nvSpPr>
        <p:spPr>
          <a:xfrm>
            <a:off x="1633935" y="4826503"/>
            <a:ext cx="340962" cy="1627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891" name="Arrow: Right 1890">
            <a:extLst>
              <a:ext uri="{FF2B5EF4-FFF2-40B4-BE49-F238E27FC236}">
                <a16:creationId xmlns:a16="http://schemas.microsoft.com/office/drawing/2014/main" id="{8EE801FD-DB65-E50A-3B04-F21ACCDE2999}"/>
              </a:ext>
            </a:extLst>
          </p:cNvPr>
          <p:cNvSpPr/>
          <p:nvPr/>
        </p:nvSpPr>
        <p:spPr>
          <a:xfrm>
            <a:off x="5665766" y="4815422"/>
            <a:ext cx="340962" cy="1627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893" name="Arrow: Right 1892">
            <a:extLst>
              <a:ext uri="{FF2B5EF4-FFF2-40B4-BE49-F238E27FC236}">
                <a16:creationId xmlns:a16="http://schemas.microsoft.com/office/drawing/2014/main" id="{0817B096-BE59-2363-5B78-5006C76455BF}"/>
              </a:ext>
            </a:extLst>
          </p:cNvPr>
          <p:cNvSpPr/>
          <p:nvPr/>
        </p:nvSpPr>
        <p:spPr>
          <a:xfrm>
            <a:off x="3648714" y="4812769"/>
            <a:ext cx="340962" cy="16273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8726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9EE2-CA16-FA0D-88D0-1A6EC371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118" y="54244"/>
            <a:ext cx="4455763" cy="778784"/>
          </a:xfrm>
        </p:spPr>
        <p:txBody>
          <a:bodyPr/>
          <a:lstStyle/>
          <a:p>
            <a:r>
              <a:rPr lang="el-GR" sz="2400" dirty="0"/>
              <a:t>Αποτελέσματα iML1515: επίδραση θρεπτικού μέσου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CC0ECA-7335-8DF5-3921-7F947792A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920"/>
            <a:ext cx="5643320" cy="282166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5E77AB-4658-0A12-BDFA-E39A7BEE0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734206"/>
              </p:ext>
            </p:extLst>
          </p:nvPr>
        </p:nvGraphicFramePr>
        <p:xfrm>
          <a:off x="5990096" y="1160920"/>
          <a:ext cx="2371240" cy="2821662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2371240">
                  <a:extLst>
                    <a:ext uri="{9D8B030D-6E8A-4147-A177-3AD203B41FA5}">
                      <a16:colId xmlns:a16="http://schemas.microsoft.com/office/drawing/2014/main" val="3622942858"/>
                    </a:ext>
                  </a:extLst>
                </a:gridCol>
              </a:tblGrid>
              <a:tr h="940554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258452"/>
                  </a:ext>
                </a:extLst>
              </a:tr>
              <a:tr h="940554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282898"/>
                  </a:ext>
                </a:extLst>
              </a:tr>
              <a:tr h="940554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606872"/>
                  </a:ext>
                </a:extLst>
              </a:tr>
            </a:tbl>
          </a:graphicData>
        </a:graphic>
      </p:graphicFrame>
      <p:sp>
        <p:nvSpPr>
          <p:cNvPr id="10" name="Google Shape;2702;p70">
            <a:extLst>
              <a:ext uri="{FF2B5EF4-FFF2-40B4-BE49-F238E27FC236}">
                <a16:creationId xmlns:a16="http://schemas.microsoft.com/office/drawing/2014/main" id="{80427446-70F2-CC5C-A427-1E36F2E26422}"/>
              </a:ext>
            </a:extLst>
          </p:cNvPr>
          <p:cNvSpPr/>
          <p:nvPr/>
        </p:nvSpPr>
        <p:spPr>
          <a:xfrm>
            <a:off x="6083084" y="1425844"/>
            <a:ext cx="418455" cy="41070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2763;p70">
            <a:extLst>
              <a:ext uri="{FF2B5EF4-FFF2-40B4-BE49-F238E27FC236}">
                <a16:creationId xmlns:a16="http://schemas.microsoft.com/office/drawing/2014/main" id="{E62E7EEC-F145-33AF-3EBA-527863742B56}"/>
              </a:ext>
            </a:extLst>
          </p:cNvPr>
          <p:cNvSpPr/>
          <p:nvPr/>
        </p:nvSpPr>
        <p:spPr>
          <a:xfrm rot="16200000">
            <a:off x="6150658" y="1570604"/>
            <a:ext cx="283307" cy="121182"/>
          </a:xfrm>
          <a:custGeom>
            <a:avLst/>
            <a:gdLst/>
            <a:ahLst/>
            <a:cxnLst/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702;p70">
            <a:extLst>
              <a:ext uri="{FF2B5EF4-FFF2-40B4-BE49-F238E27FC236}">
                <a16:creationId xmlns:a16="http://schemas.microsoft.com/office/drawing/2014/main" id="{CFAEC518-8ABE-5ED7-D699-896B3141C9B8}"/>
              </a:ext>
            </a:extLst>
          </p:cNvPr>
          <p:cNvSpPr/>
          <p:nvPr/>
        </p:nvSpPr>
        <p:spPr>
          <a:xfrm>
            <a:off x="6083083" y="2366397"/>
            <a:ext cx="418455" cy="41070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2763;p70">
            <a:extLst>
              <a:ext uri="{FF2B5EF4-FFF2-40B4-BE49-F238E27FC236}">
                <a16:creationId xmlns:a16="http://schemas.microsoft.com/office/drawing/2014/main" id="{99BC81E0-33A7-DF8B-DD23-850F407D6109}"/>
              </a:ext>
            </a:extLst>
          </p:cNvPr>
          <p:cNvSpPr/>
          <p:nvPr/>
        </p:nvSpPr>
        <p:spPr>
          <a:xfrm rot="5400000">
            <a:off x="6150658" y="2511157"/>
            <a:ext cx="283307" cy="121182"/>
          </a:xfrm>
          <a:custGeom>
            <a:avLst/>
            <a:gdLst/>
            <a:ahLst/>
            <a:cxnLst/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2702;p70">
            <a:extLst>
              <a:ext uri="{FF2B5EF4-FFF2-40B4-BE49-F238E27FC236}">
                <a16:creationId xmlns:a16="http://schemas.microsoft.com/office/drawing/2014/main" id="{E8D46A23-C143-8A22-C752-29A67F79B6F2}"/>
              </a:ext>
            </a:extLst>
          </p:cNvPr>
          <p:cNvSpPr/>
          <p:nvPr/>
        </p:nvSpPr>
        <p:spPr>
          <a:xfrm>
            <a:off x="6083083" y="3245442"/>
            <a:ext cx="418455" cy="410705"/>
          </a:xfrm>
          <a:prstGeom prst="ellipse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9" name="Google Shape;13777;p82">
            <a:extLst>
              <a:ext uri="{FF2B5EF4-FFF2-40B4-BE49-F238E27FC236}">
                <a16:creationId xmlns:a16="http://schemas.microsoft.com/office/drawing/2014/main" id="{5239DE80-25BE-E6DC-401F-5A6A3B330920}"/>
              </a:ext>
            </a:extLst>
          </p:cNvPr>
          <p:cNvGrpSpPr/>
          <p:nvPr/>
        </p:nvGrpSpPr>
        <p:grpSpPr>
          <a:xfrm>
            <a:off x="6139735" y="3287692"/>
            <a:ext cx="305149" cy="326204"/>
            <a:chOff x="6069423" y="2891892"/>
            <a:chExt cx="362321" cy="364231"/>
          </a:xfrm>
          <a:solidFill>
            <a:schemeClr val="bg1"/>
          </a:solidFill>
        </p:grpSpPr>
        <p:sp>
          <p:nvSpPr>
            <p:cNvPr id="20" name="Google Shape;13778;p82">
              <a:extLst>
                <a:ext uri="{FF2B5EF4-FFF2-40B4-BE49-F238E27FC236}">
                  <a16:creationId xmlns:a16="http://schemas.microsoft.com/office/drawing/2014/main" id="{C7BFA836-78E3-459F-0875-908DBB99E17F}"/>
                </a:ext>
              </a:extLst>
            </p:cNvPr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79;p82">
              <a:extLst>
                <a:ext uri="{FF2B5EF4-FFF2-40B4-BE49-F238E27FC236}">
                  <a16:creationId xmlns:a16="http://schemas.microsoft.com/office/drawing/2014/main" id="{064CFFD8-4879-0EFE-42AE-EEDF588F1423}"/>
                </a:ext>
              </a:extLst>
            </p:cNvPr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780;p82">
              <a:extLst>
                <a:ext uri="{FF2B5EF4-FFF2-40B4-BE49-F238E27FC236}">
                  <a16:creationId xmlns:a16="http://schemas.microsoft.com/office/drawing/2014/main" id="{20CB8011-1E3C-75E9-D8FA-7317BB95CDB4}"/>
                </a:ext>
              </a:extLst>
            </p:cNvPr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781;p82">
              <a:extLst>
                <a:ext uri="{FF2B5EF4-FFF2-40B4-BE49-F238E27FC236}">
                  <a16:creationId xmlns:a16="http://schemas.microsoft.com/office/drawing/2014/main" id="{6CF4E3CB-8DDD-DFAB-93B4-215355EDAC27}"/>
                </a:ext>
              </a:extLst>
            </p:cNvPr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782;p82">
              <a:extLst>
                <a:ext uri="{FF2B5EF4-FFF2-40B4-BE49-F238E27FC236}">
                  <a16:creationId xmlns:a16="http://schemas.microsoft.com/office/drawing/2014/main" id="{0CC7351D-A49A-C9A7-7071-A9F3E46D89AD}"/>
                </a:ext>
              </a:extLst>
            </p:cNvPr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783;p82">
              <a:extLst>
                <a:ext uri="{FF2B5EF4-FFF2-40B4-BE49-F238E27FC236}">
                  <a16:creationId xmlns:a16="http://schemas.microsoft.com/office/drawing/2014/main" id="{1C62113E-EEE8-219B-82CD-247C71345F67}"/>
                </a:ext>
              </a:extLst>
            </p:cNvPr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7DB30B0-7E53-934C-E7FF-F58A8BD4984B}"/>
              </a:ext>
            </a:extLst>
          </p:cNvPr>
          <p:cNvSpPr txBox="1"/>
          <p:nvPr/>
        </p:nvSpPr>
        <p:spPr>
          <a:xfrm>
            <a:off x="6501538" y="1301368"/>
            <a:ext cx="1790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b="1" dirty="0">
                <a:solidFill>
                  <a:schemeClr val="tx1"/>
                </a:solidFill>
              </a:rPr>
              <a:t>Υψηλότερες τιμές: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Γλυκόζη, Φρουκτόζη, Γαλακτόζη </a:t>
            </a:r>
          </a:p>
          <a:p>
            <a:r>
              <a:rPr lang="el-GR" sz="1200" dirty="0"/>
              <a:t>	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5750B6-3350-B562-15F2-9B87C33DB7FB}"/>
              </a:ext>
            </a:extLst>
          </p:cNvPr>
          <p:cNvSpPr txBox="1"/>
          <p:nvPr/>
        </p:nvSpPr>
        <p:spPr>
          <a:xfrm>
            <a:off x="6536409" y="2272813"/>
            <a:ext cx="1790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b="1" dirty="0">
                <a:solidFill>
                  <a:schemeClr val="tx1"/>
                </a:solidFill>
              </a:rPr>
              <a:t>Χαμηλότερες τιμές: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Οξικό οξύ, 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Αναερόβια γλυκόζη</a:t>
            </a:r>
            <a:r>
              <a:rPr lang="el-GR" sz="1200" dirty="0"/>
              <a:t>	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5A04A5-1598-133F-52DF-6F0422DCE65F}"/>
              </a:ext>
            </a:extLst>
          </p:cNvPr>
          <p:cNvSpPr txBox="1"/>
          <p:nvPr/>
        </p:nvSpPr>
        <p:spPr>
          <a:xfrm>
            <a:off x="6479754" y="3052203"/>
            <a:ext cx="178894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dirty="0">
                <a:solidFill>
                  <a:schemeClr val="tx1"/>
                </a:solidFill>
              </a:rPr>
              <a:t>Η πηγή άνθρακα και η διαθεσιμότητα οξυγόνου επηρεάζουν την προβλεπόμενη μεταβολική απόδοση</a:t>
            </a:r>
          </a:p>
          <a:p>
            <a:pPr algn="ctr"/>
            <a:r>
              <a:rPr lang="el-GR" sz="1200" dirty="0"/>
              <a:t>	</a:t>
            </a:r>
          </a:p>
        </p:txBody>
      </p:sp>
      <p:grpSp>
        <p:nvGrpSpPr>
          <p:cNvPr id="32" name="Google Shape;11227;p78">
            <a:extLst>
              <a:ext uri="{FF2B5EF4-FFF2-40B4-BE49-F238E27FC236}">
                <a16:creationId xmlns:a16="http://schemas.microsoft.com/office/drawing/2014/main" id="{24CD497C-7AC8-F8C8-6901-E66D7A0CC037}"/>
              </a:ext>
            </a:extLst>
          </p:cNvPr>
          <p:cNvGrpSpPr/>
          <p:nvPr/>
        </p:nvGrpSpPr>
        <p:grpSpPr>
          <a:xfrm>
            <a:off x="371608" y="4526995"/>
            <a:ext cx="350166" cy="349434"/>
            <a:chOff x="3541011" y="1508594"/>
            <a:chExt cx="350166" cy="349434"/>
          </a:xfrm>
          <a:solidFill>
            <a:schemeClr val="tx1"/>
          </a:solidFill>
        </p:grpSpPr>
        <p:sp>
          <p:nvSpPr>
            <p:cNvPr id="33" name="Google Shape;11228;p78">
              <a:extLst>
                <a:ext uri="{FF2B5EF4-FFF2-40B4-BE49-F238E27FC236}">
                  <a16:creationId xmlns:a16="http://schemas.microsoft.com/office/drawing/2014/main" id="{A1AB6023-FF92-3B28-EC17-E81F28EAC446}"/>
                </a:ext>
              </a:extLst>
            </p:cNvPr>
            <p:cNvSpPr/>
            <p:nvPr/>
          </p:nvSpPr>
          <p:spPr>
            <a:xfrm>
              <a:off x="3600879" y="1568270"/>
              <a:ext cx="230049" cy="289758"/>
            </a:xfrm>
            <a:custGeom>
              <a:avLst/>
              <a:gdLst/>
              <a:ahLst/>
              <a:cxnLst/>
              <a:rect l="l" t="t" r="r" b="b"/>
              <a:pathLst>
                <a:path w="7228" h="9104" extrusionOk="0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229;p78">
              <a:extLst>
                <a:ext uri="{FF2B5EF4-FFF2-40B4-BE49-F238E27FC236}">
                  <a16:creationId xmlns:a16="http://schemas.microsoft.com/office/drawing/2014/main" id="{42F7DD6A-C63E-01F7-502A-C8F0B6ED4349}"/>
                </a:ext>
              </a:extLst>
            </p:cNvPr>
            <p:cNvSpPr/>
            <p:nvPr/>
          </p:nvSpPr>
          <p:spPr>
            <a:xfrm>
              <a:off x="3541011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230;p78">
              <a:extLst>
                <a:ext uri="{FF2B5EF4-FFF2-40B4-BE49-F238E27FC236}">
                  <a16:creationId xmlns:a16="http://schemas.microsoft.com/office/drawing/2014/main" id="{6170DDB5-98D7-4328-5524-455AE32F20EB}"/>
                </a:ext>
              </a:extLst>
            </p:cNvPr>
            <p:cNvSpPr/>
            <p:nvPr/>
          </p:nvSpPr>
          <p:spPr>
            <a:xfrm>
              <a:off x="3842259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231;p78">
              <a:extLst>
                <a:ext uri="{FF2B5EF4-FFF2-40B4-BE49-F238E27FC236}">
                  <a16:creationId xmlns:a16="http://schemas.microsoft.com/office/drawing/2014/main" id="{7B6B734D-D870-08CE-BB6B-E3CDC1FDC682}"/>
                </a:ext>
              </a:extLst>
            </p:cNvPr>
            <p:cNvSpPr/>
            <p:nvPr/>
          </p:nvSpPr>
          <p:spPr>
            <a:xfrm>
              <a:off x="3711161" y="1508594"/>
              <a:ext cx="10248" cy="48537"/>
            </a:xfrm>
            <a:custGeom>
              <a:avLst/>
              <a:gdLst/>
              <a:ahLst/>
              <a:cxnLst/>
              <a:rect l="l" t="t" r="r" b="b"/>
              <a:pathLst>
                <a:path w="322" h="1525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232;p78">
              <a:extLst>
                <a:ext uri="{FF2B5EF4-FFF2-40B4-BE49-F238E27FC236}">
                  <a16:creationId xmlns:a16="http://schemas.microsoft.com/office/drawing/2014/main" id="{FD193236-0862-1D2C-271D-67E5CA63B39D}"/>
                </a:ext>
              </a:extLst>
            </p:cNvPr>
            <p:cNvSpPr/>
            <p:nvPr/>
          </p:nvSpPr>
          <p:spPr>
            <a:xfrm>
              <a:off x="3633470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33;p78">
              <a:extLst>
                <a:ext uri="{FF2B5EF4-FFF2-40B4-BE49-F238E27FC236}">
                  <a16:creationId xmlns:a16="http://schemas.microsoft.com/office/drawing/2014/main" id="{01B56E3B-0A74-1678-29B1-C36DD9266F27}"/>
                </a:ext>
              </a:extLst>
            </p:cNvPr>
            <p:cNvSpPr/>
            <p:nvPr/>
          </p:nvSpPr>
          <p:spPr>
            <a:xfrm>
              <a:off x="3775962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34;p78">
              <a:extLst>
                <a:ext uri="{FF2B5EF4-FFF2-40B4-BE49-F238E27FC236}">
                  <a16:creationId xmlns:a16="http://schemas.microsoft.com/office/drawing/2014/main" id="{66BD9258-D880-805B-9BC8-764B15C3FD0C}"/>
                </a:ext>
              </a:extLst>
            </p:cNvPr>
            <p:cNvSpPr/>
            <p:nvPr/>
          </p:nvSpPr>
          <p:spPr>
            <a:xfrm>
              <a:off x="3577390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35;p78">
              <a:extLst>
                <a:ext uri="{FF2B5EF4-FFF2-40B4-BE49-F238E27FC236}">
                  <a16:creationId xmlns:a16="http://schemas.microsoft.com/office/drawing/2014/main" id="{EDDBA70B-ED08-8045-F70A-0D705E0926EA}"/>
                </a:ext>
              </a:extLst>
            </p:cNvPr>
            <p:cNvSpPr/>
            <p:nvPr/>
          </p:nvSpPr>
          <p:spPr>
            <a:xfrm>
              <a:off x="3823703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236;p78">
              <a:extLst>
                <a:ext uri="{FF2B5EF4-FFF2-40B4-BE49-F238E27FC236}">
                  <a16:creationId xmlns:a16="http://schemas.microsoft.com/office/drawing/2014/main" id="{E8B18D75-2CF9-E98A-0B49-A8945FDC2A08}"/>
                </a:ext>
              </a:extLst>
            </p:cNvPr>
            <p:cNvSpPr/>
            <p:nvPr/>
          </p:nvSpPr>
          <p:spPr>
            <a:xfrm>
              <a:off x="3775962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237;p78">
              <a:extLst>
                <a:ext uri="{FF2B5EF4-FFF2-40B4-BE49-F238E27FC236}">
                  <a16:creationId xmlns:a16="http://schemas.microsoft.com/office/drawing/2014/main" id="{5BE48F8D-713D-14B9-956E-65436A6444D2}"/>
                </a:ext>
              </a:extLst>
            </p:cNvPr>
            <p:cNvSpPr/>
            <p:nvPr/>
          </p:nvSpPr>
          <p:spPr>
            <a:xfrm>
              <a:off x="3633470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238;p78">
              <a:extLst>
                <a:ext uri="{FF2B5EF4-FFF2-40B4-BE49-F238E27FC236}">
                  <a16:creationId xmlns:a16="http://schemas.microsoft.com/office/drawing/2014/main" id="{FC70DC02-5EFE-3DE9-EE8E-E845C286FF18}"/>
                </a:ext>
              </a:extLst>
            </p:cNvPr>
            <p:cNvSpPr/>
            <p:nvPr/>
          </p:nvSpPr>
          <p:spPr>
            <a:xfrm>
              <a:off x="3823703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239;p78">
              <a:extLst>
                <a:ext uri="{FF2B5EF4-FFF2-40B4-BE49-F238E27FC236}">
                  <a16:creationId xmlns:a16="http://schemas.microsoft.com/office/drawing/2014/main" id="{9C49A3E6-52E5-1A71-C29B-B125DF0BF1BA}"/>
                </a:ext>
              </a:extLst>
            </p:cNvPr>
            <p:cNvSpPr/>
            <p:nvPr/>
          </p:nvSpPr>
          <p:spPr>
            <a:xfrm>
              <a:off x="3577390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240;p78">
              <a:extLst>
                <a:ext uri="{FF2B5EF4-FFF2-40B4-BE49-F238E27FC236}">
                  <a16:creationId xmlns:a16="http://schemas.microsoft.com/office/drawing/2014/main" id="{EBF383F4-DFBA-13F2-69A2-A52F558772C3}"/>
                </a:ext>
              </a:extLst>
            </p:cNvPr>
            <p:cNvSpPr/>
            <p:nvPr/>
          </p:nvSpPr>
          <p:spPr>
            <a:xfrm>
              <a:off x="3732358" y="1593032"/>
              <a:ext cx="71294" cy="62255"/>
            </a:xfrm>
            <a:custGeom>
              <a:avLst/>
              <a:gdLst/>
              <a:ahLst/>
              <a:cxnLst/>
              <a:rect l="l" t="t" r="r" b="b"/>
              <a:pathLst>
                <a:path w="2240" h="1956" extrusionOk="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6CDC330-DCAF-CEFC-6492-F6F141422CD0}"/>
              </a:ext>
            </a:extLst>
          </p:cNvPr>
          <p:cNvSpPr txBox="1"/>
          <p:nvPr/>
        </p:nvSpPr>
        <p:spPr>
          <a:xfrm>
            <a:off x="793004" y="4469940"/>
            <a:ext cx="4588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Το θρεπτικό περιβάλλον επηρεάζει την προβλεπόμενη μεταβολική απόδοση του </a:t>
            </a:r>
            <a:r>
              <a:rPr lang="en-US" dirty="0">
                <a:solidFill>
                  <a:schemeClr val="tx1"/>
                </a:solidFill>
              </a:rPr>
              <a:t>iML1515</a:t>
            </a:r>
            <a:endParaRPr lang="el-G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28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>
          <a:extLst>
            <a:ext uri="{FF2B5EF4-FFF2-40B4-BE49-F238E27FC236}">
              <a16:creationId xmlns:a16="http://schemas.microsoft.com/office/drawing/2014/main" id="{4E790850-58D4-6DB9-21FF-7FA867B5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39">
            <a:extLst>
              <a:ext uri="{FF2B5EF4-FFF2-40B4-BE49-F238E27FC236}">
                <a16:creationId xmlns:a16="http://schemas.microsoft.com/office/drawing/2014/main" id="{6722E1D5-731D-1445-E0F0-A15E7C0CB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4286" y="128425"/>
            <a:ext cx="627777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sz="2400" dirty="0"/>
              <a:t>Ενεργές ροές και Αποκλεισμένες αντιδράσεις στο iML1515</a:t>
            </a:r>
            <a:endParaRPr sz="2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F6C75A-EE9D-21B2-E061-83982E956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64810"/>
              </p:ext>
            </p:extLst>
          </p:nvPr>
        </p:nvGraphicFramePr>
        <p:xfrm>
          <a:off x="842074" y="1082189"/>
          <a:ext cx="3660184" cy="2873188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3660184">
                  <a:extLst>
                    <a:ext uri="{9D8B030D-6E8A-4147-A177-3AD203B41FA5}">
                      <a16:colId xmlns:a16="http://schemas.microsoft.com/office/drawing/2014/main" val="3017340854"/>
                    </a:ext>
                  </a:extLst>
                </a:gridCol>
              </a:tblGrid>
              <a:tr h="382401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solidFill>
                            <a:schemeClr val="bg2"/>
                          </a:solidFill>
                        </a:rPr>
                        <a:t>Ενεργές Ροές</a:t>
                      </a:r>
                    </a:p>
                  </a:txBody>
                  <a:tcPr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973537"/>
                  </a:ext>
                </a:extLst>
              </a:tr>
              <a:tr h="2007030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970420"/>
                  </a:ext>
                </a:extLst>
              </a:tr>
              <a:tr h="483757">
                <a:tc>
                  <a:txBody>
                    <a:bodyPr/>
                    <a:lstStyle/>
                    <a:p>
                      <a:pPr algn="ctr"/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Η διαφορά δεν αφορά μόνο το πόσες αντιδράσεις είναι ενεργές, αλλά και </a:t>
                      </a:r>
                      <a:r>
                        <a:rPr lang="el-GR" sz="1100" b="1" dirty="0">
                          <a:solidFill>
                            <a:schemeClr val="tx1"/>
                          </a:solidFill>
                        </a:rPr>
                        <a:t>πώς κατανέμεται η ροή</a:t>
                      </a:r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 στο δίκτυο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1729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801997C-CFC6-DC1F-208E-4A22D4F41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757" y="1547197"/>
            <a:ext cx="2514818" cy="11812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DD0A9A-BC73-85A5-4836-B6798A0BDE6C}"/>
              </a:ext>
            </a:extLst>
          </p:cNvPr>
          <p:cNvSpPr txBox="1"/>
          <p:nvPr/>
        </p:nvSpPr>
        <p:spPr>
          <a:xfrm>
            <a:off x="1230823" y="2728399"/>
            <a:ext cx="28826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solidFill>
                  <a:schemeClr val="tx1"/>
                </a:solidFill>
              </a:rPr>
              <a:t>Παρέμειναν σχετικά σταθερές στις περισσότερες συνθήκες</a:t>
            </a:r>
          </a:p>
          <a:p>
            <a:pPr algn="ctr"/>
            <a:r>
              <a:rPr lang="el-GR" sz="1600" b="1" dirty="0">
                <a:solidFill>
                  <a:schemeClr val="tx1"/>
                </a:solidFill>
              </a:rPr>
              <a:t>  ≈ 430 - 436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1454AF1-F319-96F2-31A7-B531086C3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541047"/>
              </p:ext>
            </p:extLst>
          </p:nvPr>
        </p:nvGraphicFramePr>
        <p:xfrm>
          <a:off x="4874064" y="1082189"/>
          <a:ext cx="3660184" cy="2873188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3660184">
                  <a:extLst>
                    <a:ext uri="{9D8B030D-6E8A-4147-A177-3AD203B41FA5}">
                      <a16:colId xmlns:a16="http://schemas.microsoft.com/office/drawing/2014/main" val="3017340854"/>
                    </a:ext>
                  </a:extLst>
                </a:gridCol>
              </a:tblGrid>
              <a:tr h="382401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solidFill>
                            <a:schemeClr val="bg2"/>
                          </a:solidFill>
                        </a:rPr>
                        <a:t>Αποκλεισμένες αντιδράσεις</a:t>
                      </a:r>
                    </a:p>
                  </a:txBody>
                  <a:tcPr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973537"/>
                  </a:ext>
                </a:extLst>
              </a:tr>
              <a:tr h="2007030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970420"/>
                  </a:ext>
                </a:extLst>
              </a:tr>
              <a:tr h="483757">
                <a:tc>
                  <a:txBody>
                    <a:bodyPr/>
                    <a:lstStyle/>
                    <a:p>
                      <a:pPr algn="ctr"/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Η απουσία οξυγόνου μειώνει τον διαθέσιμο μεταβολικό χώρο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17297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27D1E275-29E9-8D57-4B67-D455182DB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372" y="1547197"/>
            <a:ext cx="1951692" cy="11514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396AB1E-04E1-A577-B2F6-406F3629B01D}"/>
              </a:ext>
            </a:extLst>
          </p:cNvPr>
          <p:cNvSpPr txBox="1"/>
          <p:nvPr/>
        </p:nvSpPr>
        <p:spPr>
          <a:xfrm>
            <a:off x="5324875" y="2851509"/>
            <a:ext cx="28826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solidFill>
                  <a:schemeClr val="tx1"/>
                </a:solidFill>
              </a:rPr>
              <a:t>Η </a:t>
            </a:r>
            <a:r>
              <a:rPr lang="el-GR" sz="1100" u="sng" dirty="0">
                <a:solidFill>
                  <a:schemeClr val="tx1"/>
                </a:solidFill>
              </a:rPr>
              <a:t>αναερόβια γλυκόζη </a:t>
            </a:r>
            <a:r>
              <a:rPr lang="el-GR" sz="1100" dirty="0">
                <a:solidFill>
                  <a:schemeClr val="tx1"/>
                </a:solidFill>
              </a:rPr>
              <a:t>εμφάνισε τον μεγαλύτερο περιορισμό</a:t>
            </a:r>
            <a:endParaRPr lang="el-GR" sz="1600" b="1" dirty="0">
              <a:solidFill>
                <a:schemeClr val="tx1"/>
              </a:solidFill>
            </a:endParaRPr>
          </a:p>
        </p:txBody>
      </p:sp>
      <p:grpSp>
        <p:nvGrpSpPr>
          <p:cNvPr id="28" name="Google Shape;11227;p78">
            <a:extLst>
              <a:ext uri="{FF2B5EF4-FFF2-40B4-BE49-F238E27FC236}">
                <a16:creationId xmlns:a16="http://schemas.microsoft.com/office/drawing/2014/main" id="{15AACA88-BA4A-125D-D76F-6DBE90F4FD44}"/>
              </a:ext>
            </a:extLst>
          </p:cNvPr>
          <p:cNvGrpSpPr/>
          <p:nvPr/>
        </p:nvGrpSpPr>
        <p:grpSpPr>
          <a:xfrm>
            <a:off x="371608" y="4526995"/>
            <a:ext cx="350166" cy="349434"/>
            <a:chOff x="3541011" y="1508594"/>
            <a:chExt cx="350166" cy="349434"/>
          </a:xfrm>
          <a:solidFill>
            <a:schemeClr val="tx1"/>
          </a:solidFill>
        </p:grpSpPr>
        <p:sp>
          <p:nvSpPr>
            <p:cNvPr id="29" name="Google Shape;11228;p78">
              <a:extLst>
                <a:ext uri="{FF2B5EF4-FFF2-40B4-BE49-F238E27FC236}">
                  <a16:creationId xmlns:a16="http://schemas.microsoft.com/office/drawing/2014/main" id="{70EA0A43-0BBD-3C0F-B5F2-9CC15432B09C}"/>
                </a:ext>
              </a:extLst>
            </p:cNvPr>
            <p:cNvSpPr/>
            <p:nvPr/>
          </p:nvSpPr>
          <p:spPr>
            <a:xfrm>
              <a:off x="3600879" y="1568270"/>
              <a:ext cx="230049" cy="289758"/>
            </a:xfrm>
            <a:custGeom>
              <a:avLst/>
              <a:gdLst/>
              <a:ahLst/>
              <a:cxnLst/>
              <a:rect l="l" t="t" r="r" b="b"/>
              <a:pathLst>
                <a:path w="7228" h="9104" extrusionOk="0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229;p78">
              <a:extLst>
                <a:ext uri="{FF2B5EF4-FFF2-40B4-BE49-F238E27FC236}">
                  <a16:creationId xmlns:a16="http://schemas.microsoft.com/office/drawing/2014/main" id="{5DD1006C-01B2-7E53-2D70-851ECBF285BA}"/>
                </a:ext>
              </a:extLst>
            </p:cNvPr>
            <p:cNvSpPr/>
            <p:nvPr/>
          </p:nvSpPr>
          <p:spPr>
            <a:xfrm>
              <a:off x="3541011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230;p78">
              <a:extLst>
                <a:ext uri="{FF2B5EF4-FFF2-40B4-BE49-F238E27FC236}">
                  <a16:creationId xmlns:a16="http://schemas.microsoft.com/office/drawing/2014/main" id="{3B80DADE-5BB5-C515-F9A9-39AB40CEA0CA}"/>
                </a:ext>
              </a:extLst>
            </p:cNvPr>
            <p:cNvSpPr/>
            <p:nvPr/>
          </p:nvSpPr>
          <p:spPr>
            <a:xfrm>
              <a:off x="3842259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231;p78">
              <a:extLst>
                <a:ext uri="{FF2B5EF4-FFF2-40B4-BE49-F238E27FC236}">
                  <a16:creationId xmlns:a16="http://schemas.microsoft.com/office/drawing/2014/main" id="{F858E84D-4CA9-07CE-B02F-F87E52F91DC4}"/>
                </a:ext>
              </a:extLst>
            </p:cNvPr>
            <p:cNvSpPr/>
            <p:nvPr/>
          </p:nvSpPr>
          <p:spPr>
            <a:xfrm>
              <a:off x="3711161" y="1508594"/>
              <a:ext cx="10248" cy="48537"/>
            </a:xfrm>
            <a:custGeom>
              <a:avLst/>
              <a:gdLst/>
              <a:ahLst/>
              <a:cxnLst/>
              <a:rect l="l" t="t" r="r" b="b"/>
              <a:pathLst>
                <a:path w="322" h="1525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232;p78">
              <a:extLst>
                <a:ext uri="{FF2B5EF4-FFF2-40B4-BE49-F238E27FC236}">
                  <a16:creationId xmlns:a16="http://schemas.microsoft.com/office/drawing/2014/main" id="{D32BFEE2-E8E7-530B-03C2-EFE46B78807C}"/>
                </a:ext>
              </a:extLst>
            </p:cNvPr>
            <p:cNvSpPr/>
            <p:nvPr/>
          </p:nvSpPr>
          <p:spPr>
            <a:xfrm>
              <a:off x="3633470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233;p78">
              <a:extLst>
                <a:ext uri="{FF2B5EF4-FFF2-40B4-BE49-F238E27FC236}">
                  <a16:creationId xmlns:a16="http://schemas.microsoft.com/office/drawing/2014/main" id="{6D89FC52-1A6D-C857-4C5D-6C3CB1D5A32A}"/>
                </a:ext>
              </a:extLst>
            </p:cNvPr>
            <p:cNvSpPr/>
            <p:nvPr/>
          </p:nvSpPr>
          <p:spPr>
            <a:xfrm>
              <a:off x="3775962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234;p78">
              <a:extLst>
                <a:ext uri="{FF2B5EF4-FFF2-40B4-BE49-F238E27FC236}">
                  <a16:creationId xmlns:a16="http://schemas.microsoft.com/office/drawing/2014/main" id="{0A537658-659C-9E3A-F8DB-3AC5FA957E6D}"/>
                </a:ext>
              </a:extLst>
            </p:cNvPr>
            <p:cNvSpPr/>
            <p:nvPr/>
          </p:nvSpPr>
          <p:spPr>
            <a:xfrm>
              <a:off x="3577390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235;p78">
              <a:extLst>
                <a:ext uri="{FF2B5EF4-FFF2-40B4-BE49-F238E27FC236}">
                  <a16:creationId xmlns:a16="http://schemas.microsoft.com/office/drawing/2014/main" id="{B2A7FAE6-1AFC-01CE-801E-B47FD3326277}"/>
                </a:ext>
              </a:extLst>
            </p:cNvPr>
            <p:cNvSpPr/>
            <p:nvPr/>
          </p:nvSpPr>
          <p:spPr>
            <a:xfrm>
              <a:off x="3823703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236;p78">
              <a:extLst>
                <a:ext uri="{FF2B5EF4-FFF2-40B4-BE49-F238E27FC236}">
                  <a16:creationId xmlns:a16="http://schemas.microsoft.com/office/drawing/2014/main" id="{4E2F9AB3-0EFC-A584-A03E-CC62BED4E71E}"/>
                </a:ext>
              </a:extLst>
            </p:cNvPr>
            <p:cNvSpPr/>
            <p:nvPr/>
          </p:nvSpPr>
          <p:spPr>
            <a:xfrm>
              <a:off x="3775962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37;p78">
              <a:extLst>
                <a:ext uri="{FF2B5EF4-FFF2-40B4-BE49-F238E27FC236}">
                  <a16:creationId xmlns:a16="http://schemas.microsoft.com/office/drawing/2014/main" id="{58B8DA5F-89D7-C3D4-069D-9B5E9E54F245}"/>
                </a:ext>
              </a:extLst>
            </p:cNvPr>
            <p:cNvSpPr/>
            <p:nvPr/>
          </p:nvSpPr>
          <p:spPr>
            <a:xfrm>
              <a:off x="3633470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38;p78">
              <a:extLst>
                <a:ext uri="{FF2B5EF4-FFF2-40B4-BE49-F238E27FC236}">
                  <a16:creationId xmlns:a16="http://schemas.microsoft.com/office/drawing/2014/main" id="{C28C45F7-41D8-F6B5-47FA-C4B7BB60C9D7}"/>
                </a:ext>
              </a:extLst>
            </p:cNvPr>
            <p:cNvSpPr/>
            <p:nvPr/>
          </p:nvSpPr>
          <p:spPr>
            <a:xfrm>
              <a:off x="3823703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39;p78">
              <a:extLst>
                <a:ext uri="{FF2B5EF4-FFF2-40B4-BE49-F238E27FC236}">
                  <a16:creationId xmlns:a16="http://schemas.microsoft.com/office/drawing/2014/main" id="{6999816E-D7CE-5816-9020-01FC9128AF11}"/>
                </a:ext>
              </a:extLst>
            </p:cNvPr>
            <p:cNvSpPr/>
            <p:nvPr/>
          </p:nvSpPr>
          <p:spPr>
            <a:xfrm>
              <a:off x="3577390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240;p78">
              <a:extLst>
                <a:ext uri="{FF2B5EF4-FFF2-40B4-BE49-F238E27FC236}">
                  <a16:creationId xmlns:a16="http://schemas.microsoft.com/office/drawing/2014/main" id="{6CCA2D59-62F2-24A5-5817-761D00798056}"/>
                </a:ext>
              </a:extLst>
            </p:cNvPr>
            <p:cNvSpPr/>
            <p:nvPr/>
          </p:nvSpPr>
          <p:spPr>
            <a:xfrm>
              <a:off x="3732358" y="1593032"/>
              <a:ext cx="71294" cy="62255"/>
            </a:xfrm>
            <a:custGeom>
              <a:avLst/>
              <a:gdLst/>
              <a:ahLst/>
              <a:cxnLst/>
              <a:rect l="l" t="t" r="r" b="b"/>
              <a:pathLst>
                <a:path w="2240" h="1956" extrusionOk="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A240286-94C1-C2BE-2DA7-218C1DB13D1C}"/>
              </a:ext>
            </a:extLst>
          </p:cNvPr>
          <p:cNvSpPr txBox="1"/>
          <p:nvPr/>
        </p:nvSpPr>
        <p:spPr>
          <a:xfrm>
            <a:off x="793004" y="4469940"/>
            <a:ext cx="4588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Το θρεπτικό περιβάλλον επηρεάζει και τη λειτουργική οργάνωση του μεταβολικού δικτύου.</a:t>
            </a:r>
          </a:p>
        </p:txBody>
      </p:sp>
    </p:spTree>
    <p:extLst>
      <p:ext uri="{BB962C8B-B14F-4D97-AF65-F5344CB8AC3E}">
        <p14:creationId xmlns:p14="http://schemas.microsoft.com/office/powerpoint/2010/main" val="439252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40"/>
          <p:cNvSpPr/>
          <p:nvPr/>
        </p:nvSpPr>
        <p:spPr>
          <a:xfrm rot="-5400000">
            <a:off x="352058" y="5320775"/>
            <a:ext cx="126812" cy="109387"/>
          </a:xfrm>
          <a:custGeom>
            <a:avLst/>
            <a:gdLst/>
            <a:ahLst/>
            <a:cxnLst/>
            <a:rect l="l" t="t" r="r" b="b"/>
            <a:pathLst>
              <a:path w="7736" h="6673" extrusionOk="0">
                <a:moveTo>
                  <a:pt x="1937" y="0"/>
                </a:moveTo>
                <a:lnTo>
                  <a:pt x="0" y="3304"/>
                </a:lnTo>
                <a:lnTo>
                  <a:pt x="1937" y="6672"/>
                </a:lnTo>
                <a:lnTo>
                  <a:pt x="5804" y="6672"/>
                </a:lnTo>
                <a:lnTo>
                  <a:pt x="7736" y="3304"/>
                </a:lnTo>
                <a:lnTo>
                  <a:pt x="580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844;p39">
            <a:extLst>
              <a:ext uri="{FF2B5EF4-FFF2-40B4-BE49-F238E27FC236}">
                <a16:creationId xmlns:a16="http://schemas.microsoft.com/office/drawing/2014/main" id="{8BC20586-4EA5-679A-FF67-5049D7C70523}"/>
              </a:ext>
            </a:extLst>
          </p:cNvPr>
          <p:cNvSpPr txBox="1">
            <a:spLocks/>
          </p:cNvSpPr>
          <p:nvPr/>
        </p:nvSpPr>
        <p:spPr>
          <a:xfrm>
            <a:off x="1146571" y="190419"/>
            <a:ext cx="513024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 spc="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l-GR" sz="2400" dirty="0"/>
              <a:t>Κύριες εσωτερικές μεταβολικές ροές στο iML1515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58628-9A27-D69C-2A99-1EF3DD838816}"/>
              </a:ext>
            </a:extLst>
          </p:cNvPr>
          <p:cNvSpPr/>
          <p:nvPr/>
        </p:nvSpPr>
        <p:spPr>
          <a:xfrm>
            <a:off x="697424" y="1387098"/>
            <a:ext cx="2440983" cy="2712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044908-D512-ADAD-7E2B-855003B7F338}"/>
              </a:ext>
            </a:extLst>
          </p:cNvPr>
          <p:cNvSpPr/>
          <p:nvPr/>
        </p:nvSpPr>
        <p:spPr>
          <a:xfrm>
            <a:off x="3351508" y="1387098"/>
            <a:ext cx="2440983" cy="2712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225354-AB34-31F2-C257-42BA2CDF5F69}"/>
              </a:ext>
            </a:extLst>
          </p:cNvPr>
          <p:cNvSpPr/>
          <p:nvPr/>
        </p:nvSpPr>
        <p:spPr>
          <a:xfrm>
            <a:off x="6005592" y="1387098"/>
            <a:ext cx="2440983" cy="27122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grpSp>
        <p:nvGrpSpPr>
          <p:cNvPr id="12" name="Google Shape;2622;p70">
            <a:extLst>
              <a:ext uri="{FF2B5EF4-FFF2-40B4-BE49-F238E27FC236}">
                <a16:creationId xmlns:a16="http://schemas.microsoft.com/office/drawing/2014/main" id="{AAC0BD3B-69E8-65BD-2A84-F85562279DA3}"/>
              </a:ext>
            </a:extLst>
          </p:cNvPr>
          <p:cNvGrpSpPr/>
          <p:nvPr/>
        </p:nvGrpSpPr>
        <p:grpSpPr>
          <a:xfrm>
            <a:off x="1354369" y="1552127"/>
            <a:ext cx="1117610" cy="1098084"/>
            <a:chOff x="4815575" y="1416800"/>
            <a:chExt cx="73750" cy="71400"/>
          </a:xfrm>
          <a:solidFill>
            <a:schemeClr val="bg1">
              <a:lumMod val="25000"/>
            </a:schemeClr>
          </a:solidFill>
        </p:grpSpPr>
        <p:sp>
          <p:nvSpPr>
            <p:cNvPr id="13" name="Google Shape;2623;p70">
              <a:extLst>
                <a:ext uri="{FF2B5EF4-FFF2-40B4-BE49-F238E27FC236}">
                  <a16:creationId xmlns:a16="http://schemas.microsoft.com/office/drawing/2014/main" id="{6F814BBE-3C5B-E6F0-1E31-9E40A8EE7029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24;p70">
              <a:extLst>
                <a:ext uri="{FF2B5EF4-FFF2-40B4-BE49-F238E27FC236}">
                  <a16:creationId xmlns:a16="http://schemas.microsoft.com/office/drawing/2014/main" id="{4B42F2F6-0D59-DCB7-0AB2-24390DE78878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25;p70">
              <a:extLst>
                <a:ext uri="{FF2B5EF4-FFF2-40B4-BE49-F238E27FC236}">
                  <a16:creationId xmlns:a16="http://schemas.microsoft.com/office/drawing/2014/main" id="{396564CF-4B22-D61E-B752-11FCF87C06A7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grp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BD335BB-AA81-A5A4-F03E-C50ACD583651}"/>
              </a:ext>
            </a:extLst>
          </p:cNvPr>
          <p:cNvSpPr txBox="1"/>
          <p:nvPr/>
        </p:nvSpPr>
        <p:spPr>
          <a:xfrm>
            <a:off x="1666168" y="1968017"/>
            <a:ext cx="596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ATP</a:t>
            </a:r>
            <a:endParaRPr lang="el-GR" sz="16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1BB6F-E844-5D7E-2257-714C51D3F0E2}"/>
              </a:ext>
            </a:extLst>
          </p:cNvPr>
          <p:cNvSpPr txBox="1"/>
          <p:nvPr/>
        </p:nvSpPr>
        <p:spPr>
          <a:xfrm>
            <a:off x="1127449" y="2993636"/>
            <a:ext cx="16741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ATPS4rpp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-----------</a:t>
            </a:r>
          </a:p>
          <a:p>
            <a:pPr algn="ctr"/>
            <a:r>
              <a:rPr lang="el-GR" dirty="0">
                <a:solidFill>
                  <a:schemeClr val="tx1"/>
                </a:solidFill>
              </a:rPr>
              <a:t>Παραγωγή </a:t>
            </a:r>
            <a:r>
              <a:rPr lang="en-US" dirty="0">
                <a:solidFill>
                  <a:schemeClr val="tx1"/>
                </a:solidFill>
              </a:rPr>
              <a:t>ATP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9BE651-4D61-463E-EB7D-5E0763B79333}"/>
              </a:ext>
            </a:extLst>
          </p:cNvPr>
          <p:cNvSpPr txBox="1"/>
          <p:nvPr/>
        </p:nvSpPr>
        <p:spPr>
          <a:xfrm>
            <a:off x="3711692" y="2993636"/>
            <a:ext cx="1674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CYTBO3_4pp</a:t>
            </a:r>
            <a:endParaRPr lang="el-GR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----------</a:t>
            </a:r>
          </a:p>
          <a:p>
            <a:pPr algn="ctr"/>
            <a:r>
              <a:rPr lang="el-GR" dirty="0">
                <a:solidFill>
                  <a:schemeClr val="tx1"/>
                </a:solidFill>
              </a:rPr>
              <a:t>Αναπνευστική αλυσίδα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AA43A-F3F1-8959-A6EF-8B335B24CAED}"/>
              </a:ext>
            </a:extLst>
          </p:cNvPr>
          <p:cNvSpPr txBox="1"/>
          <p:nvPr/>
        </p:nvSpPr>
        <p:spPr>
          <a:xfrm>
            <a:off x="6389022" y="2993636"/>
            <a:ext cx="1674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NADH16pp</a:t>
            </a:r>
            <a:endParaRPr lang="el-GR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-----------</a:t>
            </a:r>
          </a:p>
          <a:p>
            <a:pPr algn="ctr"/>
            <a:r>
              <a:rPr lang="el-GR" dirty="0">
                <a:solidFill>
                  <a:schemeClr val="tx1"/>
                </a:solidFill>
              </a:rPr>
              <a:t>Οξειδοαναγωγικός μεταβολισμός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927759-381F-EEA8-FA85-BC5D05CF0AFD}"/>
              </a:ext>
            </a:extLst>
          </p:cNvPr>
          <p:cNvSpPr/>
          <p:nvPr/>
        </p:nvSpPr>
        <p:spPr>
          <a:xfrm>
            <a:off x="6842502" y="1712563"/>
            <a:ext cx="883403" cy="255454"/>
          </a:xfrm>
          <a:prstGeom prst="roundRect">
            <a:avLst/>
          </a:prstGeom>
          <a:solidFill>
            <a:schemeClr val="bg1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NADH</a:t>
            </a:r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8382FE-E36F-DAAF-80C7-56914ECABDCA}"/>
              </a:ext>
            </a:extLst>
          </p:cNvPr>
          <p:cNvSpPr/>
          <p:nvPr/>
        </p:nvSpPr>
        <p:spPr>
          <a:xfrm>
            <a:off x="6842502" y="2316296"/>
            <a:ext cx="883403" cy="255454"/>
          </a:xfrm>
          <a:prstGeom prst="roundRect">
            <a:avLst/>
          </a:prstGeom>
          <a:solidFill>
            <a:schemeClr val="bg1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NAD</a:t>
            </a:r>
            <a:r>
              <a:rPr lang="en-US" baseline="30000" dirty="0">
                <a:solidFill>
                  <a:schemeClr val="bg1"/>
                </a:solidFill>
              </a:rPr>
              <a:t>+</a:t>
            </a:r>
            <a:endParaRPr lang="el-GR" baseline="30000" dirty="0">
              <a:solidFill>
                <a:schemeClr val="bg1"/>
              </a:solidFill>
            </a:endParaRPr>
          </a:p>
        </p:txBody>
      </p:sp>
      <p:sp>
        <p:nvSpPr>
          <p:cNvPr id="27" name="Arrow: Curved Right 26">
            <a:extLst>
              <a:ext uri="{FF2B5EF4-FFF2-40B4-BE49-F238E27FC236}">
                <a16:creationId xmlns:a16="http://schemas.microsoft.com/office/drawing/2014/main" id="{F8684703-2C3F-F33F-8E26-0F05FB5D4F43}"/>
              </a:ext>
            </a:extLst>
          </p:cNvPr>
          <p:cNvSpPr/>
          <p:nvPr/>
        </p:nvSpPr>
        <p:spPr>
          <a:xfrm rot="10647437">
            <a:off x="7806086" y="1762080"/>
            <a:ext cx="387456" cy="75042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3297FBB0-5438-7499-8127-49C71A57FCFE}"/>
              </a:ext>
            </a:extLst>
          </p:cNvPr>
          <p:cNvSpPr/>
          <p:nvPr/>
        </p:nvSpPr>
        <p:spPr>
          <a:xfrm>
            <a:off x="6333308" y="1815153"/>
            <a:ext cx="387456" cy="750428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grpSp>
        <p:nvGrpSpPr>
          <p:cNvPr id="30" name="Google Shape;11227;p78">
            <a:extLst>
              <a:ext uri="{FF2B5EF4-FFF2-40B4-BE49-F238E27FC236}">
                <a16:creationId xmlns:a16="http://schemas.microsoft.com/office/drawing/2014/main" id="{07DDECF9-B6BD-BE2E-6340-4EA1938961D6}"/>
              </a:ext>
            </a:extLst>
          </p:cNvPr>
          <p:cNvGrpSpPr/>
          <p:nvPr/>
        </p:nvGrpSpPr>
        <p:grpSpPr>
          <a:xfrm>
            <a:off x="371608" y="4526995"/>
            <a:ext cx="350166" cy="349434"/>
            <a:chOff x="3541011" y="1508594"/>
            <a:chExt cx="350166" cy="349434"/>
          </a:xfrm>
          <a:solidFill>
            <a:schemeClr val="tx1"/>
          </a:solidFill>
        </p:grpSpPr>
        <p:sp>
          <p:nvSpPr>
            <p:cNvPr id="31" name="Google Shape;11228;p78">
              <a:extLst>
                <a:ext uri="{FF2B5EF4-FFF2-40B4-BE49-F238E27FC236}">
                  <a16:creationId xmlns:a16="http://schemas.microsoft.com/office/drawing/2014/main" id="{A3805BFC-1209-5FBF-CB8F-7170834B9771}"/>
                </a:ext>
              </a:extLst>
            </p:cNvPr>
            <p:cNvSpPr/>
            <p:nvPr/>
          </p:nvSpPr>
          <p:spPr>
            <a:xfrm>
              <a:off x="3600879" y="1568270"/>
              <a:ext cx="230049" cy="289758"/>
            </a:xfrm>
            <a:custGeom>
              <a:avLst/>
              <a:gdLst/>
              <a:ahLst/>
              <a:cxnLst/>
              <a:rect l="l" t="t" r="r" b="b"/>
              <a:pathLst>
                <a:path w="7228" h="9104" extrusionOk="0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229;p78">
              <a:extLst>
                <a:ext uri="{FF2B5EF4-FFF2-40B4-BE49-F238E27FC236}">
                  <a16:creationId xmlns:a16="http://schemas.microsoft.com/office/drawing/2014/main" id="{523E9B9D-7BF1-7C4E-BE61-FBD8117FD2D8}"/>
                </a:ext>
              </a:extLst>
            </p:cNvPr>
            <p:cNvSpPr/>
            <p:nvPr/>
          </p:nvSpPr>
          <p:spPr>
            <a:xfrm>
              <a:off x="3541011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230;p78">
              <a:extLst>
                <a:ext uri="{FF2B5EF4-FFF2-40B4-BE49-F238E27FC236}">
                  <a16:creationId xmlns:a16="http://schemas.microsoft.com/office/drawing/2014/main" id="{A6E2F7A3-62CB-3E13-64CA-A7A813ABC9F1}"/>
                </a:ext>
              </a:extLst>
            </p:cNvPr>
            <p:cNvSpPr/>
            <p:nvPr/>
          </p:nvSpPr>
          <p:spPr>
            <a:xfrm>
              <a:off x="3842259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231;p78">
              <a:extLst>
                <a:ext uri="{FF2B5EF4-FFF2-40B4-BE49-F238E27FC236}">
                  <a16:creationId xmlns:a16="http://schemas.microsoft.com/office/drawing/2014/main" id="{D0DCD294-539E-D28A-FAA1-910638E51F9A}"/>
                </a:ext>
              </a:extLst>
            </p:cNvPr>
            <p:cNvSpPr/>
            <p:nvPr/>
          </p:nvSpPr>
          <p:spPr>
            <a:xfrm>
              <a:off x="3711161" y="1508594"/>
              <a:ext cx="10248" cy="48537"/>
            </a:xfrm>
            <a:custGeom>
              <a:avLst/>
              <a:gdLst/>
              <a:ahLst/>
              <a:cxnLst/>
              <a:rect l="l" t="t" r="r" b="b"/>
              <a:pathLst>
                <a:path w="322" h="1525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232;p78">
              <a:extLst>
                <a:ext uri="{FF2B5EF4-FFF2-40B4-BE49-F238E27FC236}">
                  <a16:creationId xmlns:a16="http://schemas.microsoft.com/office/drawing/2014/main" id="{6D85EC90-F87C-287E-8B6F-E90C0BA59A43}"/>
                </a:ext>
              </a:extLst>
            </p:cNvPr>
            <p:cNvSpPr/>
            <p:nvPr/>
          </p:nvSpPr>
          <p:spPr>
            <a:xfrm>
              <a:off x="3633470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233;p78">
              <a:extLst>
                <a:ext uri="{FF2B5EF4-FFF2-40B4-BE49-F238E27FC236}">
                  <a16:creationId xmlns:a16="http://schemas.microsoft.com/office/drawing/2014/main" id="{2880AF2C-2540-AE7A-6321-A7C34F6E5677}"/>
                </a:ext>
              </a:extLst>
            </p:cNvPr>
            <p:cNvSpPr/>
            <p:nvPr/>
          </p:nvSpPr>
          <p:spPr>
            <a:xfrm>
              <a:off x="3775962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234;p78">
              <a:extLst>
                <a:ext uri="{FF2B5EF4-FFF2-40B4-BE49-F238E27FC236}">
                  <a16:creationId xmlns:a16="http://schemas.microsoft.com/office/drawing/2014/main" id="{B40FA815-6CAF-5515-4421-440EE3206424}"/>
                </a:ext>
              </a:extLst>
            </p:cNvPr>
            <p:cNvSpPr/>
            <p:nvPr/>
          </p:nvSpPr>
          <p:spPr>
            <a:xfrm>
              <a:off x="3577390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35;p78">
              <a:extLst>
                <a:ext uri="{FF2B5EF4-FFF2-40B4-BE49-F238E27FC236}">
                  <a16:creationId xmlns:a16="http://schemas.microsoft.com/office/drawing/2014/main" id="{9AF73AA9-3EB7-7D0F-C60C-46BF4AF275A8}"/>
                </a:ext>
              </a:extLst>
            </p:cNvPr>
            <p:cNvSpPr/>
            <p:nvPr/>
          </p:nvSpPr>
          <p:spPr>
            <a:xfrm>
              <a:off x="3823703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36;p78">
              <a:extLst>
                <a:ext uri="{FF2B5EF4-FFF2-40B4-BE49-F238E27FC236}">
                  <a16:creationId xmlns:a16="http://schemas.microsoft.com/office/drawing/2014/main" id="{0AB8E222-BB28-DEC5-34CA-342EAAA4EE01}"/>
                </a:ext>
              </a:extLst>
            </p:cNvPr>
            <p:cNvSpPr/>
            <p:nvPr/>
          </p:nvSpPr>
          <p:spPr>
            <a:xfrm>
              <a:off x="3775962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37;p78">
              <a:extLst>
                <a:ext uri="{FF2B5EF4-FFF2-40B4-BE49-F238E27FC236}">
                  <a16:creationId xmlns:a16="http://schemas.microsoft.com/office/drawing/2014/main" id="{1720E7A5-45AD-A7F8-56CD-E488431C2281}"/>
                </a:ext>
              </a:extLst>
            </p:cNvPr>
            <p:cNvSpPr/>
            <p:nvPr/>
          </p:nvSpPr>
          <p:spPr>
            <a:xfrm>
              <a:off x="3633470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238;p78">
              <a:extLst>
                <a:ext uri="{FF2B5EF4-FFF2-40B4-BE49-F238E27FC236}">
                  <a16:creationId xmlns:a16="http://schemas.microsoft.com/office/drawing/2014/main" id="{02586523-184B-B3CB-9C33-25593C98C9BE}"/>
                </a:ext>
              </a:extLst>
            </p:cNvPr>
            <p:cNvSpPr/>
            <p:nvPr/>
          </p:nvSpPr>
          <p:spPr>
            <a:xfrm>
              <a:off x="3823703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239;p78">
              <a:extLst>
                <a:ext uri="{FF2B5EF4-FFF2-40B4-BE49-F238E27FC236}">
                  <a16:creationId xmlns:a16="http://schemas.microsoft.com/office/drawing/2014/main" id="{E398B686-7705-316F-E4E7-C765F744E08E}"/>
                </a:ext>
              </a:extLst>
            </p:cNvPr>
            <p:cNvSpPr/>
            <p:nvPr/>
          </p:nvSpPr>
          <p:spPr>
            <a:xfrm>
              <a:off x="3577390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240;p78">
              <a:extLst>
                <a:ext uri="{FF2B5EF4-FFF2-40B4-BE49-F238E27FC236}">
                  <a16:creationId xmlns:a16="http://schemas.microsoft.com/office/drawing/2014/main" id="{C890C5EA-3F71-19FA-0C56-A6670F333076}"/>
                </a:ext>
              </a:extLst>
            </p:cNvPr>
            <p:cNvSpPr/>
            <p:nvPr/>
          </p:nvSpPr>
          <p:spPr>
            <a:xfrm>
              <a:off x="3732358" y="1593032"/>
              <a:ext cx="71294" cy="62255"/>
            </a:xfrm>
            <a:custGeom>
              <a:avLst/>
              <a:gdLst/>
              <a:ahLst/>
              <a:cxnLst/>
              <a:rect l="l" t="t" r="r" b="b"/>
              <a:pathLst>
                <a:path w="2240" h="1956" extrusionOk="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FD95537-6522-0B33-8A57-75310A309F1C}"/>
              </a:ext>
            </a:extLst>
          </p:cNvPr>
          <p:cNvSpPr txBox="1"/>
          <p:nvPr/>
        </p:nvSpPr>
        <p:spPr>
          <a:xfrm>
            <a:off x="793004" y="4469940"/>
            <a:ext cx="5654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Οι υψηλές εσωτερικές ροές δείχνουν ποιες μεταβολικές λειτουργίες χρησιμοποιεί περισσότερο το μοντέλο σε κάθε συνθήκη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C267806-C4B9-93B1-878F-83301382F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001" y="1618643"/>
            <a:ext cx="1611603" cy="1208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41"/>
          <p:cNvSpPr txBox="1">
            <a:spLocks noGrp="1"/>
          </p:cNvSpPr>
          <p:nvPr>
            <p:ph type="title"/>
          </p:nvPr>
        </p:nvSpPr>
        <p:spPr>
          <a:xfrm>
            <a:off x="1467492" y="193729"/>
            <a:ext cx="6209016" cy="5889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l-GR" sz="3200" dirty="0"/>
              <a:t>Σύγκριση iML1515 και iJO1366</a:t>
            </a:r>
            <a:endParaRPr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4259B-EF2E-A5F2-7D8F-7A81DF451724}"/>
              </a:ext>
            </a:extLst>
          </p:cNvPr>
          <p:cNvSpPr txBox="1"/>
          <p:nvPr/>
        </p:nvSpPr>
        <p:spPr>
          <a:xfrm>
            <a:off x="927961" y="893780"/>
            <a:ext cx="7464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l-GR" sz="1300" dirty="0">
                <a:solidFill>
                  <a:schemeClr val="tx1"/>
                </a:solidFill>
              </a:rPr>
              <a:t>Τα δύο μοντέλα αναπαριστούν τον ίδιο οργανισμό, το E. coli, αλλά διαφέρουν ως προς το μέγεθος και τη δομή της μεταβολικής ανακατασκευής.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D07E65-6FE6-24F0-0B66-3D6E2C97C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4" y="1497304"/>
            <a:ext cx="5921176" cy="296058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07C211-1EB5-A7DA-95F5-0069360DD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62121"/>
              </p:ext>
            </p:extLst>
          </p:nvPr>
        </p:nvGraphicFramePr>
        <p:xfrm>
          <a:off x="6230319" y="1599666"/>
          <a:ext cx="2324745" cy="2858226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2324745">
                  <a:extLst>
                    <a:ext uri="{9D8B030D-6E8A-4147-A177-3AD203B41FA5}">
                      <a16:colId xmlns:a16="http://schemas.microsoft.com/office/drawing/2014/main" val="3185298462"/>
                    </a:ext>
                  </a:extLst>
                </a:gridCol>
              </a:tblGrid>
              <a:tr h="952742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588782"/>
                  </a:ext>
                </a:extLst>
              </a:tr>
              <a:tr h="952742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084700"/>
                  </a:ext>
                </a:extLst>
              </a:tr>
              <a:tr h="952742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861424"/>
                  </a:ext>
                </a:extLst>
              </a:tr>
            </a:tbl>
          </a:graphicData>
        </a:graphic>
      </p:graphicFrame>
      <p:grpSp>
        <p:nvGrpSpPr>
          <p:cNvPr id="12" name="Google Shape;13851;p82">
            <a:extLst>
              <a:ext uri="{FF2B5EF4-FFF2-40B4-BE49-F238E27FC236}">
                <a16:creationId xmlns:a16="http://schemas.microsoft.com/office/drawing/2014/main" id="{3330F3F2-5EF6-E60E-F325-7CF396DF6808}"/>
              </a:ext>
            </a:extLst>
          </p:cNvPr>
          <p:cNvGrpSpPr/>
          <p:nvPr/>
        </p:nvGrpSpPr>
        <p:grpSpPr>
          <a:xfrm>
            <a:off x="6390161" y="1852047"/>
            <a:ext cx="367100" cy="377546"/>
            <a:chOff x="4206763" y="2450951"/>
            <a:chExt cx="322151" cy="322374"/>
          </a:xfrm>
          <a:solidFill>
            <a:schemeClr val="bg1">
              <a:lumMod val="25000"/>
            </a:schemeClr>
          </a:solidFill>
        </p:grpSpPr>
        <p:sp>
          <p:nvSpPr>
            <p:cNvPr id="13" name="Google Shape;13852;p82">
              <a:extLst>
                <a:ext uri="{FF2B5EF4-FFF2-40B4-BE49-F238E27FC236}">
                  <a16:creationId xmlns:a16="http://schemas.microsoft.com/office/drawing/2014/main" id="{791EC2BC-FA0E-A6C7-2A16-A13404995705}"/>
                </a:ext>
              </a:extLst>
            </p:cNvPr>
            <p:cNvSpPr/>
            <p:nvPr/>
          </p:nvSpPr>
          <p:spPr>
            <a:xfrm>
              <a:off x="4206763" y="2571650"/>
              <a:ext cx="322151" cy="201675"/>
            </a:xfrm>
            <a:custGeom>
              <a:avLst/>
              <a:gdLst/>
              <a:ahLst/>
              <a:cxnLst/>
              <a:rect l="l" t="t" r="r" b="b"/>
              <a:pathLst>
                <a:path w="10121" h="6336" extrusionOk="0">
                  <a:moveTo>
                    <a:pt x="2691" y="2847"/>
                  </a:moveTo>
                  <a:lnTo>
                    <a:pt x="2691" y="6037"/>
                  </a:lnTo>
                  <a:lnTo>
                    <a:pt x="1393" y="6037"/>
                  </a:lnTo>
                  <a:lnTo>
                    <a:pt x="1393" y="2847"/>
                  </a:lnTo>
                  <a:close/>
                  <a:moveTo>
                    <a:pt x="5703" y="2049"/>
                  </a:moveTo>
                  <a:lnTo>
                    <a:pt x="5703" y="6037"/>
                  </a:lnTo>
                  <a:lnTo>
                    <a:pt x="4406" y="6037"/>
                  </a:lnTo>
                  <a:lnTo>
                    <a:pt x="4406" y="2049"/>
                  </a:lnTo>
                  <a:close/>
                  <a:moveTo>
                    <a:pt x="8704" y="299"/>
                  </a:moveTo>
                  <a:lnTo>
                    <a:pt x="8704" y="6037"/>
                  </a:lnTo>
                  <a:lnTo>
                    <a:pt x="7406" y="6037"/>
                  </a:lnTo>
                  <a:lnTo>
                    <a:pt x="7406" y="299"/>
                  </a:lnTo>
                  <a:close/>
                  <a:moveTo>
                    <a:pt x="7275" y="1"/>
                  </a:moveTo>
                  <a:cubicBezTo>
                    <a:pt x="7192" y="1"/>
                    <a:pt x="7132" y="61"/>
                    <a:pt x="7132" y="156"/>
                  </a:cubicBezTo>
                  <a:lnTo>
                    <a:pt x="7132" y="6037"/>
                  </a:lnTo>
                  <a:lnTo>
                    <a:pt x="6001" y="6037"/>
                  </a:lnTo>
                  <a:lnTo>
                    <a:pt x="6001" y="1894"/>
                  </a:lnTo>
                  <a:cubicBezTo>
                    <a:pt x="6001" y="1811"/>
                    <a:pt x="5941" y="1751"/>
                    <a:pt x="5846" y="1751"/>
                  </a:cubicBezTo>
                  <a:lnTo>
                    <a:pt x="4275" y="1751"/>
                  </a:lnTo>
                  <a:cubicBezTo>
                    <a:pt x="4179" y="1751"/>
                    <a:pt x="4120" y="1811"/>
                    <a:pt x="4120" y="1894"/>
                  </a:cubicBezTo>
                  <a:lnTo>
                    <a:pt x="4120" y="6037"/>
                  </a:lnTo>
                  <a:lnTo>
                    <a:pt x="2989" y="6037"/>
                  </a:lnTo>
                  <a:lnTo>
                    <a:pt x="2989" y="2704"/>
                  </a:lnTo>
                  <a:cubicBezTo>
                    <a:pt x="2989" y="2608"/>
                    <a:pt x="2929" y="2549"/>
                    <a:pt x="2846" y="2549"/>
                  </a:cubicBezTo>
                  <a:lnTo>
                    <a:pt x="1262" y="2549"/>
                  </a:lnTo>
                  <a:cubicBezTo>
                    <a:pt x="1167" y="2549"/>
                    <a:pt x="1119" y="2608"/>
                    <a:pt x="1119" y="2704"/>
                  </a:cubicBezTo>
                  <a:lnTo>
                    <a:pt x="1119" y="6037"/>
                  </a:lnTo>
                  <a:lnTo>
                    <a:pt x="143" y="6037"/>
                  </a:lnTo>
                  <a:cubicBezTo>
                    <a:pt x="60" y="6037"/>
                    <a:pt x="0" y="6097"/>
                    <a:pt x="0" y="6180"/>
                  </a:cubicBezTo>
                  <a:cubicBezTo>
                    <a:pt x="0" y="6276"/>
                    <a:pt x="60" y="6335"/>
                    <a:pt x="143" y="6335"/>
                  </a:cubicBezTo>
                  <a:lnTo>
                    <a:pt x="9966" y="6335"/>
                  </a:lnTo>
                  <a:cubicBezTo>
                    <a:pt x="10061" y="6335"/>
                    <a:pt x="10121" y="6276"/>
                    <a:pt x="10121" y="6180"/>
                  </a:cubicBezTo>
                  <a:cubicBezTo>
                    <a:pt x="10121" y="6109"/>
                    <a:pt x="10049" y="6037"/>
                    <a:pt x="9966" y="6037"/>
                  </a:cubicBezTo>
                  <a:lnTo>
                    <a:pt x="9001" y="6037"/>
                  </a:lnTo>
                  <a:lnTo>
                    <a:pt x="9001" y="156"/>
                  </a:lnTo>
                  <a:cubicBezTo>
                    <a:pt x="9001" y="61"/>
                    <a:pt x="8942" y="1"/>
                    <a:pt x="885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853;p82">
              <a:extLst>
                <a:ext uri="{FF2B5EF4-FFF2-40B4-BE49-F238E27FC236}">
                  <a16:creationId xmlns:a16="http://schemas.microsoft.com/office/drawing/2014/main" id="{B2E1423A-4E5A-38B0-3087-757120954958}"/>
                </a:ext>
              </a:extLst>
            </p:cNvPr>
            <p:cNvSpPr/>
            <p:nvPr/>
          </p:nvSpPr>
          <p:spPr>
            <a:xfrm>
              <a:off x="4210933" y="2450951"/>
              <a:ext cx="308878" cy="185537"/>
            </a:xfrm>
            <a:custGeom>
              <a:avLst/>
              <a:gdLst/>
              <a:ahLst/>
              <a:cxnLst/>
              <a:rect l="l" t="t" r="r" b="b"/>
              <a:pathLst>
                <a:path w="9704" h="5829" extrusionOk="0">
                  <a:moveTo>
                    <a:pt x="9212" y="1"/>
                  </a:moveTo>
                  <a:cubicBezTo>
                    <a:pt x="9189" y="1"/>
                    <a:pt x="9167" y="3"/>
                    <a:pt x="9144" y="7"/>
                  </a:cubicBezTo>
                  <a:lnTo>
                    <a:pt x="7870" y="162"/>
                  </a:lnTo>
                  <a:cubicBezTo>
                    <a:pt x="7620" y="197"/>
                    <a:pt x="7442" y="435"/>
                    <a:pt x="7477" y="685"/>
                  </a:cubicBezTo>
                  <a:cubicBezTo>
                    <a:pt x="7500" y="920"/>
                    <a:pt x="7711" y="1092"/>
                    <a:pt x="7944" y="1092"/>
                  </a:cubicBezTo>
                  <a:cubicBezTo>
                    <a:pt x="7959" y="1092"/>
                    <a:pt x="7974" y="1092"/>
                    <a:pt x="7989" y="1090"/>
                  </a:cubicBezTo>
                  <a:lnTo>
                    <a:pt x="8096" y="1066"/>
                  </a:lnTo>
                  <a:lnTo>
                    <a:pt x="8096" y="1066"/>
                  </a:lnTo>
                  <a:cubicBezTo>
                    <a:pt x="6537" y="2876"/>
                    <a:pt x="4691" y="3805"/>
                    <a:pt x="3382" y="4269"/>
                  </a:cubicBezTo>
                  <a:cubicBezTo>
                    <a:pt x="1739" y="4853"/>
                    <a:pt x="476" y="4912"/>
                    <a:pt x="465" y="4912"/>
                  </a:cubicBezTo>
                  <a:cubicBezTo>
                    <a:pt x="203" y="4924"/>
                    <a:pt x="0" y="5138"/>
                    <a:pt x="12" y="5388"/>
                  </a:cubicBezTo>
                  <a:cubicBezTo>
                    <a:pt x="36" y="5638"/>
                    <a:pt x="226" y="5829"/>
                    <a:pt x="476" y="5829"/>
                  </a:cubicBezTo>
                  <a:lnTo>
                    <a:pt x="488" y="5829"/>
                  </a:lnTo>
                  <a:cubicBezTo>
                    <a:pt x="548" y="5829"/>
                    <a:pt x="1893" y="5793"/>
                    <a:pt x="3667" y="5150"/>
                  </a:cubicBezTo>
                  <a:cubicBezTo>
                    <a:pt x="4656" y="4793"/>
                    <a:pt x="5596" y="4317"/>
                    <a:pt x="6442" y="3745"/>
                  </a:cubicBezTo>
                  <a:cubicBezTo>
                    <a:pt x="6525" y="3710"/>
                    <a:pt x="6537" y="3614"/>
                    <a:pt x="6489" y="3543"/>
                  </a:cubicBezTo>
                  <a:cubicBezTo>
                    <a:pt x="6458" y="3497"/>
                    <a:pt x="6413" y="3471"/>
                    <a:pt x="6365" y="3471"/>
                  </a:cubicBezTo>
                  <a:cubicBezTo>
                    <a:pt x="6339" y="3471"/>
                    <a:pt x="6312" y="3478"/>
                    <a:pt x="6287" y="3495"/>
                  </a:cubicBezTo>
                  <a:cubicBezTo>
                    <a:pt x="5453" y="4067"/>
                    <a:pt x="4537" y="4519"/>
                    <a:pt x="3560" y="4865"/>
                  </a:cubicBezTo>
                  <a:cubicBezTo>
                    <a:pt x="1834" y="5484"/>
                    <a:pt x="536" y="5519"/>
                    <a:pt x="476" y="5531"/>
                  </a:cubicBezTo>
                  <a:cubicBezTo>
                    <a:pt x="393" y="5531"/>
                    <a:pt x="310" y="5460"/>
                    <a:pt x="310" y="5377"/>
                  </a:cubicBezTo>
                  <a:cubicBezTo>
                    <a:pt x="310" y="5281"/>
                    <a:pt x="393" y="5210"/>
                    <a:pt x="476" y="5198"/>
                  </a:cubicBezTo>
                  <a:cubicBezTo>
                    <a:pt x="488" y="5198"/>
                    <a:pt x="1798" y="5150"/>
                    <a:pt x="3489" y="4543"/>
                  </a:cubicBezTo>
                  <a:cubicBezTo>
                    <a:pt x="4894" y="4031"/>
                    <a:pt x="6918" y="3007"/>
                    <a:pt x="8573" y="947"/>
                  </a:cubicBezTo>
                  <a:cubicBezTo>
                    <a:pt x="8664" y="856"/>
                    <a:pt x="8579" y="709"/>
                    <a:pt x="8456" y="709"/>
                  </a:cubicBezTo>
                  <a:cubicBezTo>
                    <a:pt x="8451" y="709"/>
                    <a:pt x="8447" y="709"/>
                    <a:pt x="8442" y="709"/>
                  </a:cubicBezTo>
                  <a:lnTo>
                    <a:pt x="7966" y="769"/>
                  </a:lnTo>
                  <a:cubicBezTo>
                    <a:pt x="7951" y="772"/>
                    <a:pt x="7937" y="774"/>
                    <a:pt x="7924" y="774"/>
                  </a:cubicBezTo>
                  <a:cubicBezTo>
                    <a:pt x="7850" y="774"/>
                    <a:pt x="7797" y="720"/>
                    <a:pt x="7787" y="650"/>
                  </a:cubicBezTo>
                  <a:cubicBezTo>
                    <a:pt x="7751" y="554"/>
                    <a:pt x="7835" y="459"/>
                    <a:pt x="7930" y="447"/>
                  </a:cubicBezTo>
                  <a:lnTo>
                    <a:pt x="9204" y="281"/>
                  </a:lnTo>
                  <a:cubicBezTo>
                    <a:pt x="9210" y="280"/>
                    <a:pt x="9216" y="280"/>
                    <a:pt x="9222" y="280"/>
                  </a:cubicBezTo>
                  <a:cubicBezTo>
                    <a:pt x="9311" y="280"/>
                    <a:pt x="9394" y="358"/>
                    <a:pt x="9394" y="447"/>
                  </a:cubicBezTo>
                  <a:lnTo>
                    <a:pt x="9394" y="1709"/>
                  </a:lnTo>
                  <a:cubicBezTo>
                    <a:pt x="9394" y="1805"/>
                    <a:pt x="9323" y="1876"/>
                    <a:pt x="9228" y="1876"/>
                  </a:cubicBezTo>
                  <a:cubicBezTo>
                    <a:pt x="9132" y="1876"/>
                    <a:pt x="9061" y="1805"/>
                    <a:pt x="9061" y="1709"/>
                  </a:cubicBezTo>
                  <a:lnTo>
                    <a:pt x="9061" y="1328"/>
                  </a:lnTo>
                  <a:cubicBezTo>
                    <a:pt x="9061" y="1269"/>
                    <a:pt x="9025" y="1209"/>
                    <a:pt x="8978" y="1186"/>
                  </a:cubicBezTo>
                  <a:cubicBezTo>
                    <a:pt x="8963" y="1183"/>
                    <a:pt x="8948" y="1181"/>
                    <a:pt x="8932" y="1181"/>
                  </a:cubicBezTo>
                  <a:cubicBezTo>
                    <a:pt x="8882" y="1181"/>
                    <a:pt x="8829" y="1197"/>
                    <a:pt x="8811" y="1233"/>
                  </a:cubicBezTo>
                  <a:cubicBezTo>
                    <a:pt x="8263" y="1924"/>
                    <a:pt x="7620" y="2531"/>
                    <a:pt x="6930" y="3067"/>
                  </a:cubicBezTo>
                  <a:cubicBezTo>
                    <a:pt x="6870" y="3114"/>
                    <a:pt x="6858" y="3210"/>
                    <a:pt x="6906" y="3269"/>
                  </a:cubicBezTo>
                  <a:cubicBezTo>
                    <a:pt x="6936" y="3307"/>
                    <a:pt x="6985" y="3330"/>
                    <a:pt x="7032" y="3330"/>
                  </a:cubicBezTo>
                  <a:cubicBezTo>
                    <a:pt x="7060" y="3330"/>
                    <a:pt x="7086" y="3322"/>
                    <a:pt x="7108" y="3305"/>
                  </a:cubicBezTo>
                  <a:cubicBezTo>
                    <a:pt x="7704" y="2840"/>
                    <a:pt x="8275" y="2305"/>
                    <a:pt x="8775" y="1745"/>
                  </a:cubicBezTo>
                  <a:cubicBezTo>
                    <a:pt x="8799" y="1995"/>
                    <a:pt x="8989" y="2186"/>
                    <a:pt x="9239" y="2186"/>
                  </a:cubicBezTo>
                  <a:cubicBezTo>
                    <a:pt x="9490" y="2186"/>
                    <a:pt x="9704" y="1983"/>
                    <a:pt x="9704" y="1721"/>
                  </a:cubicBezTo>
                  <a:lnTo>
                    <a:pt x="9704" y="459"/>
                  </a:lnTo>
                  <a:cubicBezTo>
                    <a:pt x="9680" y="328"/>
                    <a:pt x="9620" y="209"/>
                    <a:pt x="9513" y="126"/>
                  </a:cubicBezTo>
                  <a:cubicBezTo>
                    <a:pt x="9425" y="47"/>
                    <a:pt x="9319" y="1"/>
                    <a:pt x="921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35BAE6B-6E68-2D0B-AFEF-8235CA756B55}"/>
              </a:ext>
            </a:extLst>
          </p:cNvPr>
          <p:cNvSpPr txBox="1"/>
          <p:nvPr/>
        </p:nvSpPr>
        <p:spPr>
          <a:xfrm>
            <a:off x="6698947" y="1684616"/>
            <a:ext cx="1904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b="1" dirty="0">
                <a:solidFill>
                  <a:schemeClr val="tx1"/>
                </a:solidFill>
              </a:rPr>
              <a:t>iJO1366 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Υψηλότερη αντικειμενική συνάρτηση και στις 7 συνθήκες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6AD16A1E-44B3-9910-2C40-9107E0FABA8A}"/>
              </a:ext>
            </a:extLst>
          </p:cNvPr>
          <p:cNvSpPr/>
          <p:nvPr/>
        </p:nvSpPr>
        <p:spPr>
          <a:xfrm>
            <a:off x="6317042" y="2824400"/>
            <a:ext cx="507716" cy="45834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76FB92A-7F78-5258-3780-1AFD4D1A8413}"/>
              </a:ext>
            </a:extLst>
          </p:cNvPr>
          <p:cNvSpPr/>
          <p:nvPr/>
        </p:nvSpPr>
        <p:spPr>
          <a:xfrm rot="18968500">
            <a:off x="6448405" y="2987702"/>
            <a:ext cx="253098" cy="13173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90A49-A204-7AAE-E1FF-ED2CD3F51A95}"/>
              </a:ext>
            </a:extLst>
          </p:cNvPr>
          <p:cNvSpPr txBox="1"/>
          <p:nvPr/>
        </p:nvSpPr>
        <p:spPr>
          <a:xfrm>
            <a:off x="6746888" y="2623330"/>
            <a:ext cx="1904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b="1" dirty="0">
                <a:solidFill>
                  <a:schemeClr val="tx1"/>
                </a:solidFill>
              </a:rPr>
              <a:t> 53,3%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Μεγαλύτερη σχετική διαφορά στην αναερόβια γλυκόζη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F04CB8-AB32-F01B-AD56-A3E29CF4E862}"/>
              </a:ext>
            </a:extLst>
          </p:cNvPr>
          <p:cNvSpPr txBox="1"/>
          <p:nvPr/>
        </p:nvSpPr>
        <p:spPr>
          <a:xfrm>
            <a:off x="6728349" y="3567792"/>
            <a:ext cx="2117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iML1515</a:t>
            </a:r>
            <a:r>
              <a:rPr lang="en-US" sz="1200" dirty="0">
                <a:solidFill>
                  <a:schemeClr val="tx1"/>
                </a:solidFill>
              </a:rPr>
              <a:t>  </a:t>
            </a:r>
            <a:endParaRPr lang="el-GR" sz="1200" dirty="0">
              <a:solidFill>
                <a:schemeClr val="tx1"/>
              </a:solidFill>
            </a:endParaRP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Περισσότερες αποκλεισμένες αντιδράσεις σε όλες τις συνθήκες</a:t>
            </a:r>
          </a:p>
        </p:txBody>
      </p:sp>
      <p:grpSp>
        <p:nvGrpSpPr>
          <p:cNvPr id="29" name="Google Shape;10499;p76">
            <a:extLst>
              <a:ext uri="{FF2B5EF4-FFF2-40B4-BE49-F238E27FC236}">
                <a16:creationId xmlns:a16="http://schemas.microsoft.com/office/drawing/2014/main" id="{0DAFCB01-517E-B671-DDBC-F6D676B4AFA4}"/>
              </a:ext>
            </a:extLst>
          </p:cNvPr>
          <p:cNvGrpSpPr/>
          <p:nvPr/>
        </p:nvGrpSpPr>
        <p:grpSpPr>
          <a:xfrm>
            <a:off x="6317042" y="3763114"/>
            <a:ext cx="498031" cy="458340"/>
            <a:chOff x="4129482" y="3681059"/>
            <a:chExt cx="355402" cy="354291"/>
          </a:xfrm>
          <a:solidFill>
            <a:schemeClr val="tx1"/>
          </a:solidFill>
        </p:grpSpPr>
        <p:sp>
          <p:nvSpPr>
            <p:cNvPr id="30" name="Google Shape;10500;p76">
              <a:extLst>
                <a:ext uri="{FF2B5EF4-FFF2-40B4-BE49-F238E27FC236}">
                  <a16:creationId xmlns:a16="http://schemas.microsoft.com/office/drawing/2014/main" id="{D9ED6349-1DD0-3386-D039-9E34264DA829}"/>
                </a:ext>
              </a:extLst>
            </p:cNvPr>
            <p:cNvSpPr/>
            <p:nvPr/>
          </p:nvSpPr>
          <p:spPr>
            <a:xfrm>
              <a:off x="4313979" y="3719578"/>
              <a:ext cx="133117" cy="225016"/>
            </a:xfrm>
            <a:custGeom>
              <a:avLst/>
              <a:gdLst/>
              <a:ahLst/>
              <a:cxnLst/>
              <a:rect l="l" t="t" r="r" b="b"/>
              <a:pathLst>
                <a:path w="4192" h="7086" extrusionOk="0">
                  <a:moveTo>
                    <a:pt x="173" y="0"/>
                  </a:moveTo>
                  <a:cubicBezTo>
                    <a:pt x="96" y="0"/>
                    <a:pt x="23" y="68"/>
                    <a:pt x="12" y="156"/>
                  </a:cubicBezTo>
                  <a:cubicBezTo>
                    <a:pt x="0" y="240"/>
                    <a:pt x="72" y="323"/>
                    <a:pt x="167" y="335"/>
                  </a:cubicBezTo>
                  <a:cubicBezTo>
                    <a:pt x="1167" y="418"/>
                    <a:pt x="2108" y="883"/>
                    <a:pt x="2798" y="1633"/>
                  </a:cubicBezTo>
                  <a:cubicBezTo>
                    <a:pt x="3501" y="2383"/>
                    <a:pt x="3870" y="3359"/>
                    <a:pt x="3870" y="4383"/>
                  </a:cubicBezTo>
                  <a:cubicBezTo>
                    <a:pt x="3870" y="5217"/>
                    <a:pt x="3620" y="6002"/>
                    <a:pt x="3156" y="6693"/>
                  </a:cubicBezTo>
                  <a:lnTo>
                    <a:pt x="893" y="4407"/>
                  </a:lnTo>
                  <a:cubicBezTo>
                    <a:pt x="864" y="4377"/>
                    <a:pt x="822" y="4362"/>
                    <a:pt x="779" y="4362"/>
                  </a:cubicBezTo>
                  <a:cubicBezTo>
                    <a:pt x="736" y="4362"/>
                    <a:pt x="691" y="4377"/>
                    <a:pt x="655" y="4407"/>
                  </a:cubicBezTo>
                  <a:cubicBezTo>
                    <a:pt x="596" y="4467"/>
                    <a:pt x="596" y="4574"/>
                    <a:pt x="655" y="4645"/>
                  </a:cubicBezTo>
                  <a:lnTo>
                    <a:pt x="3048" y="7050"/>
                  </a:lnTo>
                  <a:cubicBezTo>
                    <a:pt x="3084" y="7074"/>
                    <a:pt x="3120" y="7086"/>
                    <a:pt x="3167" y="7086"/>
                  </a:cubicBezTo>
                  <a:lnTo>
                    <a:pt x="3179" y="7086"/>
                  </a:lnTo>
                  <a:cubicBezTo>
                    <a:pt x="3227" y="7086"/>
                    <a:pt x="3275" y="7062"/>
                    <a:pt x="3298" y="7026"/>
                  </a:cubicBezTo>
                  <a:cubicBezTo>
                    <a:pt x="3882" y="6252"/>
                    <a:pt x="4191" y="5348"/>
                    <a:pt x="4191" y="4383"/>
                  </a:cubicBezTo>
                  <a:cubicBezTo>
                    <a:pt x="4191" y="3276"/>
                    <a:pt x="3775" y="2228"/>
                    <a:pt x="3036" y="1407"/>
                  </a:cubicBezTo>
                  <a:cubicBezTo>
                    <a:pt x="2286" y="597"/>
                    <a:pt x="1274" y="97"/>
                    <a:pt x="191" y="2"/>
                  </a:cubicBezTo>
                  <a:cubicBezTo>
                    <a:pt x="185" y="1"/>
                    <a:pt x="179" y="0"/>
                    <a:pt x="173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501;p76">
              <a:extLst>
                <a:ext uri="{FF2B5EF4-FFF2-40B4-BE49-F238E27FC236}">
                  <a16:creationId xmlns:a16="http://schemas.microsoft.com/office/drawing/2014/main" id="{D230BEF6-EE8B-BFDC-208A-1CEEBC9C2069}"/>
                </a:ext>
              </a:extLst>
            </p:cNvPr>
            <p:cNvSpPr/>
            <p:nvPr/>
          </p:nvSpPr>
          <p:spPr>
            <a:xfrm>
              <a:off x="4220968" y="3719197"/>
              <a:ext cx="106284" cy="132387"/>
            </a:xfrm>
            <a:custGeom>
              <a:avLst/>
              <a:gdLst/>
              <a:ahLst/>
              <a:cxnLst/>
              <a:rect l="l" t="t" r="r" b="b"/>
              <a:pathLst>
                <a:path w="3347" h="4169" extrusionOk="0">
                  <a:moveTo>
                    <a:pt x="2340" y="1"/>
                  </a:moveTo>
                  <a:cubicBezTo>
                    <a:pt x="2334" y="1"/>
                    <a:pt x="2328" y="1"/>
                    <a:pt x="2322" y="2"/>
                  </a:cubicBezTo>
                  <a:cubicBezTo>
                    <a:pt x="1501" y="73"/>
                    <a:pt x="715" y="371"/>
                    <a:pt x="60" y="883"/>
                  </a:cubicBezTo>
                  <a:cubicBezTo>
                    <a:pt x="12" y="907"/>
                    <a:pt x="0" y="954"/>
                    <a:pt x="0" y="1002"/>
                  </a:cubicBezTo>
                  <a:cubicBezTo>
                    <a:pt x="0" y="1038"/>
                    <a:pt x="12" y="1085"/>
                    <a:pt x="36" y="1133"/>
                  </a:cubicBezTo>
                  <a:lnTo>
                    <a:pt x="3048" y="4121"/>
                  </a:lnTo>
                  <a:cubicBezTo>
                    <a:pt x="3072" y="4157"/>
                    <a:pt x="3120" y="4169"/>
                    <a:pt x="3167" y="4169"/>
                  </a:cubicBezTo>
                  <a:cubicBezTo>
                    <a:pt x="3203" y="4169"/>
                    <a:pt x="3251" y="4157"/>
                    <a:pt x="3287" y="4121"/>
                  </a:cubicBezTo>
                  <a:cubicBezTo>
                    <a:pt x="3346" y="4062"/>
                    <a:pt x="3346" y="3955"/>
                    <a:pt x="3287" y="3883"/>
                  </a:cubicBezTo>
                  <a:lnTo>
                    <a:pt x="429" y="1026"/>
                  </a:lnTo>
                  <a:cubicBezTo>
                    <a:pt x="1001" y="645"/>
                    <a:pt x="1655" y="383"/>
                    <a:pt x="2358" y="323"/>
                  </a:cubicBezTo>
                  <a:cubicBezTo>
                    <a:pt x="2363" y="324"/>
                    <a:pt x="2367" y="324"/>
                    <a:pt x="2372" y="324"/>
                  </a:cubicBezTo>
                  <a:cubicBezTo>
                    <a:pt x="2449" y="324"/>
                    <a:pt x="2512" y="235"/>
                    <a:pt x="2501" y="157"/>
                  </a:cubicBezTo>
                  <a:cubicBezTo>
                    <a:pt x="2479" y="68"/>
                    <a:pt x="2416" y="1"/>
                    <a:pt x="234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502;p76">
              <a:extLst>
                <a:ext uri="{FF2B5EF4-FFF2-40B4-BE49-F238E27FC236}">
                  <a16:creationId xmlns:a16="http://schemas.microsoft.com/office/drawing/2014/main" id="{CB2A9D6D-CA13-365B-7464-78A41A8B581F}"/>
                </a:ext>
              </a:extLst>
            </p:cNvPr>
            <p:cNvSpPr/>
            <p:nvPr/>
          </p:nvSpPr>
          <p:spPr>
            <a:xfrm>
              <a:off x="4167270" y="3772545"/>
              <a:ext cx="226127" cy="225746"/>
            </a:xfrm>
            <a:custGeom>
              <a:avLst/>
              <a:gdLst/>
              <a:ahLst/>
              <a:cxnLst/>
              <a:rect l="l" t="t" r="r" b="b"/>
              <a:pathLst>
                <a:path w="7121" h="7109" extrusionOk="0">
                  <a:moveTo>
                    <a:pt x="1037" y="405"/>
                  </a:moveTo>
                  <a:lnTo>
                    <a:pt x="6704" y="6061"/>
                  </a:lnTo>
                  <a:cubicBezTo>
                    <a:pt x="6013" y="6537"/>
                    <a:pt x="5228" y="6775"/>
                    <a:pt x="4406" y="6775"/>
                  </a:cubicBezTo>
                  <a:cubicBezTo>
                    <a:pt x="2168" y="6775"/>
                    <a:pt x="334" y="4942"/>
                    <a:pt x="334" y="2703"/>
                  </a:cubicBezTo>
                  <a:cubicBezTo>
                    <a:pt x="334" y="1882"/>
                    <a:pt x="572" y="1096"/>
                    <a:pt x="1037" y="405"/>
                  </a:cubicBezTo>
                  <a:close/>
                  <a:moveTo>
                    <a:pt x="1001" y="1"/>
                  </a:moveTo>
                  <a:cubicBezTo>
                    <a:pt x="953" y="1"/>
                    <a:pt x="918" y="36"/>
                    <a:pt x="882" y="60"/>
                  </a:cubicBezTo>
                  <a:cubicBezTo>
                    <a:pt x="298" y="822"/>
                    <a:pt x="1" y="1739"/>
                    <a:pt x="1" y="2703"/>
                  </a:cubicBezTo>
                  <a:cubicBezTo>
                    <a:pt x="1" y="5120"/>
                    <a:pt x="1989" y="7109"/>
                    <a:pt x="4406" y="7109"/>
                  </a:cubicBezTo>
                  <a:cubicBezTo>
                    <a:pt x="5382" y="7109"/>
                    <a:pt x="6287" y="6811"/>
                    <a:pt x="7061" y="6228"/>
                  </a:cubicBezTo>
                  <a:cubicBezTo>
                    <a:pt x="7109" y="6192"/>
                    <a:pt x="7121" y="6156"/>
                    <a:pt x="7121" y="6108"/>
                  </a:cubicBezTo>
                  <a:cubicBezTo>
                    <a:pt x="7121" y="6061"/>
                    <a:pt x="7109" y="6013"/>
                    <a:pt x="7073" y="5978"/>
                  </a:cubicBezTo>
                  <a:lnTo>
                    <a:pt x="1132" y="36"/>
                  </a:lnTo>
                  <a:cubicBezTo>
                    <a:pt x="1096" y="24"/>
                    <a:pt x="1048" y="1"/>
                    <a:pt x="100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503;p76">
              <a:extLst>
                <a:ext uri="{FF2B5EF4-FFF2-40B4-BE49-F238E27FC236}">
                  <a16:creationId xmlns:a16="http://schemas.microsoft.com/office/drawing/2014/main" id="{2ACD163C-C033-D9FF-3859-204528A8A9E7}"/>
                </a:ext>
              </a:extLst>
            </p:cNvPr>
            <p:cNvSpPr/>
            <p:nvPr/>
          </p:nvSpPr>
          <p:spPr>
            <a:xfrm>
              <a:off x="4129482" y="3681059"/>
              <a:ext cx="355402" cy="354291"/>
            </a:xfrm>
            <a:custGeom>
              <a:avLst/>
              <a:gdLst/>
              <a:ahLst/>
              <a:cxnLst/>
              <a:rect l="l" t="t" r="r" b="b"/>
              <a:pathLst>
                <a:path w="11192" h="11157" extrusionOk="0">
                  <a:moveTo>
                    <a:pt x="5596" y="0"/>
                  </a:moveTo>
                  <a:cubicBezTo>
                    <a:pt x="4096" y="0"/>
                    <a:pt x="2703" y="572"/>
                    <a:pt x="1643" y="1631"/>
                  </a:cubicBezTo>
                  <a:cubicBezTo>
                    <a:pt x="584" y="2691"/>
                    <a:pt x="0" y="4096"/>
                    <a:pt x="0" y="5584"/>
                  </a:cubicBezTo>
                  <a:cubicBezTo>
                    <a:pt x="0" y="7013"/>
                    <a:pt x="536" y="8358"/>
                    <a:pt x="1512" y="9406"/>
                  </a:cubicBezTo>
                  <a:cubicBezTo>
                    <a:pt x="2477" y="10430"/>
                    <a:pt x="3786" y="11061"/>
                    <a:pt x="5191" y="11156"/>
                  </a:cubicBezTo>
                  <a:cubicBezTo>
                    <a:pt x="5286" y="11156"/>
                    <a:pt x="5358" y="11097"/>
                    <a:pt x="5382" y="11014"/>
                  </a:cubicBezTo>
                  <a:cubicBezTo>
                    <a:pt x="5382" y="10918"/>
                    <a:pt x="5322" y="10847"/>
                    <a:pt x="5227" y="10835"/>
                  </a:cubicBezTo>
                  <a:cubicBezTo>
                    <a:pt x="3905" y="10740"/>
                    <a:pt x="2667" y="10144"/>
                    <a:pt x="1762" y="9180"/>
                  </a:cubicBezTo>
                  <a:cubicBezTo>
                    <a:pt x="834" y="8192"/>
                    <a:pt x="333" y="6930"/>
                    <a:pt x="333" y="5572"/>
                  </a:cubicBezTo>
                  <a:cubicBezTo>
                    <a:pt x="333" y="4179"/>
                    <a:pt x="881" y="2858"/>
                    <a:pt x="1881" y="1858"/>
                  </a:cubicBezTo>
                  <a:cubicBezTo>
                    <a:pt x="2881" y="858"/>
                    <a:pt x="4203" y="310"/>
                    <a:pt x="5596" y="310"/>
                  </a:cubicBezTo>
                  <a:cubicBezTo>
                    <a:pt x="7001" y="310"/>
                    <a:pt x="8323" y="858"/>
                    <a:pt x="9323" y="1858"/>
                  </a:cubicBezTo>
                  <a:cubicBezTo>
                    <a:pt x="10323" y="2858"/>
                    <a:pt x="10871" y="4179"/>
                    <a:pt x="10871" y="5572"/>
                  </a:cubicBezTo>
                  <a:cubicBezTo>
                    <a:pt x="10871" y="6918"/>
                    <a:pt x="10359" y="8192"/>
                    <a:pt x="9442" y="9180"/>
                  </a:cubicBezTo>
                  <a:cubicBezTo>
                    <a:pt x="8525" y="10144"/>
                    <a:pt x="7299" y="10740"/>
                    <a:pt x="5977" y="10835"/>
                  </a:cubicBezTo>
                  <a:cubicBezTo>
                    <a:pt x="5882" y="10835"/>
                    <a:pt x="5810" y="10918"/>
                    <a:pt x="5822" y="11014"/>
                  </a:cubicBezTo>
                  <a:cubicBezTo>
                    <a:pt x="5822" y="11097"/>
                    <a:pt x="5894" y="11156"/>
                    <a:pt x="5989" y="11156"/>
                  </a:cubicBezTo>
                  <a:lnTo>
                    <a:pt x="6001" y="11156"/>
                  </a:lnTo>
                  <a:cubicBezTo>
                    <a:pt x="7418" y="11061"/>
                    <a:pt x="8727" y="10442"/>
                    <a:pt x="9692" y="9406"/>
                  </a:cubicBezTo>
                  <a:cubicBezTo>
                    <a:pt x="10656" y="8358"/>
                    <a:pt x="11192" y="7013"/>
                    <a:pt x="11192" y="5584"/>
                  </a:cubicBezTo>
                  <a:cubicBezTo>
                    <a:pt x="11192" y="4096"/>
                    <a:pt x="10597" y="2691"/>
                    <a:pt x="9561" y="1631"/>
                  </a:cubicBezTo>
                  <a:cubicBezTo>
                    <a:pt x="8501" y="572"/>
                    <a:pt x="7108" y="0"/>
                    <a:pt x="559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11227;p78">
            <a:extLst>
              <a:ext uri="{FF2B5EF4-FFF2-40B4-BE49-F238E27FC236}">
                <a16:creationId xmlns:a16="http://schemas.microsoft.com/office/drawing/2014/main" id="{79394DF8-8AD1-3F05-203A-5F6D704DA035}"/>
              </a:ext>
            </a:extLst>
          </p:cNvPr>
          <p:cNvGrpSpPr/>
          <p:nvPr/>
        </p:nvGrpSpPr>
        <p:grpSpPr>
          <a:xfrm>
            <a:off x="170130" y="4658731"/>
            <a:ext cx="350166" cy="349434"/>
            <a:chOff x="3541011" y="1508594"/>
            <a:chExt cx="350166" cy="349434"/>
          </a:xfrm>
          <a:solidFill>
            <a:schemeClr val="tx1"/>
          </a:solidFill>
        </p:grpSpPr>
        <p:sp>
          <p:nvSpPr>
            <p:cNvPr id="37" name="Google Shape;11228;p78">
              <a:extLst>
                <a:ext uri="{FF2B5EF4-FFF2-40B4-BE49-F238E27FC236}">
                  <a16:creationId xmlns:a16="http://schemas.microsoft.com/office/drawing/2014/main" id="{FBC04E94-733B-422F-0AD9-ABE3F419C555}"/>
                </a:ext>
              </a:extLst>
            </p:cNvPr>
            <p:cNvSpPr/>
            <p:nvPr/>
          </p:nvSpPr>
          <p:spPr>
            <a:xfrm>
              <a:off x="3600879" y="1568270"/>
              <a:ext cx="230049" cy="289758"/>
            </a:xfrm>
            <a:custGeom>
              <a:avLst/>
              <a:gdLst/>
              <a:ahLst/>
              <a:cxnLst/>
              <a:rect l="l" t="t" r="r" b="b"/>
              <a:pathLst>
                <a:path w="7228" h="9104" extrusionOk="0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29;p78">
              <a:extLst>
                <a:ext uri="{FF2B5EF4-FFF2-40B4-BE49-F238E27FC236}">
                  <a16:creationId xmlns:a16="http://schemas.microsoft.com/office/drawing/2014/main" id="{78A13375-DEF6-B82C-1CC4-AB312F11B3AA}"/>
                </a:ext>
              </a:extLst>
            </p:cNvPr>
            <p:cNvSpPr/>
            <p:nvPr/>
          </p:nvSpPr>
          <p:spPr>
            <a:xfrm>
              <a:off x="3541011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30;p78">
              <a:extLst>
                <a:ext uri="{FF2B5EF4-FFF2-40B4-BE49-F238E27FC236}">
                  <a16:creationId xmlns:a16="http://schemas.microsoft.com/office/drawing/2014/main" id="{D16F8B7A-F555-05D7-B28E-4B5C9C2B35F9}"/>
                </a:ext>
              </a:extLst>
            </p:cNvPr>
            <p:cNvSpPr/>
            <p:nvPr/>
          </p:nvSpPr>
          <p:spPr>
            <a:xfrm>
              <a:off x="3842259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31;p78">
              <a:extLst>
                <a:ext uri="{FF2B5EF4-FFF2-40B4-BE49-F238E27FC236}">
                  <a16:creationId xmlns:a16="http://schemas.microsoft.com/office/drawing/2014/main" id="{DEE95580-D13C-0738-E254-4BA17C18EB75}"/>
                </a:ext>
              </a:extLst>
            </p:cNvPr>
            <p:cNvSpPr/>
            <p:nvPr/>
          </p:nvSpPr>
          <p:spPr>
            <a:xfrm>
              <a:off x="3711161" y="1508594"/>
              <a:ext cx="10248" cy="48537"/>
            </a:xfrm>
            <a:custGeom>
              <a:avLst/>
              <a:gdLst/>
              <a:ahLst/>
              <a:cxnLst/>
              <a:rect l="l" t="t" r="r" b="b"/>
              <a:pathLst>
                <a:path w="322" h="1525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232;p78">
              <a:extLst>
                <a:ext uri="{FF2B5EF4-FFF2-40B4-BE49-F238E27FC236}">
                  <a16:creationId xmlns:a16="http://schemas.microsoft.com/office/drawing/2014/main" id="{BA209405-2A8A-9EA8-2B3B-8359EAC674D6}"/>
                </a:ext>
              </a:extLst>
            </p:cNvPr>
            <p:cNvSpPr/>
            <p:nvPr/>
          </p:nvSpPr>
          <p:spPr>
            <a:xfrm>
              <a:off x="3633470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233;p78">
              <a:extLst>
                <a:ext uri="{FF2B5EF4-FFF2-40B4-BE49-F238E27FC236}">
                  <a16:creationId xmlns:a16="http://schemas.microsoft.com/office/drawing/2014/main" id="{60EF98DC-A6F2-4FC8-E770-4D1757645141}"/>
                </a:ext>
              </a:extLst>
            </p:cNvPr>
            <p:cNvSpPr/>
            <p:nvPr/>
          </p:nvSpPr>
          <p:spPr>
            <a:xfrm>
              <a:off x="3775962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234;p78">
              <a:extLst>
                <a:ext uri="{FF2B5EF4-FFF2-40B4-BE49-F238E27FC236}">
                  <a16:creationId xmlns:a16="http://schemas.microsoft.com/office/drawing/2014/main" id="{BBA573CC-1B48-72B4-4C12-4CF96CCF37BF}"/>
                </a:ext>
              </a:extLst>
            </p:cNvPr>
            <p:cNvSpPr/>
            <p:nvPr/>
          </p:nvSpPr>
          <p:spPr>
            <a:xfrm>
              <a:off x="3577390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235;p78">
              <a:extLst>
                <a:ext uri="{FF2B5EF4-FFF2-40B4-BE49-F238E27FC236}">
                  <a16:creationId xmlns:a16="http://schemas.microsoft.com/office/drawing/2014/main" id="{50887BC7-9515-20BE-8B1B-B7A5C4DA56D5}"/>
                </a:ext>
              </a:extLst>
            </p:cNvPr>
            <p:cNvSpPr/>
            <p:nvPr/>
          </p:nvSpPr>
          <p:spPr>
            <a:xfrm>
              <a:off x="3823703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236;p78">
              <a:extLst>
                <a:ext uri="{FF2B5EF4-FFF2-40B4-BE49-F238E27FC236}">
                  <a16:creationId xmlns:a16="http://schemas.microsoft.com/office/drawing/2014/main" id="{B80C0255-E93F-0A57-81E5-3F29267F01DD}"/>
                </a:ext>
              </a:extLst>
            </p:cNvPr>
            <p:cNvSpPr/>
            <p:nvPr/>
          </p:nvSpPr>
          <p:spPr>
            <a:xfrm>
              <a:off x="3775962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237;p78">
              <a:extLst>
                <a:ext uri="{FF2B5EF4-FFF2-40B4-BE49-F238E27FC236}">
                  <a16:creationId xmlns:a16="http://schemas.microsoft.com/office/drawing/2014/main" id="{3E1B7732-9AF1-91CD-7A6B-7B229DB9EB8B}"/>
                </a:ext>
              </a:extLst>
            </p:cNvPr>
            <p:cNvSpPr/>
            <p:nvPr/>
          </p:nvSpPr>
          <p:spPr>
            <a:xfrm>
              <a:off x="3633470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238;p78">
              <a:extLst>
                <a:ext uri="{FF2B5EF4-FFF2-40B4-BE49-F238E27FC236}">
                  <a16:creationId xmlns:a16="http://schemas.microsoft.com/office/drawing/2014/main" id="{86ED6FEA-B868-4B6D-FCCA-8F9F3CCF9A8F}"/>
                </a:ext>
              </a:extLst>
            </p:cNvPr>
            <p:cNvSpPr/>
            <p:nvPr/>
          </p:nvSpPr>
          <p:spPr>
            <a:xfrm>
              <a:off x="3823703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239;p78">
              <a:extLst>
                <a:ext uri="{FF2B5EF4-FFF2-40B4-BE49-F238E27FC236}">
                  <a16:creationId xmlns:a16="http://schemas.microsoft.com/office/drawing/2014/main" id="{8239B1EC-B2AD-A08F-3888-9F0ECEFF2911}"/>
                </a:ext>
              </a:extLst>
            </p:cNvPr>
            <p:cNvSpPr/>
            <p:nvPr/>
          </p:nvSpPr>
          <p:spPr>
            <a:xfrm>
              <a:off x="3577390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240;p78">
              <a:extLst>
                <a:ext uri="{FF2B5EF4-FFF2-40B4-BE49-F238E27FC236}">
                  <a16:creationId xmlns:a16="http://schemas.microsoft.com/office/drawing/2014/main" id="{0BA574DE-CCC5-8011-73C3-E0D693E32E4F}"/>
                </a:ext>
              </a:extLst>
            </p:cNvPr>
            <p:cNvSpPr/>
            <p:nvPr/>
          </p:nvSpPr>
          <p:spPr>
            <a:xfrm>
              <a:off x="3732358" y="1593032"/>
              <a:ext cx="71294" cy="62255"/>
            </a:xfrm>
            <a:custGeom>
              <a:avLst/>
              <a:gdLst/>
              <a:ahLst/>
              <a:cxnLst/>
              <a:rect l="l" t="t" r="r" b="b"/>
              <a:pathLst>
                <a:path w="2240" h="1956" extrusionOk="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292E2BA1-4229-EDE9-219F-555C77065B3D}"/>
              </a:ext>
            </a:extLst>
          </p:cNvPr>
          <p:cNvSpPr txBox="1"/>
          <p:nvPr/>
        </p:nvSpPr>
        <p:spPr>
          <a:xfrm>
            <a:off x="547573" y="4695332"/>
            <a:ext cx="6139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tx1"/>
                </a:solidFill>
              </a:rPr>
              <a:t>Παρόμοιες ποιοτικές τάσεις, αλλά διαφορετικές ποσοτικές προβλέψεις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50"/>
          <p:cNvSpPr txBox="1">
            <a:spLocks noGrp="1"/>
          </p:cNvSpPr>
          <p:nvPr>
            <p:ph type="title"/>
          </p:nvPr>
        </p:nvSpPr>
        <p:spPr>
          <a:xfrm>
            <a:off x="1150413" y="121950"/>
            <a:ext cx="68431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sz="2400" dirty="0"/>
              <a:t>Βιβλιογραφική σύγκριση με δημοσιευμένα</a:t>
            </a:r>
            <a:r>
              <a:rPr lang="en-US" sz="2400" dirty="0"/>
              <a:t> Fluxomics </a:t>
            </a:r>
            <a:r>
              <a:rPr lang="el-GR" sz="2400" dirty="0"/>
              <a:t>και ¹³C-MFA</a:t>
            </a:r>
            <a:endParaRPr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295F2D-BAF4-BFE7-32DD-9E1275BDC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057899"/>
              </p:ext>
            </p:extLst>
          </p:nvPr>
        </p:nvGraphicFramePr>
        <p:xfrm>
          <a:off x="648346" y="1036072"/>
          <a:ext cx="2342827" cy="3218213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2342827">
                  <a:extLst>
                    <a:ext uri="{9D8B030D-6E8A-4147-A177-3AD203B41FA5}">
                      <a16:colId xmlns:a16="http://schemas.microsoft.com/office/drawing/2014/main" val="3516277303"/>
                    </a:ext>
                  </a:extLst>
                </a:gridCol>
              </a:tblGrid>
              <a:tr h="382023">
                <a:tc>
                  <a:txBody>
                    <a:bodyPr/>
                    <a:lstStyle/>
                    <a:p>
                      <a:pPr algn="ctr"/>
                      <a:r>
                        <a:rPr lang="el-GR" b="1" dirty="0">
                          <a:solidFill>
                            <a:schemeClr val="tx1"/>
                          </a:solidFill>
                        </a:rPr>
                        <a:t>Σκοπός της σύγκρισης</a:t>
                      </a: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11390"/>
                  </a:ext>
                </a:extLst>
              </a:tr>
              <a:tr h="2836190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258848"/>
                  </a:ext>
                </a:extLst>
              </a:tr>
            </a:tbl>
          </a:graphicData>
        </a:graphic>
      </p:graphicFrame>
      <p:sp>
        <p:nvSpPr>
          <p:cNvPr id="6" name="Google Shape;10251;p76">
            <a:extLst>
              <a:ext uri="{FF2B5EF4-FFF2-40B4-BE49-F238E27FC236}">
                <a16:creationId xmlns:a16="http://schemas.microsoft.com/office/drawing/2014/main" id="{9198C1EA-795A-9E48-D9F7-1A2F9966D736}"/>
              </a:ext>
            </a:extLst>
          </p:cNvPr>
          <p:cNvSpPr/>
          <p:nvPr/>
        </p:nvSpPr>
        <p:spPr>
          <a:xfrm>
            <a:off x="792725" y="1637583"/>
            <a:ext cx="357688" cy="357339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208;p78">
            <a:extLst>
              <a:ext uri="{FF2B5EF4-FFF2-40B4-BE49-F238E27FC236}">
                <a16:creationId xmlns:a16="http://schemas.microsoft.com/office/drawing/2014/main" id="{F198A893-F0C6-210F-0405-B06CF4960B4C}"/>
              </a:ext>
            </a:extLst>
          </p:cNvPr>
          <p:cNvSpPr/>
          <p:nvPr/>
        </p:nvSpPr>
        <p:spPr>
          <a:xfrm>
            <a:off x="764085" y="3492380"/>
            <a:ext cx="414967" cy="378970"/>
          </a:xfrm>
          <a:custGeom>
            <a:avLst/>
            <a:gdLst/>
            <a:ahLst/>
            <a:cxnLst/>
            <a:rect l="l" t="t" r="r" b="b"/>
            <a:pathLst>
              <a:path w="13038" h="11907" extrusionOk="0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895;p77">
            <a:extLst>
              <a:ext uri="{FF2B5EF4-FFF2-40B4-BE49-F238E27FC236}">
                <a16:creationId xmlns:a16="http://schemas.microsoft.com/office/drawing/2014/main" id="{54D2A90F-42D6-EC37-A137-9296EE3A9731}"/>
              </a:ext>
            </a:extLst>
          </p:cNvPr>
          <p:cNvSpPr/>
          <p:nvPr/>
        </p:nvSpPr>
        <p:spPr>
          <a:xfrm>
            <a:off x="730327" y="2558690"/>
            <a:ext cx="414967" cy="378970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3764;p82">
            <a:extLst>
              <a:ext uri="{FF2B5EF4-FFF2-40B4-BE49-F238E27FC236}">
                <a16:creationId xmlns:a16="http://schemas.microsoft.com/office/drawing/2014/main" id="{1F8BF5C3-6FF4-4671-E226-54FDD87CE32F}"/>
              </a:ext>
            </a:extLst>
          </p:cNvPr>
          <p:cNvGrpSpPr/>
          <p:nvPr/>
        </p:nvGrpSpPr>
        <p:grpSpPr>
          <a:xfrm>
            <a:off x="903346" y="2638562"/>
            <a:ext cx="357687" cy="378969"/>
            <a:chOff x="4667216" y="2915382"/>
            <a:chExt cx="320273" cy="318395"/>
          </a:xfrm>
        </p:grpSpPr>
        <p:sp>
          <p:nvSpPr>
            <p:cNvPr id="12" name="Google Shape;13765;p82">
              <a:extLst>
                <a:ext uri="{FF2B5EF4-FFF2-40B4-BE49-F238E27FC236}">
                  <a16:creationId xmlns:a16="http://schemas.microsoft.com/office/drawing/2014/main" id="{F6C3F965-B26C-A55B-1064-E378112210BF}"/>
                </a:ext>
              </a:extLst>
            </p:cNvPr>
            <p:cNvSpPr/>
            <p:nvPr/>
          </p:nvSpPr>
          <p:spPr>
            <a:xfrm>
              <a:off x="4686154" y="2938140"/>
              <a:ext cx="166789" cy="163734"/>
            </a:xfrm>
            <a:custGeom>
              <a:avLst/>
              <a:gdLst/>
              <a:ahLst/>
              <a:cxnLst/>
              <a:rect l="l" t="t" r="r" b="b"/>
              <a:pathLst>
                <a:path w="5240" h="5144" extrusionOk="0">
                  <a:moveTo>
                    <a:pt x="2668" y="0"/>
                  </a:moveTo>
                  <a:cubicBezTo>
                    <a:pt x="2013" y="0"/>
                    <a:pt x="1358" y="250"/>
                    <a:pt x="858" y="750"/>
                  </a:cubicBezTo>
                  <a:cubicBezTo>
                    <a:pt x="620" y="989"/>
                    <a:pt x="429" y="1286"/>
                    <a:pt x="298" y="1608"/>
                  </a:cubicBezTo>
                  <a:cubicBezTo>
                    <a:pt x="263" y="1679"/>
                    <a:pt x="298" y="1762"/>
                    <a:pt x="370" y="1798"/>
                  </a:cubicBezTo>
                  <a:cubicBezTo>
                    <a:pt x="388" y="1804"/>
                    <a:pt x="407" y="1807"/>
                    <a:pt x="426" y="1807"/>
                  </a:cubicBezTo>
                  <a:cubicBezTo>
                    <a:pt x="484" y="1807"/>
                    <a:pt x="542" y="1780"/>
                    <a:pt x="560" y="1727"/>
                  </a:cubicBezTo>
                  <a:cubicBezTo>
                    <a:pt x="679" y="1441"/>
                    <a:pt x="846" y="1191"/>
                    <a:pt x="1060" y="977"/>
                  </a:cubicBezTo>
                  <a:cubicBezTo>
                    <a:pt x="1495" y="536"/>
                    <a:pt x="2075" y="316"/>
                    <a:pt x="2656" y="316"/>
                  </a:cubicBezTo>
                  <a:cubicBezTo>
                    <a:pt x="3236" y="316"/>
                    <a:pt x="3817" y="536"/>
                    <a:pt x="4251" y="977"/>
                  </a:cubicBezTo>
                  <a:cubicBezTo>
                    <a:pt x="4692" y="1405"/>
                    <a:pt x="4930" y="1977"/>
                    <a:pt x="4930" y="2584"/>
                  </a:cubicBezTo>
                  <a:cubicBezTo>
                    <a:pt x="4930" y="3191"/>
                    <a:pt x="4692" y="3763"/>
                    <a:pt x="4251" y="4191"/>
                  </a:cubicBezTo>
                  <a:cubicBezTo>
                    <a:pt x="3823" y="4620"/>
                    <a:pt x="3263" y="4858"/>
                    <a:pt x="2644" y="4858"/>
                  </a:cubicBezTo>
                  <a:cubicBezTo>
                    <a:pt x="2037" y="4858"/>
                    <a:pt x="1477" y="4620"/>
                    <a:pt x="1037" y="4191"/>
                  </a:cubicBezTo>
                  <a:cubicBezTo>
                    <a:pt x="536" y="3679"/>
                    <a:pt x="298" y="2989"/>
                    <a:pt x="405" y="2274"/>
                  </a:cubicBezTo>
                  <a:cubicBezTo>
                    <a:pt x="417" y="2191"/>
                    <a:pt x="358" y="2120"/>
                    <a:pt x="286" y="2108"/>
                  </a:cubicBezTo>
                  <a:cubicBezTo>
                    <a:pt x="279" y="2107"/>
                    <a:pt x="272" y="2106"/>
                    <a:pt x="265" y="2106"/>
                  </a:cubicBezTo>
                  <a:cubicBezTo>
                    <a:pt x="191" y="2106"/>
                    <a:pt x="131" y="2162"/>
                    <a:pt x="120" y="2227"/>
                  </a:cubicBezTo>
                  <a:cubicBezTo>
                    <a:pt x="1" y="3024"/>
                    <a:pt x="263" y="3822"/>
                    <a:pt x="846" y="4394"/>
                  </a:cubicBezTo>
                  <a:cubicBezTo>
                    <a:pt x="1334" y="4894"/>
                    <a:pt x="1977" y="5144"/>
                    <a:pt x="2668" y="5144"/>
                  </a:cubicBezTo>
                  <a:cubicBezTo>
                    <a:pt x="3346" y="5144"/>
                    <a:pt x="3989" y="4870"/>
                    <a:pt x="4477" y="4394"/>
                  </a:cubicBezTo>
                  <a:cubicBezTo>
                    <a:pt x="4966" y="3906"/>
                    <a:pt x="5228" y="3263"/>
                    <a:pt x="5228" y="2584"/>
                  </a:cubicBezTo>
                  <a:cubicBezTo>
                    <a:pt x="5239" y="1870"/>
                    <a:pt x="4966" y="1227"/>
                    <a:pt x="4477" y="750"/>
                  </a:cubicBezTo>
                  <a:cubicBezTo>
                    <a:pt x="3977" y="250"/>
                    <a:pt x="3323" y="0"/>
                    <a:pt x="2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766;p82">
              <a:extLst>
                <a:ext uri="{FF2B5EF4-FFF2-40B4-BE49-F238E27FC236}">
                  <a16:creationId xmlns:a16="http://schemas.microsoft.com/office/drawing/2014/main" id="{9E07ADB1-079B-0D79-897A-9CA078E1D135}"/>
                </a:ext>
              </a:extLst>
            </p:cNvPr>
            <p:cNvSpPr/>
            <p:nvPr/>
          </p:nvSpPr>
          <p:spPr>
            <a:xfrm>
              <a:off x="4667216" y="2915382"/>
              <a:ext cx="320273" cy="318395"/>
            </a:xfrm>
            <a:custGeom>
              <a:avLst/>
              <a:gdLst/>
              <a:ahLst/>
              <a:cxnLst/>
              <a:rect l="l" t="t" r="r" b="b"/>
              <a:pathLst>
                <a:path w="10062" h="10003" extrusionOk="0">
                  <a:moveTo>
                    <a:pt x="5668" y="5502"/>
                  </a:moveTo>
                  <a:lnTo>
                    <a:pt x="5977" y="5811"/>
                  </a:lnTo>
                  <a:lnTo>
                    <a:pt x="5799" y="5990"/>
                  </a:lnTo>
                  <a:lnTo>
                    <a:pt x="5489" y="5680"/>
                  </a:lnTo>
                  <a:lnTo>
                    <a:pt x="5584" y="5585"/>
                  </a:lnTo>
                  <a:lnTo>
                    <a:pt x="5668" y="5502"/>
                  </a:lnTo>
                  <a:close/>
                  <a:moveTo>
                    <a:pt x="8347" y="7597"/>
                  </a:moveTo>
                  <a:lnTo>
                    <a:pt x="8501" y="7752"/>
                  </a:lnTo>
                  <a:lnTo>
                    <a:pt x="7739" y="8502"/>
                  </a:lnTo>
                  <a:lnTo>
                    <a:pt x="7585" y="8359"/>
                  </a:lnTo>
                  <a:lnTo>
                    <a:pt x="8347" y="7597"/>
                  </a:lnTo>
                  <a:close/>
                  <a:moveTo>
                    <a:pt x="8704" y="7954"/>
                  </a:moveTo>
                  <a:lnTo>
                    <a:pt x="8894" y="8157"/>
                  </a:lnTo>
                  <a:lnTo>
                    <a:pt x="8132" y="8907"/>
                  </a:lnTo>
                  <a:lnTo>
                    <a:pt x="7989" y="8764"/>
                  </a:lnTo>
                  <a:lnTo>
                    <a:pt x="7942" y="8716"/>
                  </a:lnTo>
                  <a:lnTo>
                    <a:pt x="8704" y="7954"/>
                  </a:lnTo>
                  <a:close/>
                  <a:moveTo>
                    <a:pt x="9097" y="8359"/>
                  </a:moveTo>
                  <a:lnTo>
                    <a:pt x="9621" y="8895"/>
                  </a:lnTo>
                  <a:cubicBezTo>
                    <a:pt x="9728" y="8966"/>
                    <a:pt x="9728" y="9121"/>
                    <a:pt x="9644" y="9228"/>
                  </a:cubicBezTo>
                  <a:lnTo>
                    <a:pt x="9216" y="9657"/>
                  </a:lnTo>
                  <a:cubicBezTo>
                    <a:pt x="9168" y="9699"/>
                    <a:pt x="9109" y="9719"/>
                    <a:pt x="9048" y="9719"/>
                  </a:cubicBezTo>
                  <a:cubicBezTo>
                    <a:pt x="8987" y="9719"/>
                    <a:pt x="8924" y="9699"/>
                    <a:pt x="8871" y="9657"/>
                  </a:cubicBezTo>
                  <a:lnTo>
                    <a:pt x="8335" y="9121"/>
                  </a:lnTo>
                  <a:lnTo>
                    <a:pt x="9097" y="8359"/>
                  </a:lnTo>
                  <a:close/>
                  <a:moveTo>
                    <a:pt x="3282" y="1"/>
                  </a:moveTo>
                  <a:cubicBezTo>
                    <a:pt x="2441" y="1"/>
                    <a:pt x="1602" y="322"/>
                    <a:pt x="965" y="965"/>
                  </a:cubicBezTo>
                  <a:cubicBezTo>
                    <a:pt x="334" y="1584"/>
                    <a:pt x="0" y="2406"/>
                    <a:pt x="0" y="3287"/>
                  </a:cubicBezTo>
                  <a:cubicBezTo>
                    <a:pt x="0" y="4156"/>
                    <a:pt x="334" y="4978"/>
                    <a:pt x="965" y="5609"/>
                  </a:cubicBezTo>
                  <a:cubicBezTo>
                    <a:pt x="1608" y="6240"/>
                    <a:pt x="2441" y="6573"/>
                    <a:pt x="3286" y="6573"/>
                  </a:cubicBezTo>
                  <a:cubicBezTo>
                    <a:pt x="3989" y="6573"/>
                    <a:pt x="4703" y="6347"/>
                    <a:pt x="5275" y="5883"/>
                  </a:cubicBezTo>
                  <a:lnTo>
                    <a:pt x="5608" y="6216"/>
                  </a:lnTo>
                  <a:cubicBezTo>
                    <a:pt x="5477" y="6418"/>
                    <a:pt x="5501" y="6692"/>
                    <a:pt x="5680" y="6871"/>
                  </a:cubicBezTo>
                  <a:lnTo>
                    <a:pt x="6370" y="7561"/>
                  </a:lnTo>
                  <a:cubicBezTo>
                    <a:pt x="6400" y="7585"/>
                    <a:pt x="6436" y="7597"/>
                    <a:pt x="6471" y="7597"/>
                  </a:cubicBezTo>
                  <a:cubicBezTo>
                    <a:pt x="6507" y="7597"/>
                    <a:pt x="6543" y="7585"/>
                    <a:pt x="6573" y="7561"/>
                  </a:cubicBezTo>
                  <a:cubicBezTo>
                    <a:pt x="6632" y="7502"/>
                    <a:pt x="6632" y="7407"/>
                    <a:pt x="6573" y="7347"/>
                  </a:cubicBezTo>
                  <a:lnTo>
                    <a:pt x="5894" y="6668"/>
                  </a:lnTo>
                  <a:cubicBezTo>
                    <a:pt x="5799" y="6573"/>
                    <a:pt x="5799" y="6418"/>
                    <a:pt x="5894" y="6323"/>
                  </a:cubicBezTo>
                  <a:lnTo>
                    <a:pt x="6323" y="5895"/>
                  </a:lnTo>
                  <a:cubicBezTo>
                    <a:pt x="6370" y="5847"/>
                    <a:pt x="6430" y="5811"/>
                    <a:pt x="6489" y="5811"/>
                  </a:cubicBezTo>
                  <a:cubicBezTo>
                    <a:pt x="6549" y="5811"/>
                    <a:pt x="6608" y="5847"/>
                    <a:pt x="6644" y="5895"/>
                  </a:cubicBezTo>
                  <a:lnTo>
                    <a:pt x="8156" y="7395"/>
                  </a:lnTo>
                  <a:lnTo>
                    <a:pt x="7394" y="8157"/>
                  </a:lnTo>
                  <a:lnTo>
                    <a:pt x="6966" y="7716"/>
                  </a:lnTo>
                  <a:cubicBezTo>
                    <a:pt x="6936" y="7686"/>
                    <a:pt x="6897" y="7672"/>
                    <a:pt x="6858" y="7672"/>
                  </a:cubicBezTo>
                  <a:cubicBezTo>
                    <a:pt x="6820" y="7672"/>
                    <a:pt x="6781" y="7686"/>
                    <a:pt x="6751" y="7716"/>
                  </a:cubicBezTo>
                  <a:cubicBezTo>
                    <a:pt x="6692" y="7776"/>
                    <a:pt x="6692" y="7871"/>
                    <a:pt x="6751" y="7930"/>
                  </a:cubicBezTo>
                  <a:lnTo>
                    <a:pt x="8668" y="9847"/>
                  </a:lnTo>
                  <a:cubicBezTo>
                    <a:pt x="8775" y="9955"/>
                    <a:pt x="8906" y="10002"/>
                    <a:pt x="9049" y="10002"/>
                  </a:cubicBezTo>
                  <a:cubicBezTo>
                    <a:pt x="9180" y="10002"/>
                    <a:pt x="9311" y="9955"/>
                    <a:pt x="9418" y="9847"/>
                  </a:cubicBezTo>
                  <a:lnTo>
                    <a:pt x="9847" y="9419"/>
                  </a:lnTo>
                  <a:cubicBezTo>
                    <a:pt x="10061" y="9228"/>
                    <a:pt x="10061" y="8883"/>
                    <a:pt x="9847" y="8669"/>
                  </a:cubicBezTo>
                  <a:lnTo>
                    <a:pt x="6858" y="5680"/>
                  </a:lnTo>
                  <a:cubicBezTo>
                    <a:pt x="6751" y="5573"/>
                    <a:pt x="6620" y="5525"/>
                    <a:pt x="6489" y="5525"/>
                  </a:cubicBezTo>
                  <a:cubicBezTo>
                    <a:pt x="6382" y="5525"/>
                    <a:pt x="6299" y="5561"/>
                    <a:pt x="6204" y="5609"/>
                  </a:cubicBezTo>
                  <a:lnTo>
                    <a:pt x="5870" y="5275"/>
                  </a:lnTo>
                  <a:cubicBezTo>
                    <a:pt x="6144" y="4930"/>
                    <a:pt x="6334" y="4537"/>
                    <a:pt x="6454" y="4097"/>
                  </a:cubicBezTo>
                  <a:cubicBezTo>
                    <a:pt x="6465" y="4025"/>
                    <a:pt x="6430" y="3942"/>
                    <a:pt x="6346" y="3918"/>
                  </a:cubicBezTo>
                  <a:cubicBezTo>
                    <a:pt x="6339" y="3917"/>
                    <a:pt x="6332" y="3916"/>
                    <a:pt x="6324" y="3916"/>
                  </a:cubicBezTo>
                  <a:cubicBezTo>
                    <a:pt x="6258" y="3916"/>
                    <a:pt x="6189" y="3961"/>
                    <a:pt x="6168" y="4025"/>
                  </a:cubicBezTo>
                  <a:cubicBezTo>
                    <a:pt x="6037" y="4537"/>
                    <a:pt x="5775" y="5013"/>
                    <a:pt x="5394" y="5383"/>
                  </a:cubicBezTo>
                  <a:cubicBezTo>
                    <a:pt x="4816" y="5960"/>
                    <a:pt x="4051" y="6249"/>
                    <a:pt x="3285" y="6249"/>
                  </a:cubicBezTo>
                  <a:cubicBezTo>
                    <a:pt x="2519" y="6249"/>
                    <a:pt x="1751" y="5960"/>
                    <a:pt x="1167" y="5383"/>
                  </a:cubicBezTo>
                  <a:cubicBezTo>
                    <a:pt x="608" y="4823"/>
                    <a:pt x="298" y="4073"/>
                    <a:pt x="298" y="3263"/>
                  </a:cubicBezTo>
                  <a:cubicBezTo>
                    <a:pt x="298" y="2466"/>
                    <a:pt x="608" y="1715"/>
                    <a:pt x="1167" y="1156"/>
                  </a:cubicBezTo>
                  <a:cubicBezTo>
                    <a:pt x="1751" y="572"/>
                    <a:pt x="2519" y="281"/>
                    <a:pt x="3285" y="281"/>
                  </a:cubicBezTo>
                  <a:cubicBezTo>
                    <a:pt x="4051" y="281"/>
                    <a:pt x="4816" y="572"/>
                    <a:pt x="5394" y="1156"/>
                  </a:cubicBezTo>
                  <a:cubicBezTo>
                    <a:pt x="6013" y="1763"/>
                    <a:pt x="6323" y="2608"/>
                    <a:pt x="6263" y="3478"/>
                  </a:cubicBezTo>
                  <a:cubicBezTo>
                    <a:pt x="6263" y="3549"/>
                    <a:pt x="6323" y="3620"/>
                    <a:pt x="6394" y="3644"/>
                  </a:cubicBezTo>
                  <a:cubicBezTo>
                    <a:pt x="6465" y="3644"/>
                    <a:pt x="6549" y="3585"/>
                    <a:pt x="6561" y="3501"/>
                  </a:cubicBezTo>
                  <a:cubicBezTo>
                    <a:pt x="6620" y="2549"/>
                    <a:pt x="6275" y="1632"/>
                    <a:pt x="5608" y="965"/>
                  </a:cubicBezTo>
                  <a:cubicBezTo>
                    <a:pt x="4965" y="322"/>
                    <a:pt x="4123" y="1"/>
                    <a:pt x="3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767;p82">
              <a:extLst>
                <a:ext uri="{FF2B5EF4-FFF2-40B4-BE49-F238E27FC236}">
                  <a16:creationId xmlns:a16="http://schemas.microsoft.com/office/drawing/2014/main" id="{7AD81A3E-B37C-23B5-FABE-ACB758599C5A}"/>
                </a:ext>
              </a:extLst>
            </p:cNvPr>
            <p:cNvSpPr/>
            <p:nvPr/>
          </p:nvSpPr>
          <p:spPr>
            <a:xfrm>
              <a:off x="4733899" y="2960772"/>
              <a:ext cx="75469" cy="86546"/>
            </a:xfrm>
            <a:custGeom>
              <a:avLst/>
              <a:gdLst/>
              <a:ahLst/>
              <a:cxnLst/>
              <a:rect l="l" t="t" r="r" b="b"/>
              <a:pathLst>
                <a:path w="2371" h="2719" extrusionOk="0">
                  <a:moveTo>
                    <a:pt x="1218" y="276"/>
                  </a:moveTo>
                  <a:cubicBezTo>
                    <a:pt x="1233" y="276"/>
                    <a:pt x="1248" y="277"/>
                    <a:pt x="1263" y="278"/>
                  </a:cubicBezTo>
                  <a:cubicBezTo>
                    <a:pt x="1703" y="313"/>
                    <a:pt x="2061" y="647"/>
                    <a:pt x="2084" y="1099"/>
                  </a:cubicBezTo>
                  <a:cubicBezTo>
                    <a:pt x="2073" y="1456"/>
                    <a:pt x="1858" y="1802"/>
                    <a:pt x="1537" y="1944"/>
                  </a:cubicBezTo>
                  <a:cubicBezTo>
                    <a:pt x="1430" y="1992"/>
                    <a:pt x="1370" y="2099"/>
                    <a:pt x="1370" y="2218"/>
                  </a:cubicBezTo>
                  <a:cubicBezTo>
                    <a:pt x="1370" y="2313"/>
                    <a:pt x="1275" y="2409"/>
                    <a:pt x="1180" y="2409"/>
                  </a:cubicBezTo>
                  <a:cubicBezTo>
                    <a:pt x="1072" y="2409"/>
                    <a:pt x="989" y="2313"/>
                    <a:pt x="989" y="2218"/>
                  </a:cubicBezTo>
                  <a:cubicBezTo>
                    <a:pt x="989" y="1944"/>
                    <a:pt x="1132" y="1694"/>
                    <a:pt x="1382" y="1587"/>
                  </a:cubicBezTo>
                  <a:cubicBezTo>
                    <a:pt x="1561" y="1504"/>
                    <a:pt x="1680" y="1325"/>
                    <a:pt x="1668" y="1111"/>
                  </a:cubicBezTo>
                  <a:cubicBezTo>
                    <a:pt x="1656" y="873"/>
                    <a:pt x="1465" y="682"/>
                    <a:pt x="1227" y="670"/>
                  </a:cubicBezTo>
                  <a:lnTo>
                    <a:pt x="1191" y="670"/>
                  </a:lnTo>
                  <a:cubicBezTo>
                    <a:pt x="1072" y="670"/>
                    <a:pt x="953" y="706"/>
                    <a:pt x="870" y="801"/>
                  </a:cubicBezTo>
                  <a:cubicBezTo>
                    <a:pt x="763" y="885"/>
                    <a:pt x="715" y="1028"/>
                    <a:pt x="715" y="1159"/>
                  </a:cubicBezTo>
                  <a:cubicBezTo>
                    <a:pt x="715" y="1266"/>
                    <a:pt x="632" y="1349"/>
                    <a:pt x="525" y="1349"/>
                  </a:cubicBezTo>
                  <a:cubicBezTo>
                    <a:pt x="418" y="1349"/>
                    <a:pt x="334" y="1266"/>
                    <a:pt x="334" y="1159"/>
                  </a:cubicBezTo>
                  <a:cubicBezTo>
                    <a:pt x="334" y="920"/>
                    <a:pt x="429" y="682"/>
                    <a:pt x="608" y="516"/>
                  </a:cubicBezTo>
                  <a:cubicBezTo>
                    <a:pt x="775" y="359"/>
                    <a:pt x="995" y="276"/>
                    <a:pt x="1218" y="276"/>
                  </a:cubicBezTo>
                  <a:close/>
                  <a:moveTo>
                    <a:pt x="1163" y="0"/>
                  </a:moveTo>
                  <a:cubicBezTo>
                    <a:pt x="872" y="0"/>
                    <a:pt x="586" y="108"/>
                    <a:pt x="370" y="313"/>
                  </a:cubicBezTo>
                  <a:cubicBezTo>
                    <a:pt x="132" y="539"/>
                    <a:pt x="1" y="849"/>
                    <a:pt x="1" y="1159"/>
                  </a:cubicBezTo>
                  <a:cubicBezTo>
                    <a:pt x="1" y="1432"/>
                    <a:pt x="227" y="1647"/>
                    <a:pt x="489" y="1647"/>
                  </a:cubicBezTo>
                  <a:cubicBezTo>
                    <a:pt x="763" y="1647"/>
                    <a:pt x="989" y="1432"/>
                    <a:pt x="989" y="1159"/>
                  </a:cubicBezTo>
                  <a:cubicBezTo>
                    <a:pt x="989" y="1099"/>
                    <a:pt x="1001" y="1051"/>
                    <a:pt x="1049" y="1028"/>
                  </a:cubicBezTo>
                  <a:cubicBezTo>
                    <a:pt x="1078" y="998"/>
                    <a:pt x="1115" y="977"/>
                    <a:pt x="1161" y="977"/>
                  </a:cubicBezTo>
                  <a:cubicBezTo>
                    <a:pt x="1171" y="977"/>
                    <a:pt x="1181" y="978"/>
                    <a:pt x="1191" y="980"/>
                  </a:cubicBezTo>
                  <a:cubicBezTo>
                    <a:pt x="1287" y="980"/>
                    <a:pt x="1358" y="1075"/>
                    <a:pt x="1370" y="1159"/>
                  </a:cubicBezTo>
                  <a:cubicBezTo>
                    <a:pt x="1370" y="1230"/>
                    <a:pt x="1322" y="1313"/>
                    <a:pt x="1263" y="1337"/>
                  </a:cubicBezTo>
                  <a:cubicBezTo>
                    <a:pt x="930" y="1504"/>
                    <a:pt x="703" y="1849"/>
                    <a:pt x="703" y="2230"/>
                  </a:cubicBezTo>
                  <a:cubicBezTo>
                    <a:pt x="703" y="2504"/>
                    <a:pt x="930" y="2718"/>
                    <a:pt x="1191" y="2718"/>
                  </a:cubicBezTo>
                  <a:cubicBezTo>
                    <a:pt x="1465" y="2718"/>
                    <a:pt x="1680" y="2504"/>
                    <a:pt x="1680" y="2230"/>
                  </a:cubicBezTo>
                  <a:lnTo>
                    <a:pt x="1680" y="2218"/>
                  </a:lnTo>
                  <a:cubicBezTo>
                    <a:pt x="2096" y="2004"/>
                    <a:pt x="2370" y="1563"/>
                    <a:pt x="2334" y="1087"/>
                  </a:cubicBezTo>
                  <a:cubicBezTo>
                    <a:pt x="2311" y="504"/>
                    <a:pt x="1834" y="27"/>
                    <a:pt x="1251" y="4"/>
                  </a:cubicBezTo>
                  <a:cubicBezTo>
                    <a:pt x="1222" y="1"/>
                    <a:pt x="1192" y="0"/>
                    <a:pt x="11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768;p82">
              <a:extLst>
                <a:ext uri="{FF2B5EF4-FFF2-40B4-BE49-F238E27FC236}">
                  <a16:creationId xmlns:a16="http://schemas.microsoft.com/office/drawing/2014/main" id="{CBD3ECA8-6E16-174A-A1D6-F948201AA6A8}"/>
                </a:ext>
              </a:extLst>
            </p:cNvPr>
            <p:cNvSpPr/>
            <p:nvPr/>
          </p:nvSpPr>
          <p:spPr>
            <a:xfrm>
              <a:off x="4755894" y="3048431"/>
              <a:ext cx="31098" cy="32244"/>
            </a:xfrm>
            <a:custGeom>
              <a:avLst/>
              <a:gdLst/>
              <a:ahLst/>
              <a:cxnLst/>
              <a:rect l="l" t="t" r="r" b="b"/>
              <a:pathLst>
                <a:path w="977" h="1013" extrusionOk="0">
                  <a:moveTo>
                    <a:pt x="489" y="298"/>
                  </a:moveTo>
                  <a:cubicBezTo>
                    <a:pt x="596" y="298"/>
                    <a:pt x="679" y="381"/>
                    <a:pt x="679" y="488"/>
                  </a:cubicBezTo>
                  <a:lnTo>
                    <a:pt x="679" y="500"/>
                  </a:lnTo>
                  <a:cubicBezTo>
                    <a:pt x="679" y="607"/>
                    <a:pt x="596" y="702"/>
                    <a:pt x="489" y="702"/>
                  </a:cubicBezTo>
                  <a:cubicBezTo>
                    <a:pt x="381" y="702"/>
                    <a:pt x="298" y="607"/>
                    <a:pt x="298" y="500"/>
                  </a:cubicBezTo>
                  <a:lnTo>
                    <a:pt x="298" y="488"/>
                  </a:lnTo>
                  <a:cubicBezTo>
                    <a:pt x="298" y="381"/>
                    <a:pt x="381" y="298"/>
                    <a:pt x="489" y="298"/>
                  </a:cubicBezTo>
                  <a:close/>
                  <a:moveTo>
                    <a:pt x="489" y="0"/>
                  </a:moveTo>
                  <a:cubicBezTo>
                    <a:pt x="215" y="0"/>
                    <a:pt x="0" y="226"/>
                    <a:pt x="0" y="488"/>
                  </a:cubicBezTo>
                  <a:lnTo>
                    <a:pt x="0" y="524"/>
                  </a:lnTo>
                  <a:cubicBezTo>
                    <a:pt x="0" y="786"/>
                    <a:pt x="215" y="1012"/>
                    <a:pt x="489" y="1012"/>
                  </a:cubicBezTo>
                  <a:cubicBezTo>
                    <a:pt x="751" y="1012"/>
                    <a:pt x="977" y="786"/>
                    <a:pt x="977" y="524"/>
                  </a:cubicBezTo>
                  <a:lnTo>
                    <a:pt x="977" y="488"/>
                  </a:lnTo>
                  <a:cubicBezTo>
                    <a:pt x="977" y="226"/>
                    <a:pt x="751" y="0"/>
                    <a:pt x="48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C9F121B-0453-A74F-19DD-853E9C91BFEB}"/>
              </a:ext>
            </a:extLst>
          </p:cNvPr>
          <p:cNvSpPr txBox="1"/>
          <p:nvPr/>
        </p:nvSpPr>
        <p:spPr>
          <a:xfrm>
            <a:off x="1261033" y="1570579"/>
            <a:ext cx="1673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dirty="0">
                <a:solidFill>
                  <a:schemeClr val="tx1"/>
                </a:solidFill>
              </a:rPr>
              <a:t>Να τοποθετηθούν οι FBA προβλέψεις σε εξωτερικό βιβλιογραφικό πλαίσιο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FDFA66-0C96-4A25-6837-FD99446D63DD}"/>
              </a:ext>
            </a:extLst>
          </p:cNvPr>
          <p:cNvSpPr txBox="1"/>
          <p:nvPr/>
        </p:nvSpPr>
        <p:spPr>
          <a:xfrm>
            <a:off x="1259160" y="2404414"/>
            <a:ext cx="17313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dirty="0">
                <a:solidFill>
                  <a:schemeClr val="tx1"/>
                </a:solidFill>
              </a:rPr>
              <a:t>Να εντοπιστεί ποιες από τις συνθήκες της εργασίας καλύπτονται από δημοσιευμένα πειραματικά δεδομένα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A50590-3E58-A64A-2DA0-6138035B357F}"/>
              </a:ext>
            </a:extLst>
          </p:cNvPr>
          <p:cNvSpPr txBox="1"/>
          <p:nvPr/>
        </p:nvSpPr>
        <p:spPr>
          <a:xfrm>
            <a:off x="1261033" y="3450068"/>
            <a:ext cx="1673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dirty="0">
                <a:solidFill>
                  <a:schemeClr val="tx1"/>
                </a:solidFill>
              </a:rPr>
              <a:t>Να διαχωριστεί η ποιοτική συμφωνία από την άμεση αριθμητική ταύτιση.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l-GR" sz="1000" dirty="0">
                <a:solidFill>
                  <a:schemeClr val="tx1"/>
                </a:solidFill>
              </a:rPr>
              <a:t>FBA ≠ ¹³C-MFA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86C97EB-756B-3186-FA43-F42EA2290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60116"/>
              </p:ext>
            </p:extLst>
          </p:nvPr>
        </p:nvGraphicFramePr>
        <p:xfrm>
          <a:off x="3048000" y="1036072"/>
          <a:ext cx="5724041" cy="2210823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5724041">
                  <a:extLst>
                    <a:ext uri="{9D8B030D-6E8A-4147-A177-3AD203B41FA5}">
                      <a16:colId xmlns:a16="http://schemas.microsoft.com/office/drawing/2014/main" val="1790949168"/>
                    </a:ext>
                  </a:extLst>
                </a:gridCol>
              </a:tblGrid>
              <a:tr h="382023">
                <a:tc>
                  <a:txBody>
                    <a:bodyPr/>
                    <a:lstStyle/>
                    <a:p>
                      <a:pPr algn="ctr"/>
                      <a:r>
                        <a:rPr lang="el-GR" b="1" dirty="0">
                          <a:solidFill>
                            <a:schemeClr val="tx1"/>
                          </a:solidFill>
                        </a:rPr>
                        <a:t>Συγκρίσιμα Δεδομένα</a:t>
                      </a: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4848"/>
                  </a:ext>
                </a:extLst>
              </a:tr>
              <a:tr h="536369">
                <a:tc>
                  <a:txBody>
                    <a:bodyPr/>
                    <a:lstStyle/>
                    <a:p>
                      <a:r>
                        <a:rPr lang="el-GR" sz="1200" b="1" dirty="0">
                          <a:solidFill>
                            <a:schemeClr val="tx1"/>
                          </a:solidFill>
                        </a:rPr>
                        <a:t>Γλυκόζη (αερόβια / αναερόβια)</a:t>
                      </a:r>
                    </a:p>
                    <a:p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Η βιβλιογραφία δείχνει ότι η διαθεσιμότητα οξυγόνου μεταβάλλει έντονα τις μεταβολικές ροές. Αυτό συμφωνεί ποιοτικά με τις FBA προβλέψεις της εργασίας.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53445"/>
                  </a:ext>
                </a:extLst>
              </a:tr>
              <a:tr h="536368">
                <a:tc>
                  <a:txBody>
                    <a:bodyPr/>
                    <a:lstStyle/>
                    <a:p>
                      <a:r>
                        <a:rPr lang="el-GR" sz="1200" b="1" dirty="0">
                          <a:solidFill>
                            <a:schemeClr val="tx1"/>
                          </a:solidFill>
                        </a:rPr>
                        <a:t>Γαλακτόζη (αερόβια)</a:t>
                      </a:r>
                    </a:p>
                    <a:p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Υπήρχε σχετική βιβλιογραφική κάλυψη ως εναλλακτική πηγή άνθρακα στο </a:t>
                      </a:r>
                      <a:r>
                        <a:rPr lang="el-GR" sz="1100" i="1" dirty="0">
                          <a:solidFill>
                            <a:schemeClr val="tx1"/>
                          </a:solidFill>
                        </a:rPr>
                        <a:t>E. coli</a:t>
                      </a:r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. Η συμπεριφορά του μοντέλου ήταν βιολογικά εύλογη και συγκρίσιμη σε ποιοτικό επίπεδο.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174798"/>
                  </a:ext>
                </a:extLst>
              </a:tr>
              <a:tr h="536369">
                <a:tc>
                  <a:txBody>
                    <a:bodyPr/>
                    <a:lstStyle/>
                    <a:p>
                      <a:r>
                        <a:rPr lang="el-GR" sz="1200" b="1" dirty="0">
                          <a:solidFill>
                            <a:schemeClr val="tx1"/>
                          </a:solidFill>
                        </a:rPr>
                        <a:t>Γλυκερόλη</a:t>
                      </a:r>
                    </a:p>
                    <a:p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Η αντιστοίχιση ήταν μερική, επειδή η σχετική μελέτη αφορούσε τροποποιημένο / engineered σύστημα. Επομένως, η σύγκριση ήταν ενδεικτική και όχι άμεση επιβεβαίωση.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05974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4A1E8F-AF41-4E26-D544-472CF862D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100416"/>
              </p:ext>
            </p:extLst>
          </p:nvPr>
        </p:nvGraphicFramePr>
        <p:xfrm>
          <a:off x="3048000" y="3342342"/>
          <a:ext cx="5631051" cy="1300480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2585634">
                  <a:extLst>
                    <a:ext uri="{9D8B030D-6E8A-4147-A177-3AD203B41FA5}">
                      <a16:colId xmlns:a16="http://schemas.microsoft.com/office/drawing/2014/main" val="1963256709"/>
                    </a:ext>
                  </a:extLst>
                </a:gridCol>
                <a:gridCol w="3045417">
                  <a:extLst>
                    <a:ext uri="{9D8B030D-6E8A-4147-A177-3AD203B41FA5}">
                      <a16:colId xmlns:a16="http://schemas.microsoft.com/office/drawing/2014/main" val="552703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Τι ΔΕΝ έγινε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solidFill>
                            <a:schemeClr val="tx1"/>
                          </a:solidFill>
                        </a:rPr>
                        <a:t>Τι πρόσθεσε στην εργασία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79137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Όχι άμεση αριθμητική σύγκριση με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FBA</a:t>
                      </a:r>
                      <a:endParaRPr lang="el-G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Clr>
                          <a:srgbClr val="FF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Όχι εκπαίδευση μοντέλου Μηχανικής Μάθησης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Τεκμηρίωση περιορισμών των διαθέσιμων δεδομένων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endParaRPr lang="el-GR" sz="11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l-GR" sz="1100" dirty="0">
                          <a:solidFill>
                            <a:schemeClr val="tx1"/>
                          </a:solidFill>
                        </a:rPr>
                        <a:t>Γέφυρα προς μελλοντική Μηχανική Μάθηση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677473"/>
                  </a:ext>
                </a:extLst>
              </a:tr>
            </a:tbl>
          </a:graphicData>
        </a:graphic>
      </p:graphicFrame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42505E81-8E5C-F946-E911-AE451AA4EE96}"/>
              </a:ext>
            </a:extLst>
          </p:cNvPr>
          <p:cNvSpPr/>
          <p:nvPr/>
        </p:nvSpPr>
        <p:spPr>
          <a:xfrm>
            <a:off x="3218413" y="3345606"/>
            <a:ext cx="294966" cy="336259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  <a:softEdge rad="12700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grpSp>
        <p:nvGrpSpPr>
          <p:cNvPr id="28" name="Google Shape;2419;p63">
            <a:extLst>
              <a:ext uri="{FF2B5EF4-FFF2-40B4-BE49-F238E27FC236}">
                <a16:creationId xmlns:a16="http://schemas.microsoft.com/office/drawing/2014/main" id="{BC5715B0-D122-3266-8D26-96EDAA2D7CB1}"/>
              </a:ext>
            </a:extLst>
          </p:cNvPr>
          <p:cNvGrpSpPr/>
          <p:nvPr/>
        </p:nvGrpSpPr>
        <p:grpSpPr>
          <a:xfrm>
            <a:off x="5788119" y="3357006"/>
            <a:ext cx="243802" cy="312730"/>
            <a:chOff x="2387584" y="4291042"/>
            <a:chExt cx="270661" cy="317533"/>
          </a:xfrm>
          <a:solidFill>
            <a:schemeClr val="tx1"/>
          </a:solidFill>
        </p:grpSpPr>
        <p:sp>
          <p:nvSpPr>
            <p:cNvPr id="29" name="Google Shape;2420;p63">
              <a:extLst>
                <a:ext uri="{FF2B5EF4-FFF2-40B4-BE49-F238E27FC236}">
                  <a16:creationId xmlns:a16="http://schemas.microsoft.com/office/drawing/2014/main" id="{8564AC3D-754A-ABE3-DBFA-94E0B192AFC0}"/>
                </a:ext>
              </a:extLst>
            </p:cNvPr>
            <p:cNvSpPr/>
            <p:nvPr/>
          </p:nvSpPr>
          <p:spPr>
            <a:xfrm>
              <a:off x="2387584" y="4333372"/>
              <a:ext cx="219418" cy="275203"/>
            </a:xfrm>
            <a:custGeom>
              <a:avLst/>
              <a:gdLst/>
              <a:ahLst/>
              <a:cxnLst/>
              <a:rect l="l" t="t" r="r" b="b"/>
              <a:pathLst>
                <a:path w="14156" h="17755" extrusionOk="0">
                  <a:moveTo>
                    <a:pt x="1294" y="0"/>
                  </a:moveTo>
                  <a:cubicBezTo>
                    <a:pt x="575" y="0"/>
                    <a:pt x="0" y="650"/>
                    <a:pt x="0" y="1369"/>
                  </a:cubicBezTo>
                  <a:lnTo>
                    <a:pt x="0" y="16461"/>
                  </a:lnTo>
                  <a:cubicBezTo>
                    <a:pt x="0" y="17180"/>
                    <a:pt x="575" y="17755"/>
                    <a:pt x="1294" y="17755"/>
                  </a:cubicBezTo>
                  <a:lnTo>
                    <a:pt x="12862" y="17755"/>
                  </a:lnTo>
                  <a:cubicBezTo>
                    <a:pt x="13580" y="17755"/>
                    <a:pt x="14155" y="17180"/>
                    <a:pt x="14155" y="16461"/>
                  </a:cubicBezTo>
                  <a:lnTo>
                    <a:pt x="14155" y="1369"/>
                  </a:lnTo>
                  <a:cubicBezTo>
                    <a:pt x="14155" y="650"/>
                    <a:pt x="13580" y="0"/>
                    <a:pt x="12862" y="0"/>
                  </a:cubicBezTo>
                  <a:lnTo>
                    <a:pt x="12218" y="0"/>
                  </a:lnTo>
                  <a:cubicBezTo>
                    <a:pt x="11999" y="0"/>
                    <a:pt x="11856" y="219"/>
                    <a:pt x="11856" y="363"/>
                  </a:cubicBezTo>
                  <a:cubicBezTo>
                    <a:pt x="11856" y="575"/>
                    <a:pt x="11999" y="719"/>
                    <a:pt x="12218" y="719"/>
                  </a:cubicBezTo>
                  <a:lnTo>
                    <a:pt x="12862" y="719"/>
                  </a:lnTo>
                  <a:cubicBezTo>
                    <a:pt x="13224" y="719"/>
                    <a:pt x="13511" y="1007"/>
                    <a:pt x="13511" y="1369"/>
                  </a:cubicBezTo>
                  <a:lnTo>
                    <a:pt x="13511" y="16461"/>
                  </a:lnTo>
                  <a:cubicBezTo>
                    <a:pt x="13511" y="16817"/>
                    <a:pt x="13224" y="17105"/>
                    <a:pt x="12862" y="17105"/>
                  </a:cubicBezTo>
                  <a:lnTo>
                    <a:pt x="1294" y="17105"/>
                  </a:lnTo>
                  <a:cubicBezTo>
                    <a:pt x="932" y="17105"/>
                    <a:pt x="644" y="16817"/>
                    <a:pt x="644" y="16461"/>
                  </a:cubicBezTo>
                  <a:lnTo>
                    <a:pt x="644" y="1369"/>
                  </a:lnTo>
                  <a:cubicBezTo>
                    <a:pt x="644" y="1007"/>
                    <a:pt x="932" y="719"/>
                    <a:pt x="1294" y="719"/>
                  </a:cubicBezTo>
                  <a:lnTo>
                    <a:pt x="1938" y="719"/>
                  </a:lnTo>
                  <a:cubicBezTo>
                    <a:pt x="2156" y="719"/>
                    <a:pt x="2300" y="575"/>
                    <a:pt x="2300" y="363"/>
                  </a:cubicBezTo>
                  <a:cubicBezTo>
                    <a:pt x="2300" y="219"/>
                    <a:pt x="2156" y="0"/>
                    <a:pt x="193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21;p63">
              <a:extLst>
                <a:ext uri="{FF2B5EF4-FFF2-40B4-BE49-F238E27FC236}">
                  <a16:creationId xmlns:a16="http://schemas.microsoft.com/office/drawing/2014/main" id="{0106D1E6-A3F5-12B4-979F-6A7A098A69F5}"/>
                </a:ext>
              </a:extLst>
            </p:cNvPr>
            <p:cNvSpPr/>
            <p:nvPr/>
          </p:nvSpPr>
          <p:spPr>
            <a:xfrm>
              <a:off x="2624811" y="4346733"/>
              <a:ext cx="33433" cy="241785"/>
            </a:xfrm>
            <a:custGeom>
              <a:avLst/>
              <a:gdLst/>
              <a:ahLst/>
              <a:cxnLst/>
              <a:rect l="l" t="t" r="r" b="b"/>
              <a:pathLst>
                <a:path w="2157" h="15599" extrusionOk="0">
                  <a:moveTo>
                    <a:pt x="1081" y="1438"/>
                  </a:moveTo>
                  <a:lnTo>
                    <a:pt x="1368" y="2444"/>
                  </a:lnTo>
                  <a:lnTo>
                    <a:pt x="719" y="2444"/>
                  </a:lnTo>
                  <a:lnTo>
                    <a:pt x="1081" y="1438"/>
                  </a:lnTo>
                  <a:close/>
                  <a:moveTo>
                    <a:pt x="1512" y="3094"/>
                  </a:moveTo>
                  <a:lnTo>
                    <a:pt x="1512" y="13368"/>
                  </a:lnTo>
                  <a:lnTo>
                    <a:pt x="650" y="13368"/>
                  </a:lnTo>
                  <a:lnTo>
                    <a:pt x="650" y="3094"/>
                  </a:lnTo>
                  <a:close/>
                  <a:moveTo>
                    <a:pt x="1512" y="14018"/>
                  </a:moveTo>
                  <a:lnTo>
                    <a:pt x="1512" y="14737"/>
                  </a:lnTo>
                  <a:cubicBezTo>
                    <a:pt x="1512" y="14880"/>
                    <a:pt x="1368" y="14949"/>
                    <a:pt x="1225" y="14949"/>
                  </a:cubicBezTo>
                  <a:lnTo>
                    <a:pt x="863" y="14949"/>
                  </a:lnTo>
                  <a:cubicBezTo>
                    <a:pt x="719" y="14949"/>
                    <a:pt x="650" y="14880"/>
                    <a:pt x="650" y="14737"/>
                  </a:cubicBezTo>
                  <a:lnTo>
                    <a:pt x="650" y="14018"/>
                  </a:lnTo>
                  <a:close/>
                  <a:moveTo>
                    <a:pt x="1081" y="1"/>
                  </a:moveTo>
                  <a:cubicBezTo>
                    <a:pt x="937" y="1"/>
                    <a:pt x="794" y="76"/>
                    <a:pt x="719" y="219"/>
                  </a:cubicBezTo>
                  <a:lnTo>
                    <a:pt x="0" y="2663"/>
                  </a:lnTo>
                  <a:lnTo>
                    <a:pt x="0" y="2732"/>
                  </a:lnTo>
                  <a:lnTo>
                    <a:pt x="0" y="2807"/>
                  </a:lnTo>
                  <a:lnTo>
                    <a:pt x="0" y="14737"/>
                  </a:lnTo>
                  <a:cubicBezTo>
                    <a:pt x="0" y="15237"/>
                    <a:pt x="362" y="15599"/>
                    <a:pt x="863" y="15599"/>
                  </a:cubicBezTo>
                  <a:lnTo>
                    <a:pt x="1225" y="15599"/>
                  </a:lnTo>
                  <a:cubicBezTo>
                    <a:pt x="1725" y="15599"/>
                    <a:pt x="2156" y="15237"/>
                    <a:pt x="2156" y="14737"/>
                  </a:cubicBezTo>
                  <a:lnTo>
                    <a:pt x="2156" y="13656"/>
                  </a:lnTo>
                  <a:lnTo>
                    <a:pt x="2156" y="2807"/>
                  </a:lnTo>
                  <a:lnTo>
                    <a:pt x="2156" y="2732"/>
                  </a:lnTo>
                  <a:lnTo>
                    <a:pt x="2156" y="2663"/>
                  </a:lnTo>
                  <a:lnTo>
                    <a:pt x="1368" y="219"/>
                  </a:lnTo>
                  <a:cubicBezTo>
                    <a:pt x="1368" y="76"/>
                    <a:pt x="1225" y="1"/>
                    <a:pt x="10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22;p63">
              <a:extLst>
                <a:ext uri="{FF2B5EF4-FFF2-40B4-BE49-F238E27FC236}">
                  <a16:creationId xmlns:a16="http://schemas.microsoft.com/office/drawing/2014/main" id="{DC2E61BC-B9CD-0D35-26D1-6D915BB757D8}"/>
                </a:ext>
              </a:extLst>
            </p:cNvPr>
            <p:cNvSpPr/>
            <p:nvPr/>
          </p:nvSpPr>
          <p:spPr>
            <a:xfrm>
              <a:off x="2439896" y="4526130"/>
              <a:ext cx="114793" cy="9997"/>
            </a:xfrm>
            <a:custGeom>
              <a:avLst/>
              <a:gdLst/>
              <a:ahLst/>
              <a:cxnLst/>
              <a:rect l="l" t="t" r="r" b="b"/>
              <a:pathLst>
                <a:path w="7406" h="645" extrusionOk="0">
                  <a:moveTo>
                    <a:pt x="288" y="0"/>
                  </a:moveTo>
                  <a:cubicBezTo>
                    <a:pt x="144" y="0"/>
                    <a:pt x="0" y="144"/>
                    <a:pt x="0" y="288"/>
                  </a:cubicBezTo>
                  <a:cubicBezTo>
                    <a:pt x="0" y="501"/>
                    <a:pt x="144" y="644"/>
                    <a:pt x="288" y="644"/>
                  </a:cubicBezTo>
                  <a:lnTo>
                    <a:pt x="7118" y="644"/>
                  </a:lnTo>
                  <a:cubicBezTo>
                    <a:pt x="7262" y="644"/>
                    <a:pt x="7405" y="501"/>
                    <a:pt x="7405" y="288"/>
                  </a:cubicBezTo>
                  <a:cubicBezTo>
                    <a:pt x="7405" y="144"/>
                    <a:pt x="7262" y="0"/>
                    <a:pt x="711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23;p63">
              <a:extLst>
                <a:ext uri="{FF2B5EF4-FFF2-40B4-BE49-F238E27FC236}">
                  <a16:creationId xmlns:a16="http://schemas.microsoft.com/office/drawing/2014/main" id="{EAB1FD76-90FD-A9A3-88F8-E16A98134540}"/>
                </a:ext>
              </a:extLst>
            </p:cNvPr>
            <p:cNvSpPr/>
            <p:nvPr/>
          </p:nvSpPr>
          <p:spPr>
            <a:xfrm>
              <a:off x="2439896" y="4546172"/>
              <a:ext cx="62388" cy="9997"/>
            </a:xfrm>
            <a:custGeom>
              <a:avLst/>
              <a:gdLst/>
              <a:ahLst/>
              <a:cxnLst/>
              <a:rect l="l" t="t" r="r" b="b"/>
              <a:pathLst>
                <a:path w="4025" h="645" extrusionOk="0">
                  <a:moveTo>
                    <a:pt x="288" y="1"/>
                  </a:moveTo>
                  <a:cubicBezTo>
                    <a:pt x="144" y="1"/>
                    <a:pt x="0" y="145"/>
                    <a:pt x="0" y="357"/>
                  </a:cubicBezTo>
                  <a:cubicBezTo>
                    <a:pt x="0" y="501"/>
                    <a:pt x="144" y="645"/>
                    <a:pt x="288" y="645"/>
                  </a:cubicBezTo>
                  <a:lnTo>
                    <a:pt x="3668" y="645"/>
                  </a:lnTo>
                  <a:cubicBezTo>
                    <a:pt x="3881" y="645"/>
                    <a:pt x="4025" y="501"/>
                    <a:pt x="4025" y="357"/>
                  </a:cubicBezTo>
                  <a:cubicBezTo>
                    <a:pt x="4025" y="145"/>
                    <a:pt x="3881" y="1"/>
                    <a:pt x="366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24;p63">
              <a:extLst>
                <a:ext uri="{FF2B5EF4-FFF2-40B4-BE49-F238E27FC236}">
                  <a16:creationId xmlns:a16="http://schemas.microsoft.com/office/drawing/2014/main" id="{42F6F7A4-3CC3-2C0D-7F5A-0CB8669FA926}"/>
                </a:ext>
              </a:extLst>
            </p:cNvPr>
            <p:cNvSpPr/>
            <p:nvPr/>
          </p:nvSpPr>
          <p:spPr>
            <a:xfrm>
              <a:off x="2407625" y="4291042"/>
              <a:ext cx="179319" cy="297476"/>
            </a:xfrm>
            <a:custGeom>
              <a:avLst/>
              <a:gdLst/>
              <a:ahLst/>
              <a:cxnLst/>
              <a:rect l="l" t="t" r="r" b="b"/>
              <a:pathLst>
                <a:path w="11569" h="19192" extrusionOk="0">
                  <a:moveTo>
                    <a:pt x="5750" y="650"/>
                  </a:moveTo>
                  <a:cubicBezTo>
                    <a:pt x="6538" y="650"/>
                    <a:pt x="7188" y="1294"/>
                    <a:pt x="7188" y="2088"/>
                  </a:cubicBezTo>
                  <a:cubicBezTo>
                    <a:pt x="7188" y="2300"/>
                    <a:pt x="7331" y="2444"/>
                    <a:pt x="7544" y="2444"/>
                  </a:cubicBezTo>
                  <a:lnTo>
                    <a:pt x="8625" y="2444"/>
                  </a:lnTo>
                  <a:cubicBezTo>
                    <a:pt x="8981" y="2444"/>
                    <a:pt x="9269" y="2731"/>
                    <a:pt x="9269" y="3094"/>
                  </a:cubicBezTo>
                  <a:lnTo>
                    <a:pt x="9269" y="5393"/>
                  </a:lnTo>
                  <a:lnTo>
                    <a:pt x="2301" y="5393"/>
                  </a:lnTo>
                  <a:lnTo>
                    <a:pt x="2301" y="3094"/>
                  </a:lnTo>
                  <a:cubicBezTo>
                    <a:pt x="2301" y="2731"/>
                    <a:pt x="2588" y="2444"/>
                    <a:pt x="2945" y="2444"/>
                  </a:cubicBezTo>
                  <a:lnTo>
                    <a:pt x="4025" y="2444"/>
                  </a:lnTo>
                  <a:cubicBezTo>
                    <a:pt x="4238" y="2444"/>
                    <a:pt x="4382" y="2300"/>
                    <a:pt x="4382" y="2088"/>
                  </a:cubicBezTo>
                  <a:cubicBezTo>
                    <a:pt x="4382" y="1294"/>
                    <a:pt x="5032" y="650"/>
                    <a:pt x="5750" y="650"/>
                  </a:cubicBezTo>
                  <a:close/>
                  <a:moveTo>
                    <a:pt x="10925" y="4744"/>
                  </a:moveTo>
                  <a:lnTo>
                    <a:pt x="10925" y="18542"/>
                  </a:lnTo>
                  <a:lnTo>
                    <a:pt x="645" y="18542"/>
                  </a:lnTo>
                  <a:lnTo>
                    <a:pt x="645" y="4744"/>
                  </a:lnTo>
                  <a:lnTo>
                    <a:pt x="1651" y="4744"/>
                  </a:lnTo>
                  <a:lnTo>
                    <a:pt x="1651" y="5681"/>
                  </a:lnTo>
                  <a:cubicBezTo>
                    <a:pt x="1651" y="5894"/>
                    <a:pt x="1795" y="6037"/>
                    <a:pt x="1938" y="6037"/>
                  </a:cubicBezTo>
                  <a:lnTo>
                    <a:pt x="9631" y="6037"/>
                  </a:lnTo>
                  <a:cubicBezTo>
                    <a:pt x="9775" y="6037"/>
                    <a:pt x="9919" y="5894"/>
                    <a:pt x="9919" y="5681"/>
                  </a:cubicBezTo>
                  <a:lnTo>
                    <a:pt x="9919" y="4744"/>
                  </a:lnTo>
                  <a:close/>
                  <a:moveTo>
                    <a:pt x="5750" y="0"/>
                  </a:moveTo>
                  <a:cubicBezTo>
                    <a:pt x="4744" y="0"/>
                    <a:pt x="3882" y="794"/>
                    <a:pt x="3738" y="1725"/>
                  </a:cubicBezTo>
                  <a:lnTo>
                    <a:pt x="2945" y="1725"/>
                  </a:lnTo>
                  <a:cubicBezTo>
                    <a:pt x="2226" y="1725"/>
                    <a:pt x="1651" y="2375"/>
                    <a:pt x="1651" y="3094"/>
                  </a:cubicBezTo>
                  <a:lnTo>
                    <a:pt x="1651" y="4100"/>
                  </a:lnTo>
                  <a:lnTo>
                    <a:pt x="288" y="4100"/>
                  </a:lnTo>
                  <a:cubicBezTo>
                    <a:pt x="145" y="4100"/>
                    <a:pt x="1" y="4244"/>
                    <a:pt x="1" y="4387"/>
                  </a:cubicBezTo>
                  <a:lnTo>
                    <a:pt x="1" y="18904"/>
                  </a:lnTo>
                  <a:cubicBezTo>
                    <a:pt x="1" y="19048"/>
                    <a:pt x="145" y="19192"/>
                    <a:pt x="288" y="19192"/>
                  </a:cubicBezTo>
                  <a:lnTo>
                    <a:pt x="11281" y="19192"/>
                  </a:lnTo>
                  <a:cubicBezTo>
                    <a:pt x="11425" y="19192"/>
                    <a:pt x="11569" y="19048"/>
                    <a:pt x="11569" y="18904"/>
                  </a:cubicBezTo>
                  <a:lnTo>
                    <a:pt x="11569" y="4387"/>
                  </a:lnTo>
                  <a:cubicBezTo>
                    <a:pt x="11569" y="4244"/>
                    <a:pt x="11425" y="4100"/>
                    <a:pt x="11281" y="4100"/>
                  </a:cubicBezTo>
                  <a:lnTo>
                    <a:pt x="9919" y="4100"/>
                  </a:lnTo>
                  <a:lnTo>
                    <a:pt x="9919" y="3094"/>
                  </a:lnTo>
                  <a:cubicBezTo>
                    <a:pt x="9919" y="2375"/>
                    <a:pt x="9344" y="1725"/>
                    <a:pt x="8625" y="1725"/>
                  </a:cubicBezTo>
                  <a:lnTo>
                    <a:pt x="7832" y="1725"/>
                  </a:lnTo>
                  <a:cubicBezTo>
                    <a:pt x="7688" y="794"/>
                    <a:pt x="6825" y="0"/>
                    <a:pt x="5750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25;p63">
              <a:extLst>
                <a:ext uri="{FF2B5EF4-FFF2-40B4-BE49-F238E27FC236}">
                  <a16:creationId xmlns:a16="http://schemas.microsoft.com/office/drawing/2014/main" id="{96FD8F0A-111A-66BD-8D3C-5A0F0AA120CB}"/>
                </a:ext>
              </a:extLst>
            </p:cNvPr>
            <p:cNvSpPr/>
            <p:nvPr/>
          </p:nvSpPr>
          <p:spPr>
            <a:xfrm>
              <a:off x="2492286" y="4314478"/>
              <a:ext cx="9997" cy="17840"/>
            </a:xfrm>
            <a:custGeom>
              <a:avLst/>
              <a:gdLst/>
              <a:ahLst/>
              <a:cxnLst/>
              <a:rect l="l" t="t" r="r" b="b"/>
              <a:pathLst>
                <a:path w="645" h="1151" extrusionOk="0">
                  <a:moveTo>
                    <a:pt x="288" y="1"/>
                  </a:moveTo>
                  <a:cubicBezTo>
                    <a:pt x="145" y="1"/>
                    <a:pt x="1" y="144"/>
                    <a:pt x="1" y="357"/>
                  </a:cubicBezTo>
                  <a:lnTo>
                    <a:pt x="1" y="788"/>
                  </a:lnTo>
                  <a:cubicBezTo>
                    <a:pt x="1" y="1007"/>
                    <a:pt x="145" y="1150"/>
                    <a:pt x="288" y="1150"/>
                  </a:cubicBezTo>
                  <a:cubicBezTo>
                    <a:pt x="501" y="1150"/>
                    <a:pt x="645" y="1007"/>
                    <a:pt x="645" y="788"/>
                  </a:cubicBezTo>
                  <a:lnTo>
                    <a:pt x="645" y="357"/>
                  </a:lnTo>
                  <a:cubicBezTo>
                    <a:pt x="645" y="144"/>
                    <a:pt x="501" y="1"/>
                    <a:pt x="28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26;p63">
              <a:extLst>
                <a:ext uri="{FF2B5EF4-FFF2-40B4-BE49-F238E27FC236}">
                  <a16:creationId xmlns:a16="http://schemas.microsoft.com/office/drawing/2014/main" id="{1C76B8B8-EE26-5A5E-D4F8-7E539CA58FF0}"/>
                </a:ext>
              </a:extLst>
            </p:cNvPr>
            <p:cNvSpPr/>
            <p:nvPr/>
          </p:nvSpPr>
          <p:spPr>
            <a:xfrm>
              <a:off x="2537918" y="4406889"/>
              <a:ext cx="16771" cy="81375"/>
            </a:xfrm>
            <a:custGeom>
              <a:avLst/>
              <a:gdLst/>
              <a:ahLst/>
              <a:cxnLst/>
              <a:rect l="l" t="t" r="r" b="b"/>
              <a:pathLst>
                <a:path w="1082" h="5250" extrusionOk="0">
                  <a:moveTo>
                    <a:pt x="288" y="1"/>
                  </a:moveTo>
                  <a:cubicBezTo>
                    <a:pt x="144" y="1"/>
                    <a:pt x="0" y="144"/>
                    <a:pt x="0" y="363"/>
                  </a:cubicBezTo>
                  <a:cubicBezTo>
                    <a:pt x="0" y="507"/>
                    <a:pt x="144" y="650"/>
                    <a:pt x="288" y="650"/>
                  </a:cubicBezTo>
                  <a:lnTo>
                    <a:pt x="432" y="650"/>
                  </a:lnTo>
                  <a:lnTo>
                    <a:pt x="432" y="4600"/>
                  </a:lnTo>
                  <a:lnTo>
                    <a:pt x="288" y="4600"/>
                  </a:lnTo>
                  <a:cubicBezTo>
                    <a:pt x="144" y="4600"/>
                    <a:pt x="0" y="4744"/>
                    <a:pt x="0" y="4962"/>
                  </a:cubicBezTo>
                  <a:cubicBezTo>
                    <a:pt x="0" y="5106"/>
                    <a:pt x="144" y="5250"/>
                    <a:pt x="288" y="5250"/>
                  </a:cubicBezTo>
                  <a:lnTo>
                    <a:pt x="794" y="5250"/>
                  </a:lnTo>
                  <a:cubicBezTo>
                    <a:pt x="938" y="5250"/>
                    <a:pt x="1081" y="5106"/>
                    <a:pt x="1081" y="4962"/>
                  </a:cubicBezTo>
                  <a:lnTo>
                    <a:pt x="1081" y="363"/>
                  </a:lnTo>
                  <a:cubicBezTo>
                    <a:pt x="1081" y="144"/>
                    <a:pt x="938" y="1"/>
                    <a:pt x="79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27;p63">
              <a:extLst>
                <a:ext uri="{FF2B5EF4-FFF2-40B4-BE49-F238E27FC236}">
                  <a16:creationId xmlns:a16="http://schemas.microsoft.com/office/drawing/2014/main" id="{BA4CB93D-DCFD-730B-733B-9D9F4928C453}"/>
                </a:ext>
              </a:extLst>
            </p:cNvPr>
            <p:cNvSpPr/>
            <p:nvPr/>
          </p:nvSpPr>
          <p:spPr>
            <a:xfrm>
              <a:off x="2439896" y="4498230"/>
              <a:ext cx="88056" cy="17840"/>
            </a:xfrm>
            <a:custGeom>
              <a:avLst/>
              <a:gdLst/>
              <a:ahLst/>
              <a:cxnLst/>
              <a:rect l="l" t="t" r="r" b="b"/>
              <a:pathLst>
                <a:path w="5681" h="1151" extrusionOk="0">
                  <a:moveTo>
                    <a:pt x="288" y="1"/>
                  </a:moveTo>
                  <a:cubicBezTo>
                    <a:pt x="144" y="1"/>
                    <a:pt x="0" y="219"/>
                    <a:pt x="0" y="363"/>
                  </a:cubicBezTo>
                  <a:lnTo>
                    <a:pt x="0" y="794"/>
                  </a:lnTo>
                  <a:cubicBezTo>
                    <a:pt x="0" y="1007"/>
                    <a:pt x="144" y="1151"/>
                    <a:pt x="288" y="1151"/>
                  </a:cubicBezTo>
                  <a:lnTo>
                    <a:pt x="5318" y="1151"/>
                  </a:lnTo>
                  <a:cubicBezTo>
                    <a:pt x="5537" y="1151"/>
                    <a:pt x="5681" y="1007"/>
                    <a:pt x="5681" y="794"/>
                  </a:cubicBezTo>
                  <a:lnTo>
                    <a:pt x="5681" y="363"/>
                  </a:lnTo>
                  <a:cubicBezTo>
                    <a:pt x="5681" y="219"/>
                    <a:pt x="5537" y="1"/>
                    <a:pt x="5318" y="1"/>
                  </a:cubicBezTo>
                  <a:cubicBezTo>
                    <a:pt x="5175" y="1"/>
                    <a:pt x="5031" y="219"/>
                    <a:pt x="5031" y="363"/>
                  </a:cubicBezTo>
                  <a:lnTo>
                    <a:pt x="5031" y="507"/>
                  </a:lnTo>
                  <a:lnTo>
                    <a:pt x="650" y="507"/>
                  </a:lnTo>
                  <a:lnTo>
                    <a:pt x="650" y="363"/>
                  </a:lnTo>
                  <a:cubicBezTo>
                    <a:pt x="650" y="219"/>
                    <a:pt x="506" y="1"/>
                    <a:pt x="28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28;p63">
              <a:extLst>
                <a:ext uri="{FF2B5EF4-FFF2-40B4-BE49-F238E27FC236}">
                  <a16:creationId xmlns:a16="http://schemas.microsoft.com/office/drawing/2014/main" id="{5A933E8C-F2CF-BF9E-B391-3951E2833660}"/>
                </a:ext>
              </a:extLst>
            </p:cNvPr>
            <p:cNvSpPr/>
            <p:nvPr/>
          </p:nvSpPr>
          <p:spPr>
            <a:xfrm>
              <a:off x="2439896" y="4406889"/>
              <a:ext cx="88056" cy="81375"/>
            </a:xfrm>
            <a:custGeom>
              <a:avLst/>
              <a:gdLst/>
              <a:ahLst/>
              <a:cxnLst/>
              <a:rect l="l" t="t" r="r" b="b"/>
              <a:pathLst>
                <a:path w="5681" h="5250" extrusionOk="0">
                  <a:moveTo>
                    <a:pt x="288" y="1"/>
                  </a:moveTo>
                  <a:cubicBezTo>
                    <a:pt x="144" y="1"/>
                    <a:pt x="0" y="144"/>
                    <a:pt x="0" y="363"/>
                  </a:cubicBezTo>
                  <a:lnTo>
                    <a:pt x="0" y="1225"/>
                  </a:lnTo>
                  <a:cubicBezTo>
                    <a:pt x="0" y="1369"/>
                    <a:pt x="144" y="1513"/>
                    <a:pt x="288" y="1513"/>
                  </a:cubicBezTo>
                  <a:cubicBezTo>
                    <a:pt x="506" y="1513"/>
                    <a:pt x="650" y="1369"/>
                    <a:pt x="650" y="1225"/>
                  </a:cubicBezTo>
                  <a:lnTo>
                    <a:pt x="650" y="650"/>
                  </a:lnTo>
                  <a:lnTo>
                    <a:pt x="5031" y="650"/>
                  </a:lnTo>
                  <a:lnTo>
                    <a:pt x="5031" y="4600"/>
                  </a:lnTo>
                  <a:lnTo>
                    <a:pt x="650" y="4600"/>
                  </a:lnTo>
                  <a:lnTo>
                    <a:pt x="650" y="2519"/>
                  </a:lnTo>
                  <a:cubicBezTo>
                    <a:pt x="650" y="2300"/>
                    <a:pt x="506" y="2157"/>
                    <a:pt x="288" y="2157"/>
                  </a:cubicBezTo>
                  <a:cubicBezTo>
                    <a:pt x="144" y="2157"/>
                    <a:pt x="0" y="2300"/>
                    <a:pt x="0" y="2519"/>
                  </a:cubicBezTo>
                  <a:lnTo>
                    <a:pt x="0" y="4962"/>
                  </a:lnTo>
                  <a:cubicBezTo>
                    <a:pt x="0" y="5106"/>
                    <a:pt x="144" y="5250"/>
                    <a:pt x="288" y="5250"/>
                  </a:cubicBezTo>
                  <a:lnTo>
                    <a:pt x="5318" y="5250"/>
                  </a:lnTo>
                  <a:cubicBezTo>
                    <a:pt x="5537" y="5250"/>
                    <a:pt x="5681" y="5106"/>
                    <a:pt x="5681" y="4962"/>
                  </a:cubicBezTo>
                  <a:lnTo>
                    <a:pt x="5681" y="363"/>
                  </a:lnTo>
                  <a:cubicBezTo>
                    <a:pt x="5681" y="144"/>
                    <a:pt x="5537" y="1"/>
                    <a:pt x="531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6E0B8062-50D0-E840-F7F9-1ABB6E47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60">
            <a:extLst>
              <a:ext uri="{FF2B5EF4-FFF2-40B4-BE49-F238E27FC236}">
                <a16:creationId xmlns:a16="http://schemas.microsoft.com/office/drawing/2014/main" id="{0F04F716-5286-2050-46D3-75F18F595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550" y="58443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800" dirty="0"/>
              <a:t>Σύνδεση με Μηχανική Μάθηση</a:t>
            </a:r>
            <a:endParaRPr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A3CA21-69E5-5954-A191-0898DD645F08}"/>
              </a:ext>
            </a:extLst>
          </p:cNvPr>
          <p:cNvSpPr/>
          <p:nvPr/>
        </p:nvSpPr>
        <p:spPr>
          <a:xfrm>
            <a:off x="716550" y="989929"/>
            <a:ext cx="1622066" cy="1367625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E33657-7E2F-465B-B7B0-20836C93EE7D}"/>
              </a:ext>
            </a:extLst>
          </p:cNvPr>
          <p:cNvSpPr/>
          <p:nvPr/>
        </p:nvSpPr>
        <p:spPr>
          <a:xfrm>
            <a:off x="2949934" y="993912"/>
            <a:ext cx="1622066" cy="1367625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99B5E8-7B9A-5D26-EF5B-BE53E1B7F843}"/>
              </a:ext>
            </a:extLst>
          </p:cNvPr>
          <p:cNvSpPr/>
          <p:nvPr/>
        </p:nvSpPr>
        <p:spPr>
          <a:xfrm>
            <a:off x="5183318" y="993911"/>
            <a:ext cx="1622066" cy="1367625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C49678-A82C-684E-CE2D-CEEDDCD1F300}"/>
              </a:ext>
            </a:extLst>
          </p:cNvPr>
          <p:cNvSpPr/>
          <p:nvPr/>
        </p:nvSpPr>
        <p:spPr>
          <a:xfrm>
            <a:off x="7416702" y="993911"/>
            <a:ext cx="1622066" cy="1367625"/>
          </a:xfrm>
          <a:prstGeom prst="round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066A3A0-E11D-DD62-27FE-0393470B7FC9}"/>
              </a:ext>
            </a:extLst>
          </p:cNvPr>
          <p:cNvSpPr/>
          <p:nvPr/>
        </p:nvSpPr>
        <p:spPr>
          <a:xfrm>
            <a:off x="2481739" y="1522672"/>
            <a:ext cx="325071" cy="3101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E4A5896-4A21-A417-71B6-03465637EE87}"/>
              </a:ext>
            </a:extLst>
          </p:cNvPr>
          <p:cNvSpPr/>
          <p:nvPr/>
        </p:nvSpPr>
        <p:spPr>
          <a:xfrm>
            <a:off x="4715123" y="1522671"/>
            <a:ext cx="325071" cy="3101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0455CD9-F3C3-10C8-D4A2-FEDA3FB6CB32}"/>
              </a:ext>
            </a:extLst>
          </p:cNvPr>
          <p:cNvSpPr/>
          <p:nvPr/>
        </p:nvSpPr>
        <p:spPr>
          <a:xfrm>
            <a:off x="6948507" y="1518692"/>
            <a:ext cx="325071" cy="31010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grpSp>
        <p:nvGrpSpPr>
          <p:cNvPr id="16" name="Google Shape;11738;p78">
            <a:extLst>
              <a:ext uri="{FF2B5EF4-FFF2-40B4-BE49-F238E27FC236}">
                <a16:creationId xmlns:a16="http://schemas.microsoft.com/office/drawing/2014/main" id="{3023A989-4DEC-1984-3FCA-20615E65D3E7}"/>
              </a:ext>
            </a:extLst>
          </p:cNvPr>
          <p:cNvGrpSpPr/>
          <p:nvPr/>
        </p:nvGrpSpPr>
        <p:grpSpPr>
          <a:xfrm>
            <a:off x="1068272" y="1113183"/>
            <a:ext cx="771276" cy="715610"/>
            <a:chOff x="2611458" y="3816374"/>
            <a:chExt cx="426329" cy="332375"/>
          </a:xfrm>
        </p:grpSpPr>
        <p:sp>
          <p:nvSpPr>
            <p:cNvPr id="17" name="Google Shape;11739;p78">
              <a:extLst>
                <a:ext uri="{FF2B5EF4-FFF2-40B4-BE49-F238E27FC236}">
                  <a16:creationId xmlns:a16="http://schemas.microsoft.com/office/drawing/2014/main" id="{A29B2ADE-9C67-8D57-FCD5-E5655569B65B}"/>
                </a:ext>
              </a:extLst>
            </p:cNvPr>
            <p:cNvSpPr/>
            <p:nvPr/>
          </p:nvSpPr>
          <p:spPr>
            <a:xfrm>
              <a:off x="2611458" y="3816374"/>
              <a:ext cx="426329" cy="332375"/>
            </a:xfrm>
            <a:custGeom>
              <a:avLst/>
              <a:gdLst/>
              <a:ahLst/>
              <a:cxnLst/>
              <a:rect l="l" t="t" r="r" b="b"/>
              <a:pathLst>
                <a:path w="13395" h="10443" extrusionOk="0">
                  <a:moveTo>
                    <a:pt x="13002" y="429"/>
                  </a:moveTo>
                  <a:lnTo>
                    <a:pt x="12966" y="846"/>
                  </a:lnTo>
                  <a:lnTo>
                    <a:pt x="11418" y="846"/>
                  </a:lnTo>
                  <a:cubicBezTo>
                    <a:pt x="11299" y="846"/>
                    <a:pt x="11216" y="929"/>
                    <a:pt x="11216" y="1048"/>
                  </a:cubicBezTo>
                  <a:cubicBezTo>
                    <a:pt x="11216" y="1167"/>
                    <a:pt x="11299" y="1263"/>
                    <a:pt x="11418" y="1263"/>
                  </a:cubicBezTo>
                  <a:lnTo>
                    <a:pt x="12633" y="1263"/>
                  </a:lnTo>
                  <a:lnTo>
                    <a:pt x="12633" y="7501"/>
                  </a:lnTo>
                  <a:lnTo>
                    <a:pt x="5429" y="7501"/>
                  </a:lnTo>
                  <a:lnTo>
                    <a:pt x="5429" y="7287"/>
                  </a:lnTo>
                  <a:cubicBezTo>
                    <a:pt x="5429" y="7168"/>
                    <a:pt x="5334" y="7085"/>
                    <a:pt x="5215" y="7085"/>
                  </a:cubicBezTo>
                  <a:lnTo>
                    <a:pt x="4870" y="7085"/>
                  </a:lnTo>
                  <a:cubicBezTo>
                    <a:pt x="4834" y="6942"/>
                    <a:pt x="4786" y="6811"/>
                    <a:pt x="4715" y="6692"/>
                  </a:cubicBezTo>
                  <a:lnTo>
                    <a:pt x="4953" y="6454"/>
                  </a:lnTo>
                  <a:cubicBezTo>
                    <a:pt x="5036" y="6358"/>
                    <a:pt x="5036" y="6227"/>
                    <a:pt x="4953" y="6156"/>
                  </a:cubicBezTo>
                  <a:lnTo>
                    <a:pt x="4310" y="5513"/>
                  </a:lnTo>
                  <a:cubicBezTo>
                    <a:pt x="4263" y="5477"/>
                    <a:pt x="4215" y="5454"/>
                    <a:pt x="4155" y="5454"/>
                  </a:cubicBezTo>
                  <a:cubicBezTo>
                    <a:pt x="4096" y="5454"/>
                    <a:pt x="4060" y="5477"/>
                    <a:pt x="4013" y="5513"/>
                  </a:cubicBezTo>
                  <a:lnTo>
                    <a:pt x="3774" y="5751"/>
                  </a:lnTo>
                  <a:cubicBezTo>
                    <a:pt x="3655" y="5692"/>
                    <a:pt x="3524" y="5632"/>
                    <a:pt x="3382" y="5596"/>
                  </a:cubicBezTo>
                  <a:lnTo>
                    <a:pt x="3382" y="5251"/>
                  </a:lnTo>
                  <a:cubicBezTo>
                    <a:pt x="3382" y="5132"/>
                    <a:pt x="3298" y="5037"/>
                    <a:pt x="3179" y="5037"/>
                  </a:cubicBezTo>
                  <a:lnTo>
                    <a:pt x="2655" y="5037"/>
                  </a:lnTo>
                  <a:lnTo>
                    <a:pt x="2655" y="1274"/>
                  </a:lnTo>
                  <a:lnTo>
                    <a:pt x="10704" y="1274"/>
                  </a:lnTo>
                  <a:cubicBezTo>
                    <a:pt x="10823" y="1274"/>
                    <a:pt x="10918" y="1191"/>
                    <a:pt x="10918" y="1072"/>
                  </a:cubicBezTo>
                  <a:cubicBezTo>
                    <a:pt x="10918" y="953"/>
                    <a:pt x="10823" y="858"/>
                    <a:pt x="10704" y="858"/>
                  </a:cubicBezTo>
                  <a:lnTo>
                    <a:pt x="2310" y="858"/>
                  </a:lnTo>
                  <a:lnTo>
                    <a:pt x="2310" y="429"/>
                  </a:lnTo>
                  <a:close/>
                  <a:moveTo>
                    <a:pt x="12966" y="7918"/>
                  </a:moveTo>
                  <a:lnTo>
                    <a:pt x="12966" y="8347"/>
                  </a:lnTo>
                  <a:lnTo>
                    <a:pt x="5358" y="8347"/>
                  </a:lnTo>
                  <a:cubicBezTo>
                    <a:pt x="5394" y="8299"/>
                    <a:pt x="5417" y="8251"/>
                    <a:pt x="5417" y="8192"/>
                  </a:cubicBezTo>
                  <a:lnTo>
                    <a:pt x="5417" y="7954"/>
                  </a:lnTo>
                  <a:lnTo>
                    <a:pt x="12835" y="7954"/>
                  </a:lnTo>
                  <a:cubicBezTo>
                    <a:pt x="12883" y="7954"/>
                    <a:pt x="12930" y="7942"/>
                    <a:pt x="12954" y="7918"/>
                  </a:cubicBezTo>
                  <a:close/>
                  <a:moveTo>
                    <a:pt x="2953" y="5442"/>
                  </a:moveTo>
                  <a:lnTo>
                    <a:pt x="2953" y="5739"/>
                  </a:lnTo>
                  <a:cubicBezTo>
                    <a:pt x="2953" y="5846"/>
                    <a:pt x="3024" y="5918"/>
                    <a:pt x="3120" y="5954"/>
                  </a:cubicBezTo>
                  <a:cubicBezTo>
                    <a:pt x="3310" y="5989"/>
                    <a:pt x="3501" y="6073"/>
                    <a:pt x="3679" y="6192"/>
                  </a:cubicBezTo>
                  <a:cubicBezTo>
                    <a:pt x="3716" y="6215"/>
                    <a:pt x="3755" y="6225"/>
                    <a:pt x="3793" y="6225"/>
                  </a:cubicBezTo>
                  <a:cubicBezTo>
                    <a:pt x="3853" y="6225"/>
                    <a:pt x="3909" y="6200"/>
                    <a:pt x="3953" y="6156"/>
                  </a:cubicBezTo>
                  <a:lnTo>
                    <a:pt x="4155" y="5954"/>
                  </a:lnTo>
                  <a:lnTo>
                    <a:pt x="4501" y="6287"/>
                  </a:lnTo>
                  <a:lnTo>
                    <a:pt x="4298" y="6501"/>
                  </a:lnTo>
                  <a:cubicBezTo>
                    <a:pt x="4215" y="6573"/>
                    <a:pt x="4203" y="6680"/>
                    <a:pt x="4263" y="6763"/>
                  </a:cubicBezTo>
                  <a:cubicBezTo>
                    <a:pt x="4370" y="6942"/>
                    <a:pt x="4453" y="7144"/>
                    <a:pt x="4501" y="7335"/>
                  </a:cubicBezTo>
                  <a:cubicBezTo>
                    <a:pt x="4513" y="7418"/>
                    <a:pt x="4608" y="7501"/>
                    <a:pt x="4715" y="7501"/>
                  </a:cubicBezTo>
                  <a:lnTo>
                    <a:pt x="5013" y="7501"/>
                  </a:lnTo>
                  <a:lnTo>
                    <a:pt x="5013" y="7990"/>
                  </a:lnTo>
                  <a:lnTo>
                    <a:pt x="4715" y="7990"/>
                  </a:lnTo>
                  <a:cubicBezTo>
                    <a:pt x="4608" y="7990"/>
                    <a:pt x="4525" y="8061"/>
                    <a:pt x="4501" y="8156"/>
                  </a:cubicBezTo>
                  <a:cubicBezTo>
                    <a:pt x="4453" y="8347"/>
                    <a:pt x="4382" y="8537"/>
                    <a:pt x="4263" y="8716"/>
                  </a:cubicBezTo>
                  <a:cubicBezTo>
                    <a:pt x="4203" y="8811"/>
                    <a:pt x="4215" y="8906"/>
                    <a:pt x="4298" y="8990"/>
                  </a:cubicBezTo>
                  <a:lnTo>
                    <a:pt x="4501" y="9192"/>
                  </a:lnTo>
                  <a:lnTo>
                    <a:pt x="4155" y="9537"/>
                  </a:lnTo>
                  <a:lnTo>
                    <a:pt x="3953" y="9323"/>
                  </a:lnTo>
                  <a:cubicBezTo>
                    <a:pt x="3912" y="9282"/>
                    <a:pt x="3860" y="9261"/>
                    <a:pt x="3805" y="9261"/>
                  </a:cubicBezTo>
                  <a:cubicBezTo>
                    <a:pt x="3764" y="9261"/>
                    <a:pt x="3720" y="9273"/>
                    <a:pt x="3679" y="9299"/>
                  </a:cubicBezTo>
                  <a:cubicBezTo>
                    <a:pt x="3501" y="9394"/>
                    <a:pt x="3310" y="9490"/>
                    <a:pt x="3120" y="9537"/>
                  </a:cubicBezTo>
                  <a:cubicBezTo>
                    <a:pt x="3024" y="9549"/>
                    <a:pt x="2953" y="9633"/>
                    <a:pt x="2953" y="9740"/>
                  </a:cubicBezTo>
                  <a:lnTo>
                    <a:pt x="2953" y="10037"/>
                  </a:lnTo>
                  <a:lnTo>
                    <a:pt x="2465" y="10037"/>
                  </a:lnTo>
                  <a:lnTo>
                    <a:pt x="2465" y="9740"/>
                  </a:lnTo>
                  <a:cubicBezTo>
                    <a:pt x="2465" y="9633"/>
                    <a:pt x="2393" y="9561"/>
                    <a:pt x="2298" y="9537"/>
                  </a:cubicBezTo>
                  <a:cubicBezTo>
                    <a:pt x="2108" y="9490"/>
                    <a:pt x="1917" y="9418"/>
                    <a:pt x="1738" y="9299"/>
                  </a:cubicBezTo>
                  <a:cubicBezTo>
                    <a:pt x="1697" y="9273"/>
                    <a:pt x="1654" y="9261"/>
                    <a:pt x="1612" y="9261"/>
                  </a:cubicBezTo>
                  <a:cubicBezTo>
                    <a:pt x="1557" y="9261"/>
                    <a:pt x="1505" y="9282"/>
                    <a:pt x="1465" y="9323"/>
                  </a:cubicBezTo>
                  <a:lnTo>
                    <a:pt x="1262" y="9537"/>
                  </a:lnTo>
                  <a:lnTo>
                    <a:pt x="917" y="9192"/>
                  </a:lnTo>
                  <a:lnTo>
                    <a:pt x="1119" y="8990"/>
                  </a:lnTo>
                  <a:cubicBezTo>
                    <a:pt x="1203" y="8906"/>
                    <a:pt x="1215" y="8799"/>
                    <a:pt x="1155" y="8716"/>
                  </a:cubicBezTo>
                  <a:cubicBezTo>
                    <a:pt x="1048" y="8537"/>
                    <a:pt x="965" y="8347"/>
                    <a:pt x="917" y="8156"/>
                  </a:cubicBezTo>
                  <a:cubicBezTo>
                    <a:pt x="905" y="8061"/>
                    <a:pt x="810" y="7990"/>
                    <a:pt x="703" y="7990"/>
                  </a:cubicBezTo>
                  <a:lnTo>
                    <a:pt x="405" y="7990"/>
                  </a:lnTo>
                  <a:lnTo>
                    <a:pt x="405" y="7501"/>
                  </a:lnTo>
                  <a:lnTo>
                    <a:pt x="703" y="7501"/>
                  </a:lnTo>
                  <a:cubicBezTo>
                    <a:pt x="810" y="7501"/>
                    <a:pt x="881" y="7418"/>
                    <a:pt x="917" y="7335"/>
                  </a:cubicBezTo>
                  <a:cubicBezTo>
                    <a:pt x="965" y="7144"/>
                    <a:pt x="1036" y="6942"/>
                    <a:pt x="1155" y="6763"/>
                  </a:cubicBezTo>
                  <a:cubicBezTo>
                    <a:pt x="1215" y="6680"/>
                    <a:pt x="1203" y="6573"/>
                    <a:pt x="1119" y="6501"/>
                  </a:cubicBezTo>
                  <a:lnTo>
                    <a:pt x="917" y="6287"/>
                  </a:lnTo>
                  <a:lnTo>
                    <a:pt x="1262" y="5954"/>
                  </a:lnTo>
                  <a:lnTo>
                    <a:pt x="1465" y="6156"/>
                  </a:lnTo>
                  <a:cubicBezTo>
                    <a:pt x="1508" y="6200"/>
                    <a:pt x="1565" y="6225"/>
                    <a:pt x="1624" y="6225"/>
                  </a:cubicBezTo>
                  <a:cubicBezTo>
                    <a:pt x="1662" y="6225"/>
                    <a:pt x="1701" y="6215"/>
                    <a:pt x="1738" y="6192"/>
                  </a:cubicBezTo>
                  <a:cubicBezTo>
                    <a:pt x="1917" y="6085"/>
                    <a:pt x="2108" y="5989"/>
                    <a:pt x="2298" y="5954"/>
                  </a:cubicBezTo>
                  <a:cubicBezTo>
                    <a:pt x="2393" y="5930"/>
                    <a:pt x="2465" y="5846"/>
                    <a:pt x="2465" y="5739"/>
                  </a:cubicBezTo>
                  <a:lnTo>
                    <a:pt x="2465" y="5442"/>
                  </a:lnTo>
                  <a:close/>
                  <a:moveTo>
                    <a:pt x="2084" y="0"/>
                  </a:moveTo>
                  <a:cubicBezTo>
                    <a:pt x="1977" y="0"/>
                    <a:pt x="1881" y="84"/>
                    <a:pt x="1881" y="203"/>
                  </a:cubicBezTo>
                  <a:lnTo>
                    <a:pt x="1881" y="1048"/>
                  </a:lnTo>
                  <a:cubicBezTo>
                    <a:pt x="1881" y="1167"/>
                    <a:pt x="1977" y="1263"/>
                    <a:pt x="2084" y="1263"/>
                  </a:cubicBezTo>
                  <a:lnTo>
                    <a:pt x="2227" y="1263"/>
                  </a:lnTo>
                  <a:lnTo>
                    <a:pt x="2227" y="5037"/>
                  </a:lnTo>
                  <a:cubicBezTo>
                    <a:pt x="2119" y="5061"/>
                    <a:pt x="2048" y="5144"/>
                    <a:pt x="2048" y="5251"/>
                  </a:cubicBezTo>
                  <a:lnTo>
                    <a:pt x="2048" y="5584"/>
                  </a:lnTo>
                  <a:cubicBezTo>
                    <a:pt x="1905" y="5632"/>
                    <a:pt x="1774" y="5680"/>
                    <a:pt x="1655" y="5751"/>
                  </a:cubicBezTo>
                  <a:lnTo>
                    <a:pt x="1417" y="5513"/>
                  </a:lnTo>
                  <a:cubicBezTo>
                    <a:pt x="1369" y="5465"/>
                    <a:pt x="1334" y="5454"/>
                    <a:pt x="1274" y="5454"/>
                  </a:cubicBezTo>
                  <a:cubicBezTo>
                    <a:pt x="1215" y="5454"/>
                    <a:pt x="1167" y="5465"/>
                    <a:pt x="1119" y="5513"/>
                  </a:cubicBezTo>
                  <a:lnTo>
                    <a:pt x="476" y="6156"/>
                  </a:lnTo>
                  <a:cubicBezTo>
                    <a:pt x="393" y="6239"/>
                    <a:pt x="393" y="6382"/>
                    <a:pt x="476" y="6454"/>
                  </a:cubicBezTo>
                  <a:lnTo>
                    <a:pt x="715" y="6692"/>
                  </a:lnTo>
                  <a:cubicBezTo>
                    <a:pt x="655" y="6811"/>
                    <a:pt x="595" y="6942"/>
                    <a:pt x="560" y="7073"/>
                  </a:cubicBezTo>
                  <a:lnTo>
                    <a:pt x="214" y="7073"/>
                  </a:lnTo>
                  <a:cubicBezTo>
                    <a:pt x="95" y="7073"/>
                    <a:pt x="0" y="7168"/>
                    <a:pt x="0" y="7287"/>
                  </a:cubicBezTo>
                  <a:lnTo>
                    <a:pt x="0" y="8192"/>
                  </a:lnTo>
                  <a:cubicBezTo>
                    <a:pt x="0" y="8311"/>
                    <a:pt x="95" y="8406"/>
                    <a:pt x="214" y="8406"/>
                  </a:cubicBezTo>
                  <a:lnTo>
                    <a:pt x="560" y="8406"/>
                  </a:lnTo>
                  <a:cubicBezTo>
                    <a:pt x="595" y="8537"/>
                    <a:pt x="643" y="8668"/>
                    <a:pt x="715" y="8787"/>
                  </a:cubicBezTo>
                  <a:lnTo>
                    <a:pt x="476" y="9025"/>
                  </a:lnTo>
                  <a:cubicBezTo>
                    <a:pt x="393" y="9121"/>
                    <a:pt x="393" y="9252"/>
                    <a:pt x="476" y="9323"/>
                  </a:cubicBezTo>
                  <a:lnTo>
                    <a:pt x="1119" y="9966"/>
                  </a:lnTo>
                  <a:cubicBezTo>
                    <a:pt x="1167" y="10008"/>
                    <a:pt x="1223" y="10028"/>
                    <a:pt x="1277" y="10028"/>
                  </a:cubicBezTo>
                  <a:cubicBezTo>
                    <a:pt x="1331" y="10028"/>
                    <a:pt x="1381" y="10008"/>
                    <a:pt x="1417" y="9966"/>
                  </a:cubicBezTo>
                  <a:lnTo>
                    <a:pt x="1655" y="9728"/>
                  </a:lnTo>
                  <a:cubicBezTo>
                    <a:pt x="1774" y="9787"/>
                    <a:pt x="1905" y="9847"/>
                    <a:pt x="2048" y="9895"/>
                  </a:cubicBezTo>
                  <a:lnTo>
                    <a:pt x="2048" y="10228"/>
                  </a:lnTo>
                  <a:cubicBezTo>
                    <a:pt x="2048" y="10347"/>
                    <a:pt x="2131" y="10442"/>
                    <a:pt x="2250" y="10442"/>
                  </a:cubicBezTo>
                  <a:lnTo>
                    <a:pt x="3155" y="10442"/>
                  </a:lnTo>
                  <a:cubicBezTo>
                    <a:pt x="3274" y="10442"/>
                    <a:pt x="3370" y="10347"/>
                    <a:pt x="3370" y="10228"/>
                  </a:cubicBezTo>
                  <a:lnTo>
                    <a:pt x="3370" y="9895"/>
                  </a:lnTo>
                  <a:cubicBezTo>
                    <a:pt x="3501" y="9847"/>
                    <a:pt x="3632" y="9799"/>
                    <a:pt x="3751" y="9728"/>
                  </a:cubicBezTo>
                  <a:lnTo>
                    <a:pt x="3989" y="9966"/>
                  </a:lnTo>
                  <a:cubicBezTo>
                    <a:pt x="4036" y="10008"/>
                    <a:pt x="4093" y="10028"/>
                    <a:pt x="4146" y="10028"/>
                  </a:cubicBezTo>
                  <a:cubicBezTo>
                    <a:pt x="4200" y="10028"/>
                    <a:pt x="4251" y="10008"/>
                    <a:pt x="4286" y="9966"/>
                  </a:cubicBezTo>
                  <a:lnTo>
                    <a:pt x="4929" y="9323"/>
                  </a:lnTo>
                  <a:cubicBezTo>
                    <a:pt x="5025" y="9240"/>
                    <a:pt x="5025" y="9097"/>
                    <a:pt x="4929" y="9025"/>
                  </a:cubicBezTo>
                  <a:lnTo>
                    <a:pt x="4691" y="8787"/>
                  </a:lnTo>
                  <a:cubicBezTo>
                    <a:pt x="4691" y="8775"/>
                    <a:pt x="4703" y="8775"/>
                    <a:pt x="4703" y="8763"/>
                  </a:cubicBezTo>
                  <a:lnTo>
                    <a:pt x="13180" y="8763"/>
                  </a:lnTo>
                  <a:cubicBezTo>
                    <a:pt x="13299" y="8763"/>
                    <a:pt x="13383" y="8668"/>
                    <a:pt x="13383" y="8549"/>
                  </a:cubicBezTo>
                  <a:lnTo>
                    <a:pt x="13383" y="7704"/>
                  </a:lnTo>
                  <a:cubicBezTo>
                    <a:pt x="13383" y="7585"/>
                    <a:pt x="13299" y="7489"/>
                    <a:pt x="13180" y="7489"/>
                  </a:cubicBezTo>
                  <a:lnTo>
                    <a:pt x="13037" y="7489"/>
                  </a:lnTo>
                  <a:lnTo>
                    <a:pt x="13037" y="1263"/>
                  </a:lnTo>
                  <a:lnTo>
                    <a:pt x="13192" y="1263"/>
                  </a:lnTo>
                  <a:cubicBezTo>
                    <a:pt x="13311" y="1263"/>
                    <a:pt x="13395" y="1167"/>
                    <a:pt x="13395" y="1048"/>
                  </a:cubicBezTo>
                  <a:lnTo>
                    <a:pt x="13395" y="203"/>
                  </a:lnTo>
                  <a:cubicBezTo>
                    <a:pt x="13395" y="84"/>
                    <a:pt x="13311" y="0"/>
                    <a:pt x="1319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740;p78">
              <a:extLst>
                <a:ext uri="{FF2B5EF4-FFF2-40B4-BE49-F238E27FC236}">
                  <a16:creationId xmlns:a16="http://schemas.microsoft.com/office/drawing/2014/main" id="{C067790C-F267-3F47-17D7-B37B86F3B15B}"/>
                </a:ext>
              </a:extLst>
            </p:cNvPr>
            <p:cNvSpPr/>
            <p:nvPr/>
          </p:nvSpPr>
          <p:spPr>
            <a:xfrm>
              <a:off x="2803568" y="3950909"/>
              <a:ext cx="40198" cy="85648"/>
            </a:xfrm>
            <a:custGeom>
              <a:avLst/>
              <a:gdLst/>
              <a:ahLst/>
              <a:cxnLst/>
              <a:rect l="l" t="t" r="r" b="b"/>
              <a:pathLst>
                <a:path w="1263" h="2691" extrusionOk="0">
                  <a:moveTo>
                    <a:pt x="846" y="417"/>
                  </a:moveTo>
                  <a:lnTo>
                    <a:pt x="846" y="2262"/>
                  </a:lnTo>
                  <a:lnTo>
                    <a:pt x="417" y="2262"/>
                  </a:lnTo>
                  <a:lnTo>
                    <a:pt x="417" y="417"/>
                  </a:lnTo>
                  <a:close/>
                  <a:moveTo>
                    <a:pt x="203" y="0"/>
                  </a:moveTo>
                  <a:cubicBezTo>
                    <a:pt x="84" y="0"/>
                    <a:pt x="1" y="84"/>
                    <a:pt x="1" y="203"/>
                  </a:cubicBezTo>
                  <a:lnTo>
                    <a:pt x="1" y="2477"/>
                  </a:lnTo>
                  <a:cubicBezTo>
                    <a:pt x="1" y="2596"/>
                    <a:pt x="84" y="2691"/>
                    <a:pt x="203" y="2691"/>
                  </a:cubicBezTo>
                  <a:lnTo>
                    <a:pt x="1060" y="2691"/>
                  </a:lnTo>
                  <a:cubicBezTo>
                    <a:pt x="1167" y="2691"/>
                    <a:pt x="1263" y="2596"/>
                    <a:pt x="1263" y="2477"/>
                  </a:cubicBezTo>
                  <a:lnTo>
                    <a:pt x="1263" y="203"/>
                  </a:lnTo>
                  <a:cubicBezTo>
                    <a:pt x="1263" y="84"/>
                    <a:pt x="1179" y="0"/>
                    <a:pt x="10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741;p78">
              <a:extLst>
                <a:ext uri="{FF2B5EF4-FFF2-40B4-BE49-F238E27FC236}">
                  <a16:creationId xmlns:a16="http://schemas.microsoft.com/office/drawing/2014/main" id="{E39B5BB0-8BBA-3520-DA1E-06C81BBAADE5}"/>
                </a:ext>
              </a:extLst>
            </p:cNvPr>
            <p:cNvSpPr/>
            <p:nvPr/>
          </p:nvSpPr>
          <p:spPr>
            <a:xfrm>
              <a:off x="2851691" y="3917935"/>
              <a:ext cx="40580" cy="118621"/>
            </a:xfrm>
            <a:custGeom>
              <a:avLst/>
              <a:gdLst/>
              <a:ahLst/>
              <a:cxnLst/>
              <a:rect l="l" t="t" r="r" b="b"/>
              <a:pathLst>
                <a:path w="1275" h="3727" extrusionOk="0">
                  <a:moveTo>
                    <a:pt x="858" y="417"/>
                  </a:moveTo>
                  <a:lnTo>
                    <a:pt x="858" y="3298"/>
                  </a:lnTo>
                  <a:lnTo>
                    <a:pt x="417" y="3298"/>
                  </a:lnTo>
                  <a:lnTo>
                    <a:pt x="417" y="417"/>
                  </a:lnTo>
                  <a:close/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lnTo>
                    <a:pt x="1" y="3513"/>
                  </a:lnTo>
                  <a:cubicBezTo>
                    <a:pt x="1" y="3632"/>
                    <a:pt x="96" y="3727"/>
                    <a:pt x="215" y="3727"/>
                  </a:cubicBezTo>
                  <a:lnTo>
                    <a:pt x="1060" y="3727"/>
                  </a:lnTo>
                  <a:cubicBezTo>
                    <a:pt x="1179" y="3727"/>
                    <a:pt x="1275" y="3632"/>
                    <a:pt x="1275" y="3513"/>
                  </a:cubicBezTo>
                  <a:lnTo>
                    <a:pt x="1275" y="215"/>
                  </a:lnTo>
                  <a:cubicBezTo>
                    <a:pt x="1275" y="96"/>
                    <a:pt x="1179" y="0"/>
                    <a:pt x="10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742;p78">
              <a:extLst>
                <a:ext uri="{FF2B5EF4-FFF2-40B4-BE49-F238E27FC236}">
                  <a16:creationId xmlns:a16="http://schemas.microsoft.com/office/drawing/2014/main" id="{3F1F67B4-9779-5EFA-0C84-654DA267E6C6}"/>
                </a:ext>
              </a:extLst>
            </p:cNvPr>
            <p:cNvSpPr/>
            <p:nvPr/>
          </p:nvSpPr>
          <p:spPr>
            <a:xfrm>
              <a:off x="2900197" y="3934995"/>
              <a:ext cx="40198" cy="101562"/>
            </a:xfrm>
            <a:custGeom>
              <a:avLst/>
              <a:gdLst/>
              <a:ahLst/>
              <a:cxnLst/>
              <a:rect l="l" t="t" r="r" b="b"/>
              <a:pathLst>
                <a:path w="1263" h="3191" extrusionOk="0">
                  <a:moveTo>
                    <a:pt x="846" y="417"/>
                  </a:moveTo>
                  <a:lnTo>
                    <a:pt x="846" y="2762"/>
                  </a:lnTo>
                  <a:lnTo>
                    <a:pt x="417" y="2762"/>
                  </a:lnTo>
                  <a:lnTo>
                    <a:pt x="417" y="417"/>
                  </a:lnTo>
                  <a:close/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2977"/>
                  </a:lnTo>
                  <a:cubicBezTo>
                    <a:pt x="1" y="3096"/>
                    <a:pt x="84" y="3191"/>
                    <a:pt x="203" y="3191"/>
                  </a:cubicBezTo>
                  <a:lnTo>
                    <a:pt x="1048" y="3191"/>
                  </a:lnTo>
                  <a:cubicBezTo>
                    <a:pt x="1168" y="3191"/>
                    <a:pt x="1263" y="3096"/>
                    <a:pt x="1263" y="2977"/>
                  </a:cubicBezTo>
                  <a:lnTo>
                    <a:pt x="1263" y="214"/>
                  </a:lnTo>
                  <a:cubicBezTo>
                    <a:pt x="1263" y="95"/>
                    <a:pt x="1179" y="0"/>
                    <a:pt x="10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743;p78">
              <a:extLst>
                <a:ext uri="{FF2B5EF4-FFF2-40B4-BE49-F238E27FC236}">
                  <a16:creationId xmlns:a16="http://schemas.microsoft.com/office/drawing/2014/main" id="{95F7A045-1CC0-9CDE-8B14-06066C9E9073}"/>
                </a:ext>
              </a:extLst>
            </p:cNvPr>
            <p:cNvSpPr/>
            <p:nvPr/>
          </p:nvSpPr>
          <p:spPr>
            <a:xfrm>
              <a:off x="2948320" y="3879265"/>
              <a:ext cx="40580" cy="156941"/>
            </a:xfrm>
            <a:custGeom>
              <a:avLst/>
              <a:gdLst/>
              <a:ahLst/>
              <a:cxnLst/>
              <a:rect l="l" t="t" r="r" b="b"/>
              <a:pathLst>
                <a:path w="1275" h="4931" extrusionOk="0">
                  <a:moveTo>
                    <a:pt x="858" y="430"/>
                  </a:moveTo>
                  <a:lnTo>
                    <a:pt x="858" y="4525"/>
                  </a:lnTo>
                  <a:lnTo>
                    <a:pt x="418" y="4525"/>
                  </a:lnTo>
                  <a:lnTo>
                    <a:pt x="418" y="430"/>
                  </a:lnTo>
                  <a:close/>
                  <a:moveTo>
                    <a:pt x="215" y="1"/>
                  </a:moveTo>
                  <a:cubicBezTo>
                    <a:pt x="96" y="1"/>
                    <a:pt x="1" y="108"/>
                    <a:pt x="1" y="203"/>
                  </a:cubicBezTo>
                  <a:lnTo>
                    <a:pt x="1" y="4716"/>
                  </a:lnTo>
                  <a:cubicBezTo>
                    <a:pt x="1" y="4835"/>
                    <a:pt x="96" y="4930"/>
                    <a:pt x="215" y="4930"/>
                  </a:cubicBezTo>
                  <a:lnTo>
                    <a:pt x="1060" y="4930"/>
                  </a:lnTo>
                  <a:cubicBezTo>
                    <a:pt x="1180" y="4930"/>
                    <a:pt x="1275" y="4835"/>
                    <a:pt x="1275" y="4716"/>
                  </a:cubicBezTo>
                  <a:lnTo>
                    <a:pt x="1275" y="203"/>
                  </a:lnTo>
                  <a:cubicBezTo>
                    <a:pt x="1275" y="84"/>
                    <a:pt x="1180" y="1"/>
                    <a:pt x="106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744;p78">
              <a:extLst>
                <a:ext uri="{FF2B5EF4-FFF2-40B4-BE49-F238E27FC236}">
                  <a16:creationId xmlns:a16="http://schemas.microsoft.com/office/drawing/2014/main" id="{DFEAD27D-EA0C-1926-82B5-92B9E87957EE}"/>
                </a:ext>
              </a:extLst>
            </p:cNvPr>
            <p:cNvSpPr/>
            <p:nvPr/>
          </p:nvSpPr>
          <p:spPr>
            <a:xfrm>
              <a:off x="2716807" y="3896325"/>
              <a:ext cx="49269" cy="13304"/>
            </a:xfrm>
            <a:custGeom>
              <a:avLst/>
              <a:gdLst/>
              <a:ahLst/>
              <a:cxnLst/>
              <a:rect l="l" t="t" r="r" b="b"/>
              <a:pathLst>
                <a:path w="1548" h="418" extrusionOk="0">
                  <a:moveTo>
                    <a:pt x="214" y="1"/>
                  </a:moveTo>
                  <a:cubicBezTo>
                    <a:pt x="95" y="1"/>
                    <a:pt x="0" y="84"/>
                    <a:pt x="0" y="203"/>
                  </a:cubicBezTo>
                  <a:cubicBezTo>
                    <a:pt x="0" y="322"/>
                    <a:pt x="107" y="417"/>
                    <a:pt x="214" y="417"/>
                  </a:cubicBezTo>
                  <a:lnTo>
                    <a:pt x="1345" y="417"/>
                  </a:lnTo>
                  <a:cubicBezTo>
                    <a:pt x="1453" y="417"/>
                    <a:pt x="1548" y="322"/>
                    <a:pt x="1548" y="203"/>
                  </a:cubicBezTo>
                  <a:cubicBezTo>
                    <a:pt x="1548" y="84"/>
                    <a:pt x="1453" y="1"/>
                    <a:pt x="134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745;p78">
              <a:extLst>
                <a:ext uri="{FF2B5EF4-FFF2-40B4-BE49-F238E27FC236}">
                  <a16:creationId xmlns:a16="http://schemas.microsoft.com/office/drawing/2014/main" id="{B41D6C7B-AB29-0CAC-5D8A-9199E1F1BEAE}"/>
                </a:ext>
              </a:extLst>
            </p:cNvPr>
            <p:cNvSpPr/>
            <p:nvPr/>
          </p:nvSpPr>
          <p:spPr>
            <a:xfrm>
              <a:off x="2717157" y="3917553"/>
              <a:ext cx="69002" cy="13304"/>
            </a:xfrm>
            <a:custGeom>
              <a:avLst/>
              <a:gdLst/>
              <a:ahLst/>
              <a:cxnLst/>
              <a:rect l="l" t="t" r="r" b="b"/>
              <a:pathLst>
                <a:path w="2168" h="418" extrusionOk="0">
                  <a:moveTo>
                    <a:pt x="215" y="0"/>
                  </a:moveTo>
                  <a:cubicBezTo>
                    <a:pt x="96" y="0"/>
                    <a:pt x="1" y="96"/>
                    <a:pt x="1" y="215"/>
                  </a:cubicBezTo>
                  <a:cubicBezTo>
                    <a:pt x="1" y="334"/>
                    <a:pt x="96" y="417"/>
                    <a:pt x="215" y="417"/>
                  </a:cubicBezTo>
                  <a:lnTo>
                    <a:pt x="1954" y="417"/>
                  </a:lnTo>
                  <a:cubicBezTo>
                    <a:pt x="2073" y="417"/>
                    <a:pt x="2168" y="334"/>
                    <a:pt x="2168" y="215"/>
                  </a:cubicBezTo>
                  <a:cubicBezTo>
                    <a:pt x="2168" y="96"/>
                    <a:pt x="2061" y="0"/>
                    <a:pt x="19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746;p78">
              <a:extLst>
                <a:ext uri="{FF2B5EF4-FFF2-40B4-BE49-F238E27FC236}">
                  <a16:creationId xmlns:a16="http://schemas.microsoft.com/office/drawing/2014/main" id="{9D50D437-FBBF-5D9C-47B8-30DB81C52BDE}"/>
                </a:ext>
              </a:extLst>
            </p:cNvPr>
            <p:cNvSpPr/>
            <p:nvPr/>
          </p:nvSpPr>
          <p:spPr>
            <a:xfrm>
              <a:off x="2717157" y="3938782"/>
              <a:ext cx="69002" cy="13272"/>
            </a:xfrm>
            <a:custGeom>
              <a:avLst/>
              <a:gdLst/>
              <a:ahLst/>
              <a:cxnLst/>
              <a:rect l="l" t="t" r="r" b="b"/>
              <a:pathLst>
                <a:path w="2168" h="417" extrusionOk="0">
                  <a:moveTo>
                    <a:pt x="215" y="0"/>
                  </a:moveTo>
                  <a:cubicBezTo>
                    <a:pt x="96" y="0"/>
                    <a:pt x="1" y="95"/>
                    <a:pt x="1" y="214"/>
                  </a:cubicBezTo>
                  <a:cubicBezTo>
                    <a:pt x="1" y="334"/>
                    <a:pt x="96" y="417"/>
                    <a:pt x="215" y="417"/>
                  </a:cubicBezTo>
                  <a:lnTo>
                    <a:pt x="1954" y="417"/>
                  </a:lnTo>
                  <a:cubicBezTo>
                    <a:pt x="2073" y="417"/>
                    <a:pt x="2168" y="334"/>
                    <a:pt x="2168" y="214"/>
                  </a:cubicBezTo>
                  <a:cubicBezTo>
                    <a:pt x="2168" y="95"/>
                    <a:pt x="2061" y="0"/>
                    <a:pt x="19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747;p78">
              <a:extLst>
                <a:ext uri="{FF2B5EF4-FFF2-40B4-BE49-F238E27FC236}">
                  <a16:creationId xmlns:a16="http://schemas.microsoft.com/office/drawing/2014/main" id="{EE3D1657-B35B-5EDC-EF57-EDF6B896BE65}"/>
                </a:ext>
              </a:extLst>
            </p:cNvPr>
            <p:cNvSpPr/>
            <p:nvPr/>
          </p:nvSpPr>
          <p:spPr>
            <a:xfrm>
              <a:off x="2717157" y="3960361"/>
              <a:ext cx="69002" cy="13304"/>
            </a:xfrm>
            <a:custGeom>
              <a:avLst/>
              <a:gdLst/>
              <a:ahLst/>
              <a:cxnLst/>
              <a:rect l="l" t="t" r="r" b="b"/>
              <a:pathLst>
                <a:path w="2168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8"/>
                    <a:pt x="215" y="418"/>
                  </a:cubicBezTo>
                  <a:lnTo>
                    <a:pt x="1954" y="418"/>
                  </a:lnTo>
                  <a:cubicBezTo>
                    <a:pt x="2073" y="418"/>
                    <a:pt x="2168" y="322"/>
                    <a:pt x="2168" y="203"/>
                  </a:cubicBezTo>
                  <a:cubicBezTo>
                    <a:pt x="2168" y="84"/>
                    <a:pt x="2061" y="1"/>
                    <a:pt x="195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748;p78">
              <a:extLst>
                <a:ext uri="{FF2B5EF4-FFF2-40B4-BE49-F238E27FC236}">
                  <a16:creationId xmlns:a16="http://schemas.microsoft.com/office/drawing/2014/main" id="{D5275559-49CC-A8F2-38CE-388EA00384DC}"/>
                </a:ext>
              </a:extLst>
            </p:cNvPr>
            <p:cNvSpPr/>
            <p:nvPr/>
          </p:nvSpPr>
          <p:spPr>
            <a:xfrm>
              <a:off x="2655793" y="4020993"/>
              <a:ext cx="84152" cy="82656"/>
            </a:xfrm>
            <a:custGeom>
              <a:avLst/>
              <a:gdLst/>
              <a:ahLst/>
              <a:cxnLst/>
              <a:rect l="l" t="t" r="r" b="b"/>
              <a:pathLst>
                <a:path w="2644" h="2597" extrusionOk="0">
                  <a:moveTo>
                    <a:pt x="1322" y="1"/>
                  </a:moveTo>
                  <a:cubicBezTo>
                    <a:pt x="595" y="1"/>
                    <a:pt x="0" y="596"/>
                    <a:pt x="0" y="1322"/>
                  </a:cubicBezTo>
                  <a:cubicBezTo>
                    <a:pt x="0" y="1620"/>
                    <a:pt x="84" y="1882"/>
                    <a:pt x="262" y="2120"/>
                  </a:cubicBezTo>
                  <a:cubicBezTo>
                    <a:pt x="312" y="2177"/>
                    <a:pt x="379" y="2204"/>
                    <a:pt x="442" y="2204"/>
                  </a:cubicBezTo>
                  <a:cubicBezTo>
                    <a:pt x="485" y="2204"/>
                    <a:pt x="526" y="2192"/>
                    <a:pt x="560" y="2168"/>
                  </a:cubicBezTo>
                  <a:cubicBezTo>
                    <a:pt x="655" y="2096"/>
                    <a:pt x="667" y="1965"/>
                    <a:pt x="607" y="1870"/>
                  </a:cubicBezTo>
                  <a:cubicBezTo>
                    <a:pt x="488" y="1703"/>
                    <a:pt x="429" y="1525"/>
                    <a:pt x="429" y="1322"/>
                  </a:cubicBezTo>
                  <a:cubicBezTo>
                    <a:pt x="429" y="822"/>
                    <a:pt x="834" y="406"/>
                    <a:pt x="1334" y="406"/>
                  </a:cubicBezTo>
                  <a:cubicBezTo>
                    <a:pt x="1846" y="406"/>
                    <a:pt x="2239" y="810"/>
                    <a:pt x="2239" y="1322"/>
                  </a:cubicBezTo>
                  <a:cubicBezTo>
                    <a:pt x="2239" y="1620"/>
                    <a:pt x="2096" y="1894"/>
                    <a:pt x="1846" y="2061"/>
                  </a:cubicBezTo>
                  <a:cubicBezTo>
                    <a:pt x="1822" y="2061"/>
                    <a:pt x="1822" y="2073"/>
                    <a:pt x="1810" y="2073"/>
                  </a:cubicBezTo>
                  <a:lnTo>
                    <a:pt x="1798" y="2073"/>
                  </a:lnTo>
                  <a:cubicBezTo>
                    <a:pt x="1786" y="2073"/>
                    <a:pt x="1786" y="2096"/>
                    <a:pt x="1762" y="2096"/>
                  </a:cubicBezTo>
                  <a:lnTo>
                    <a:pt x="1750" y="2096"/>
                  </a:lnTo>
                  <a:cubicBezTo>
                    <a:pt x="1738" y="2096"/>
                    <a:pt x="1738" y="2108"/>
                    <a:pt x="1727" y="2108"/>
                  </a:cubicBezTo>
                  <a:cubicBezTo>
                    <a:pt x="1703" y="2108"/>
                    <a:pt x="1691" y="2120"/>
                    <a:pt x="1691" y="2120"/>
                  </a:cubicBezTo>
                  <a:lnTo>
                    <a:pt x="1679" y="2120"/>
                  </a:lnTo>
                  <a:cubicBezTo>
                    <a:pt x="1667" y="2120"/>
                    <a:pt x="1667" y="2120"/>
                    <a:pt x="1643" y="2144"/>
                  </a:cubicBezTo>
                  <a:lnTo>
                    <a:pt x="1631" y="2144"/>
                  </a:lnTo>
                  <a:cubicBezTo>
                    <a:pt x="1619" y="2144"/>
                    <a:pt x="1608" y="2156"/>
                    <a:pt x="1608" y="2156"/>
                  </a:cubicBezTo>
                  <a:cubicBezTo>
                    <a:pt x="1584" y="2156"/>
                    <a:pt x="1572" y="2156"/>
                    <a:pt x="1560" y="2168"/>
                  </a:cubicBezTo>
                  <a:lnTo>
                    <a:pt x="1072" y="2168"/>
                  </a:lnTo>
                  <a:cubicBezTo>
                    <a:pt x="1048" y="2168"/>
                    <a:pt x="1036" y="2168"/>
                    <a:pt x="1024" y="2156"/>
                  </a:cubicBezTo>
                  <a:cubicBezTo>
                    <a:pt x="1012" y="2156"/>
                    <a:pt x="988" y="2144"/>
                    <a:pt x="988" y="2144"/>
                  </a:cubicBezTo>
                  <a:lnTo>
                    <a:pt x="976" y="2144"/>
                  </a:lnTo>
                  <a:cubicBezTo>
                    <a:pt x="951" y="2133"/>
                    <a:pt x="925" y="2127"/>
                    <a:pt x="899" y="2127"/>
                  </a:cubicBezTo>
                  <a:cubicBezTo>
                    <a:pt x="817" y="2127"/>
                    <a:pt x="742" y="2181"/>
                    <a:pt x="715" y="2263"/>
                  </a:cubicBezTo>
                  <a:cubicBezTo>
                    <a:pt x="667" y="2358"/>
                    <a:pt x="726" y="2501"/>
                    <a:pt x="834" y="2525"/>
                  </a:cubicBezTo>
                  <a:lnTo>
                    <a:pt x="846" y="2525"/>
                  </a:lnTo>
                  <a:cubicBezTo>
                    <a:pt x="857" y="2525"/>
                    <a:pt x="869" y="2537"/>
                    <a:pt x="905" y="2537"/>
                  </a:cubicBezTo>
                  <a:cubicBezTo>
                    <a:pt x="917" y="2537"/>
                    <a:pt x="929" y="2561"/>
                    <a:pt x="965" y="2561"/>
                  </a:cubicBezTo>
                  <a:lnTo>
                    <a:pt x="976" y="2561"/>
                  </a:lnTo>
                  <a:cubicBezTo>
                    <a:pt x="988" y="2561"/>
                    <a:pt x="1012" y="2561"/>
                    <a:pt x="1024" y="2573"/>
                  </a:cubicBezTo>
                  <a:lnTo>
                    <a:pt x="1036" y="2573"/>
                  </a:lnTo>
                  <a:cubicBezTo>
                    <a:pt x="1048" y="2573"/>
                    <a:pt x="1072" y="2573"/>
                    <a:pt x="1096" y="2584"/>
                  </a:cubicBezTo>
                  <a:cubicBezTo>
                    <a:pt x="1107" y="2584"/>
                    <a:pt x="1143" y="2584"/>
                    <a:pt x="1155" y="2596"/>
                  </a:cubicBezTo>
                  <a:lnTo>
                    <a:pt x="1429" y="2596"/>
                  </a:lnTo>
                  <a:cubicBezTo>
                    <a:pt x="1441" y="2596"/>
                    <a:pt x="1465" y="2596"/>
                    <a:pt x="1488" y="2584"/>
                  </a:cubicBezTo>
                  <a:cubicBezTo>
                    <a:pt x="1500" y="2584"/>
                    <a:pt x="1524" y="2584"/>
                    <a:pt x="1548" y="2573"/>
                  </a:cubicBezTo>
                  <a:lnTo>
                    <a:pt x="1560" y="2573"/>
                  </a:lnTo>
                  <a:cubicBezTo>
                    <a:pt x="1572" y="2573"/>
                    <a:pt x="1584" y="2573"/>
                    <a:pt x="1608" y="2561"/>
                  </a:cubicBezTo>
                  <a:lnTo>
                    <a:pt x="1619" y="2561"/>
                  </a:lnTo>
                  <a:cubicBezTo>
                    <a:pt x="1631" y="2561"/>
                    <a:pt x="1643" y="2537"/>
                    <a:pt x="1679" y="2537"/>
                  </a:cubicBezTo>
                  <a:cubicBezTo>
                    <a:pt x="1691" y="2537"/>
                    <a:pt x="1703" y="2525"/>
                    <a:pt x="1738" y="2525"/>
                  </a:cubicBezTo>
                  <a:lnTo>
                    <a:pt x="1750" y="2525"/>
                  </a:lnTo>
                  <a:cubicBezTo>
                    <a:pt x="1762" y="2525"/>
                    <a:pt x="1786" y="2513"/>
                    <a:pt x="1798" y="2513"/>
                  </a:cubicBezTo>
                  <a:lnTo>
                    <a:pt x="1810" y="2513"/>
                  </a:lnTo>
                  <a:cubicBezTo>
                    <a:pt x="1822" y="2513"/>
                    <a:pt x="1846" y="2489"/>
                    <a:pt x="1858" y="2477"/>
                  </a:cubicBezTo>
                  <a:cubicBezTo>
                    <a:pt x="1869" y="2465"/>
                    <a:pt x="1881" y="2465"/>
                    <a:pt x="1905" y="2454"/>
                  </a:cubicBezTo>
                  <a:lnTo>
                    <a:pt x="1917" y="2430"/>
                  </a:lnTo>
                  <a:cubicBezTo>
                    <a:pt x="1929" y="2430"/>
                    <a:pt x="1941" y="2418"/>
                    <a:pt x="1941" y="2418"/>
                  </a:cubicBezTo>
                  <a:lnTo>
                    <a:pt x="1965" y="2406"/>
                  </a:lnTo>
                  <a:cubicBezTo>
                    <a:pt x="1977" y="2394"/>
                    <a:pt x="1989" y="2394"/>
                    <a:pt x="2000" y="2370"/>
                  </a:cubicBezTo>
                  <a:cubicBezTo>
                    <a:pt x="2381" y="2120"/>
                    <a:pt x="2584" y="1715"/>
                    <a:pt x="2584" y="1275"/>
                  </a:cubicBezTo>
                  <a:cubicBezTo>
                    <a:pt x="2643" y="596"/>
                    <a:pt x="2048" y="1"/>
                    <a:pt x="13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9C75FEA-8869-245D-1C23-7B20AEA12096}"/>
              </a:ext>
            </a:extLst>
          </p:cNvPr>
          <p:cNvSpPr txBox="1"/>
          <p:nvPr/>
        </p:nvSpPr>
        <p:spPr>
          <a:xfrm>
            <a:off x="777583" y="1800216"/>
            <a:ext cx="1499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FBA </a:t>
            </a:r>
            <a:r>
              <a:rPr lang="el-GR" b="1" dirty="0">
                <a:solidFill>
                  <a:schemeClr val="tx1"/>
                </a:solidFill>
              </a:rPr>
              <a:t>αποτελέσματα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80BF70-E08F-FD68-9734-025C463035FC}"/>
              </a:ext>
            </a:extLst>
          </p:cNvPr>
          <p:cNvSpPr txBox="1"/>
          <p:nvPr/>
        </p:nvSpPr>
        <p:spPr>
          <a:xfrm>
            <a:off x="2949934" y="1828793"/>
            <a:ext cx="1622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b="1" dirty="0">
                <a:solidFill>
                  <a:schemeClr val="tx1"/>
                </a:solidFill>
              </a:rPr>
              <a:t>Χαρακτηριστικά εισόδου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F42F0C-7DA0-BE0A-1D67-11D6DEA81E9D}"/>
              </a:ext>
            </a:extLst>
          </p:cNvPr>
          <p:cNvSpPr txBox="1"/>
          <p:nvPr/>
        </p:nvSpPr>
        <p:spPr>
          <a:xfrm>
            <a:off x="5183318" y="1738660"/>
            <a:ext cx="1622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200" b="1" dirty="0">
                <a:solidFill>
                  <a:schemeClr val="tx1"/>
                </a:solidFill>
              </a:rPr>
              <a:t>Μεγαλύτερο και ομοιογενές σύνολο δεδομένων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E1FF0A-E7E2-AC6B-2781-C9EC40226AAF}"/>
              </a:ext>
            </a:extLst>
          </p:cNvPr>
          <p:cNvSpPr txBox="1"/>
          <p:nvPr/>
        </p:nvSpPr>
        <p:spPr>
          <a:xfrm>
            <a:off x="7309003" y="1800215"/>
            <a:ext cx="1837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b="1" dirty="0">
                <a:solidFill>
                  <a:schemeClr val="tx1"/>
                </a:solidFill>
              </a:rPr>
              <a:t>Μελλοντική Μηχανική Μάθηση</a:t>
            </a:r>
          </a:p>
        </p:txBody>
      </p:sp>
      <p:grpSp>
        <p:nvGrpSpPr>
          <p:cNvPr id="34" name="Google Shape;10293;p76">
            <a:extLst>
              <a:ext uri="{FF2B5EF4-FFF2-40B4-BE49-F238E27FC236}">
                <a16:creationId xmlns:a16="http://schemas.microsoft.com/office/drawing/2014/main" id="{60B31BED-D750-CC47-9584-2C703B523134}"/>
              </a:ext>
            </a:extLst>
          </p:cNvPr>
          <p:cNvGrpSpPr/>
          <p:nvPr/>
        </p:nvGrpSpPr>
        <p:grpSpPr>
          <a:xfrm>
            <a:off x="3375427" y="1132237"/>
            <a:ext cx="771080" cy="687032"/>
            <a:chOff x="2497275" y="2744159"/>
            <a:chExt cx="370930" cy="370549"/>
          </a:xfrm>
        </p:grpSpPr>
        <p:sp>
          <p:nvSpPr>
            <p:cNvPr id="35" name="Google Shape;10294;p76">
              <a:extLst>
                <a:ext uri="{FF2B5EF4-FFF2-40B4-BE49-F238E27FC236}">
                  <a16:creationId xmlns:a16="http://schemas.microsoft.com/office/drawing/2014/main" id="{203CF712-F19F-03D7-492B-58B3C6D33E1C}"/>
                </a:ext>
              </a:extLst>
            </p:cNvPr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295;p76">
              <a:extLst>
                <a:ext uri="{FF2B5EF4-FFF2-40B4-BE49-F238E27FC236}">
                  <a16:creationId xmlns:a16="http://schemas.microsoft.com/office/drawing/2014/main" id="{2179AB80-10B6-F544-5140-CE14C212DD78}"/>
                </a:ext>
              </a:extLst>
            </p:cNvPr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296;p76">
              <a:extLst>
                <a:ext uri="{FF2B5EF4-FFF2-40B4-BE49-F238E27FC236}">
                  <a16:creationId xmlns:a16="http://schemas.microsoft.com/office/drawing/2014/main" id="{710EB1B7-54D9-C1AE-F063-E6B4B7700B36}"/>
                </a:ext>
              </a:extLst>
            </p:cNvPr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297;p76">
              <a:extLst>
                <a:ext uri="{FF2B5EF4-FFF2-40B4-BE49-F238E27FC236}">
                  <a16:creationId xmlns:a16="http://schemas.microsoft.com/office/drawing/2014/main" id="{70042FCF-AB98-EEDD-CEE4-4D04966BAFEF}"/>
                </a:ext>
              </a:extLst>
            </p:cNvPr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298;p76">
              <a:extLst>
                <a:ext uri="{FF2B5EF4-FFF2-40B4-BE49-F238E27FC236}">
                  <a16:creationId xmlns:a16="http://schemas.microsoft.com/office/drawing/2014/main" id="{D8EBA0CB-1FBE-4BE0-0DCD-156DE38C3201}"/>
                </a:ext>
              </a:extLst>
            </p:cNvPr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299;p76">
              <a:extLst>
                <a:ext uri="{FF2B5EF4-FFF2-40B4-BE49-F238E27FC236}">
                  <a16:creationId xmlns:a16="http://schemas.microsoft.com/office/drawing/2014/main" id="{E269E1AC-5050-564C-64C3-1E1841010617}"/>
                </a:ext>
              </a:extLst>
            </p:cNvPr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13910;p82">
            <a:extLst>
              <a:ext uri="{FF2B5EF4-FFF2-40B4-BE49-F238E27FC236}">
                <a16:creationId xmlns:a16="http://schemas.microsoft.com/office/drawing/2014/main" id="{D2485F08-E8DB-7F58-7611-75464F625F57}"/>
              </a:ext>
            </a:extLst>
          </p:cNvPr>
          <p:cNvGrpSpPr/>
          <p:nvPr/>
        </p:nvGrpSpPr>
        <p:grpSpPr>
          <a:xfrm>
            <a:off x="5695911" y="1178829"/>
            <a:ext cx="596880" cy="567978"/>
            <a:chOff x="6099375" y="2456075"/>
            <a:chExt cx="337684" cy="314194"/>
          </a:xfrm>
        </p:grpSpPr>
        <p:sp>
          <p:nvSpPr>
            <p:cNvPr id="42" name="Google Shape;13911;p82">
              <a:extLst>
                <a:ext uri="{FF2B5EF4-FFF2-40B4-BE49-F238E27FC236}">
                  <a16:creationId xmlns:a16="http://schemas.microsoft.com/office/drawing/2014/main" id="{9C71E992-FAD6-E006-B356-8B46324F6874}"/>
                </a:ext>
              </a:extLst>
            </p:cNvPr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912;p82">
              <a:extLst>
                <a:ext uri="{FF2B5EF4-FFF2-40B4-BE49-F238E27FC236}">
                  <a16:creationId xmlns:a16="http://schemas.microsoft.com/office/drawing/2014/main" id="{6B065053-DAC3-39E2-7AAA-9570D6D83DDA}"/>
                </a:ext>
              </a:extLst>
            </p:cNvPr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12794;p80">
            <a:extLst>
              <a:ext uri="{FF2B5EF4-FFF2-40B4-BE49-F238E27FC236}">
                <a16:creationId xmlns:a16="http://schemas.microsoft.com/office/drawing/2014/main" id="{0ED0DA1A-3851-709B-9986-1E2CE67C717A}"/>
              </a:ext>
            </a:extLst>
          </p:cNvPr>
          <p:cNvGrpSpPr/>
          <p:nvPr/>
        </p:nvGrpSpPr>
        <p:grpSpPr>
          <a:xfrm>
            <a:off x="7853990" y="1157120"/>
            <a:ext cx="747487" cy="662151"/>
            <a:chOff x="1367060" y="2422129"/>
            <a:chExt cx="269261" cy="352050"/>
          </a:xfrm>
        </p:grpSpPr>
        <p:sp>
          <p:nvSpPr>
            <p:cNvPr id="45" name="Google Shape;12795;p80">
              <a:extLst>
                <a:ext uri="{FF2B5EF4-FFF2-40B4-BE49-F238E27FC236}">
                  <a16:creationId xmlns:a16="http://schemas.microsoft.com/office/drawing/2014/main" id="{14183A7C-16C6-D15F-4B7A-D1B56F563B41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96;p80">
              <a:extLst>
                <a:ext uri="{FF2B5EF4-FFF2-40B4-BE49-F238E27FC236}">
                  <a16:creationId xmlns:a16="http://schemas.microsoft.com/office/drawing/2014/main" id="{520653AB-DB64-AF95-7B49-19723934DDB7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97;p80">
              <a:extLst>
                <a:ext uri="{FF2B5EF4-FFF2-40B4-BE49-F238E27FC236}">
                  <a16:creationId xmlns:a16="http://schemas.microsoft.com/office/drawing/2014/main" id="{672C9C38-4DA2-A952-BB91-E1FDA341773A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798;p80">
              <a:extLst>
                <a:ext uri="{FF2B5EF4-FFF2-40B4-BE49-F238E27FC236}">
                  <a16:creationId xmlns:a16="http://schemas.microsoft.com/office/drawing/2014/main" id="{DB23BFC5-97FC-84CD-BD7D-86A1264C4B28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799;p80">
              <a:extLst>
                <a:ext uri="{FF2B5EF4-FFF2-40B4-BE49-F238E27FC236}">
                  <a16:creationId xmlns:a16="http://schemas.microsoft.com/office/drawing/2014/main" id="{95653FBB-8031-DCA4-7462-51FB9E080CEC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800;p80">
              <a:extLst>
                <a:ext uri="{FF2B5EF4-FFF2-40B4-BE49-F238E27FC236}">
                  <a16:creationId xmlns:a16="http://schemas.microsoft.com/office/drawing/2014/main" id="{CBA10B14-0387-1A2E-51C8-7CC48DAD859B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01;p80">
              <a:extLst>
                <a:ext uri="{FF2B5EF4-FFF2-40B4-BE49-F238E27FC236}">
                  <a16:creationId xmlns:a16="http://schemas.microsoft.com/office/drawing/2014/main" id="{A1B97DD7-DF7D-0DBD-E3A6-2ED040EADA09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02;p80">
              <a:extLst>
                <a:ext uri="{FF2B5EF4-FFF2-40B4-BE49-F238E27FC236}">
                  <a16:creationId xmlns:a16="http://schemas.microsoft.com/office/drawing/2014/main" id="{0BC47056-86AF-4220-066E-42DF4D76C1B9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803;p80">
              <a:extLst>
                <a:ext uri="{FF2B5EF4-FFF2-40B4-BE49-F238E27FC236}">
                  <a16:creationId xmlns:a16="http://schemas.microsoft.com/office/drawing/2014/main" id="{C6D1FD47-5163-FBF8-4F05-825D3A97E960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804;p80">
              <a:extLst>
                <a:ext uri="{FF2B5EF4-FFF2-40B4-BE49-F238E27FC236}">
                  <a16:creationId xmlns:a16="http://schemas.microsoft.com/office/drawing/2014/main" id="{7BFF97DF-A81B-F233-894E-090E2A7B6E32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05;p80">
              <a:extLst>
                <a:ext uri="{FF2B5EF4-FFF2-40B4-BE49-F238E27FC236}">
                  <a16:creationId xmlns:a16="http://schemas.microsoft.com/office/drawing/2014/main" id="{CD1A7BD3-F2A2-08FA-73D6-1289B89FA1E5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806;p80">
              <a:extLst>
                <a:ext uri="{FF2B5EF4-FFF2-40B4-BE49-F238E27FC236}">
                  <a16:creationId xmlns:a16="http://schemas.microsoft.com/office/drawing/2014/main" id="{88EDB6CA-7FB2-BC57-E73D-3B10EE01C6E5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807;p80">
              <a:extLst>
                <a:ext uri="{FF2B5EF4-FFF2-40B4-BE49-F238E27FC236}">
                  <a16:creationId xmlns:a16="http://schemas.microsoft.com/office/drawing/2014/main" id="{6E7DF06D-0991-71D7-6BB6-5669707D1406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808;p80">
              <a:extLst>
                <a:ext uri="{FF2B5EF4-FFF2-40B4-BE49-F238E27FC236}">
                  <a16:creationId xmlns:a16="http://schemas.microsoft.com/office/drawing/2014/main" id="{3C132FE1-862B-9784-C64D-CFE09024AE32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A8766413-17C5-80A6-30C6-2F3AC332C690}"/>
              </a:ext>
            </a:extLst>
          </p:cNvPr>
          <p:cNvSpPr/>
          <p:nvPr/>
        </p:nvSpPr>
        <p:spPr>
          <a:xfrm>
            <a:off x="2863089" y="2791488"/>
            <a:ext cx="1765189" cy="16300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725057-07FC-DFAE-ACC5-493568C3E226}"/>
              </a:ext>
            </a:extLst>
          </p:cNvPr>
          <p:cNvSpPr txBox="1"/>
          <p:nvPr/>
        </p:nvSpPr>
        <p:spPr>
          <a:xfrm>
            <a:off x="2863089" y="2814942"/>
            <a:ext cx="1765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tx1"/>
                </a:solidFill>
              </a:rPr>
              <a:t>Τιμή αντικειμενικής συνάρτησης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tx1"/>
                </a:solidFill>
              </a:rPr>
              <a:t>Ενεργές ροές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tx1"/>
                </a:solidFill>
              </a:rPr>
              <a:t>Αποκλεισμένες αντιδράσεις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tx1"/>
                </a:solidFill>
              </a:rPr>
              <a:t>Εσωτερικές Μεταβολικές Ροές</a:t>
            </a: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43B50281-DE24-DD48-CC69-D86D60555EEA}"/>
              </a:ext>
            </a:extLst>
          </p:cNvPr>
          <p:cNvSpPr/>
          <p:nvPr/>
        </p:nvSpPr>
        <p:spPr>
          <a:xfrm>
            <a:off x="3598677" y="2390366"/>
            <a:ext cx="209919" cy="372293"/>
          </a:xfrm>
          <a:prstGeom prst="downArrow">
            <a:avLst/>
          </a:prstGeom>
          <a:solidFill>
            <a:schemeClr val="bg1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C7EE5304-4B4B-5369-7E94-55891EA54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053784"/>
              </p:ext>
            </p:extLst>
          </p:nvPr>
        </p:nvGraphicFramePr>
        <p:xfrm>
          <a:off x="4860646" y="3019639"/>
          <a:ext cx="3573120" cy="1221665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639093">
                  <a:extLst>
                    <a:ext uri="{9D8B030D-6E8A-4147-A177-3AD203B41FA5}">
                      <a16:colId xmlns:a16="http://schemas.microsoft.com/office/drawing/2014/main" val="2267058904"/>
                    </a:ext>
                  </a:extLst>
                </a:gridCol>
                <a:gridCol w="2934027">
                  <a:extLst>
                    <a:ext uri="{9D8B030D-6E8A-4147-A177-3AD203B41FA5}">
                      <a16:colId xmlns:a16="http://schemas.microsoft.com/office/drawing/2014/main" val="499034698"/>
                    </a:ext>
                  </a:extLst>
                </a:gridCol>
              </a:tblGrid>
              <a:tr h="439198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b="1" dirty="0">
                          <a:solidFill>
                            <a:schemeClr val="tx1"/>
                          </a:solidFill>
                        </a:rPr>
                        <a:t>Πιθανές Εφαρμογές</a:t>
                      </a:r>
                    </a:p>
                    <a:p>
                      <a:r>
                        <a:rPr lang="el-GR" sz="1200" dirty="0">
                          <a:solidFill>
                            <a:schemeClr val="tx1"/>
                          </a:solidFill>
                        </a:rPr>
                        <a:t>Ταξινόμηση </a:t>
                      </a:r>
                      <a:r>
                        <a:rPr lang="el-GR" sz="12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· Ομαδοποίηση · Πρόβλεψη</a:t>
                      </a:r>
                      <a:endParaRPr lang="el-G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6054861"/>
                  </a:ext>
                </a:extLst>
              </a:tr>
              <a:tr h="733985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b="1" dirty="0">
                          <a:solidFill>
                            <a:schemeClr val="tx1"/>
                          </a:solidFill>
                        </a:rPr>
                        <a:t>Περιορισμός: </a:t>
                      </a:r>
                      <a:r>
                        <a:rPr lang="el-GR" sz="1200" dirty="0">
                          <a:solidFill>
                            <a:schemeClr val="tx1"/>
                          </a:solidFill>
                        </a:rPr>
                        <a:t>Τα διαθέσιμα δεδομένα δεν επαρκούσαν για την αξιόπιστη εκπαίδευση του μοντέλου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784608"/>
                  </a:ext>
                </a:extLst>
              </a:tr>
            </a:tbl>
          </a:graphicData>
        </a:graphic>
      </p:graphicFrame>
      <p:grpSp>
        <p:nvGrpSpPr>
          <p:cNvPr id="63" name="Google Shape;12341;p79">
            <a:extLst>
              <a:ext uri="{FF2B5EF4-FFF2-40B4-BE49-F238E27FC236}">
                <a16:creationId xmlns:a16="http://schemas.microsoft.com/office/drawing/2014/main" id="{923D6A19-32D8-9C72-3A92-918057DF0215}"/>
              </a:ext>
            </a:extLst>
          </p:cNvPr>
          <p:cNvGrpSpPr/>
          <p:nvPr/>
        </p:nvGrpSpPr>
        <p:grpSpPr>
          <a:xfrm rot="5400000">
            <a:off x="4950781" y="2976997"/>
            <a:ext cx="461176" cy="451918"/>
            <a:chOff x="2185372" y="1957799"/>
            <a:chExt cx="366664" cy="366981"/>
          </a:xfrm>
          <a:solidFill>
            <a:schemeClr val="tx1"/>
          </a:solidFill>
        </p:grpSpPr>
        <p:sp>
          <p:nvSpPr>
            <p:cNvPr id="2240" name="Google Shape;12342;p79">
              <a:extLst>
                <a:ext uri="{FF2B5EF4-FFF2-40B4-BE49-F238E27FC236}">
                  <a16:creationId xmlns:a16="http://schemas.microsoft.com/office/drawing/2014/main" id="{DCF057A3-EB34-7419-B923-649A95F64600}"/>
                </a:ext>
              </a:extLst>
            </p:cNvPr>
            <p:cNvSpPr/>
            <p:nvPr/>
          </p:nvSpPr>
          <p:spPr>
            <a:xfrm>
              <a:off x="2228742" y="2000853"/>
              <a:ext cx="75082" cy="74226"/>
            </a:xfrm>
            <a:custGeom>
              <a:avLst/>
              <a:gdLst/>
              <a:ahLst/>
              <a:cxnLst/>
              <a:rect l="l" t="t" r="r" b="b"/>
              <a:pathLst>
                <a:path w="2370" h="2343" extrusionOk="0">
                  <a:moveTo>
                    <a:pt x="179" y="0"/>
                  </a:moveTo>
                  <a:cubicBezTo>
                    <a:pt x="135" y="0"/>
                    <a:pt x="90" y="15"/>
                    <a:pt x="60" y="45"/>
                  </a:cubicBezTo>
                  <a:cubicBezTo>
                    <a:pt x="1" y="104"/>
                    <a:pt x="1" y="223"/>
                    <a:pt x="60" y="283"/>
                  </a:cubicBezTo>
                  <a:lnTo>
                    <a:pt x="2072" y="2295"/>
                  </a:lnTo>
                  <a:cubicBezTo>
                    <a:pt x="2096" y="2331"/>
                    <a:pt x="2144" y="2343"/>
                    <a:pt x="2191" y="2343"/>
                  </a:cubicBezTo>
                  <a:cubicBezTo>
                    <a:pt x="2227" y="2343"/>
                    <a:pt x="2275" y="2331"/>
                    <a:pt x="2310" y="2295"/>
                  </a:cubicBezTo>
                  <a:cubicBezTo>
                    <a:pt x="2370" y="2235"/>
                    <a:pt x="2370" y="2116"/>
                    <a:pt x="2310" y="2057"/>
                  </a:cubicBezTo>
                  <a:lnTo>
                    <a:pt x="298" y="45"/>
                  </a:lnTo>
                  <a:cubicBezTo>
                    <a:pt x="269" y="15"/>
                    <a:pt x="224" y="0"/>
                    <a:pt x="179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12343;p79">
              <a:extLst>
                <a:ext uri="{FF2B5EF4-FFF2-40B4-BE49-F238E27FC236}">
                  <a16:creationId xmlns:a16="http://schemas.microsoft.com/office/drawing/2014/main" id="{B9B44DD9-0362-2DBD-4011-A38084896273}"/>
                </a:ext>
              </a:extLst>
            </p:cNvPr>
            <p:cNvSpPr/>
            <p:nvPr/>
          </p:nvSpPr>
          <p:spPr>
            <a:xfrm>
              <a:off x="2188001" y="2067159"/>
              <a:ext cx="98873" cy="35070"/>
            </a:xfrm>
            <a:custGeom>
              <a:avLst/>
              <a:gdLst/>
              <a:ahLst/>
              <a:cxnLst/>
              <a:rect l="l" t="t" r="r" b="b"/>
              <a:pathLst>
                <a:path w="3121" h="1107" extrusionOk="0">
                  <a:moveTo>
                    <a:pt x="188" y="1"/>
                  </a:moveTo>
                  <a:cubicBezTo>
                    <a:pt x="120" y="1"/>
                    <a:pt x="56" y="54"/>
                    <a:pt x="37" y="131"/>
                  </a:cubicBezTo>
                  <a:cubicBezTo>
                    <a:pt x="1" y="214"/>
                    <a:pt x="60" y="309"/>
                    <a:pt x="156" y="333"/>
                  </a:cubicBezTo>
                  <a:lnTo>
                    <a:pt x="2882" y="1107"/>
                  </a:lnTo>
                  <a:lnTo>
                    <a:pt x="2918" y="1107"/>
                  </a:lnTo>
                  <a:cubicBezTo>
                    <a:pt x="3001" y="1107"/>
                    <a:pt x="3073" y="1071"/>
                    <a:pt x="3085" y="988"/>
                  </a:cubicBezTo>
                  <a:cubicBezTo>
                    <a:pt x="3120" y="904"/>
                    <a:pt x="3061" y="809"/>
                    <a:pt x="2965" y="785"/>
                  </a:cubicBezTo>
                  <a:lnTo>
                    <a:pt x="239" y="11"/>
                  </a:lnTo>
                  <a:cubicBezTo>
                    <a:pt x="222" y="4"/>
                    <a:pt x="205" y="1"/>
                    <a:pt x="18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12344;p79">
              <a:extLst>
                <a:ext uri="{FF2B5EF4-FFF2-40B4-BE49-F238E27FC236}">
                  <a16:creationId xmlns:a16="http://schemas.microsoft.com/office/drawing/2014/main" id="{57FE72D2-E237-C415-B88D-EB6C54C5EA53}"/>
                </a:ext>
              </a:extLst>
            </p:cNvPr>
            <p:cNvSpPr/>
            <p:nvPr/>
          </p:nvSpPr>
          <p:spPr>
            <a:xfrm>
              <a:off x="2185372" y="2119114"/>
              <a:ext cx="97733" cy="37066"/>
            </a:xfrm>
            <a:custGeom>
              <a:avLst/>
              <a:gdLst/>
              <a:ahLst/>
              <a:cxnLst/>
              <a:rect l="l" t="t" r="r" b="b"/>
              <a:pathLst>
                <a:path w="3085" h="1170" extrusionOk="0">
                  <a:moveTo>
                    <a:pt x="2872" y="1"/>
                  </a:moveTo>
                  <a:cubicBezTo>
                    <a:pt x="2863" y="1"/>
                    <a:pt x="2855" y="1"/>
                    <a:pt x="2846" y="3"/>
                  </a:cubicBezTo>
                  <a:lnTo>
                    <a:pt x="131" y="836"/>
                  </a:lnTo>
                  <a:cubicBezTo>
                    <a:pt x="48" y="872"/>
                    <a:pt x="0" y="955"/>
                    <a:pt x="12" y="1050"/>
                  </a:cubicBezTo>
                  <a:cubicBezTo>
                    <a:pt x="48" y="1122"/>
                    <a:pt x="108" y="1169"/>
                    <a:pt x="179" y="1169"/>
                  </a:cubicBezTo>
                  <a:cubicBezTo>
                    <a:pt x="191" y="1169"/>
                    <a:pt x="203" y="1169"/>
                    <a:pt x="227" y="1158"/>
                  </a:cubicBezTo>
                  <a:lnTo>
                    <a:pt x="2929" y="324"/>
                  </a:lnTo>
                  <a:cubicBezTo>
                    <a:pt x="3037" y="300"/>
                    <a:pt x="3084" y="217"/>
                    <a:pt x="3048" y="122"/>
                  </a:cubicBezTo>
                  <a:cubicBezTo>
                    <a:pt x="3027" y="47"/>
                    <a:pt x="2948" y="1"/>
                    <a:pt x="287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12345;p79">
              <a:extLst>
                <a:ext uri="{FF2B5EF4-FFF2-40B4-BE49-F238E27FC236}">
                  <a16:creationId xmlns:a16="http://schemas.microsoft.com/office/drawing/2014/main" id="{CF6F35A9-28D3-9DD6-9574-7024BC48F972}"/>
                </a:ext>
              </a:extLst>
            </p:cNvPr>
            <p:cNvSpPr/>
            <p:nvPr/>
          </p:nvSpPr>
          <p:spPr>
            <a:xfrm>
              <a:off x="2294763" y="1960587"/>
              <a:ext cx="36242" cy="97131"/>
            </a:xfrm>
            <a:custGeom>
              <a:avLst/>
              <a:gdLst/>
              <a:ahLst/>
              <a:cxnLst/>
              <a:rect l="l" t="t" r="r" b="b"/>
              <a:pathLst>
                <a:path w="1144" h="3066" extrusionOk="0">
                  <a:moveTo>
                    <a:pt x="185" y="1"/>
                  </a:moveTo>
                  <a:cubicBezTo>
                    <a:pt x="172" y="1"/>
                    <a:pt x="158" y="2"/>
                    <a:pt x="143" y="6"/>
                  </a:cubicBezTo>
                  <a:cubicBezTo>
                    <a:pt x="60" y="42"/>
                    <a:pt x="0" y="125"/>
                    <a:pt x="24" y="220"/>
                  </a:cubicBezTo>
                  <a:lnTo>
                    <a:pt x="798" y="2947"/>
                  </a:lnTo>
                  <a:cubicBezTo>
                    <a:pt x="822" y="3018"/>
                    <a:pt x="893" y="3066"/>
                    <a:pt x="965" y="3066"/>
                  </a:cubicBezTo>
                  <a:lnTo>
                    <a:pt x="1012" y="3066"/>
                  </a:lnTo>
                  <a:cubicBezTo>
                    <a:pt x="1096" y="3030"/>
                    <a:pt x="1143" y="2947"/>
                    <a:pt x="1131" y="2852"/>
                  </a:cubicBezTo>
                  <a:lnTo>
                    <a:pt x="357" y="125"/>
                  </a:lnTo>
                  <a:cubicBezTo>
                    <a:pt x="327" y="54"/>
                    <a:pt x="262" y="1"/>
                    <a:pt x="18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12346;p79">
              <a:extLst>
                <a:ext uri="{FF2B5EF4-FFF2-40B4-BE49-F238E27FC236}">
                  <a16:creationId xmlns:a16="http://schemas.microsoft.com/office/drawing/2014/main" id="{0EDB428A-3909-1DA8-DCB8-736216E1B452}"/>
                </a:ext>
              </a:extLst>
            </p:cNvPr>
            <p:cNvSpPr/>
            <p:nvPr/>
          </p:nvSpPr>
          <p:spPr>
            <a:xfrm>
              <a:off x="2346433" y="1957799"/>
              <a:ext cx="38491" cy="96909"/>
            </a:xfrm>
            <a:custGeom>
              <a:avLst/>
              <a:gdLst/>
              <a:ahLst/>
              <a:cxnLst/>
              <a:rect l="l" t="t" r="r" b="b"/>
              <a:pathLst>
                <a:path w="1215" h="3059" extrusionOk="0">
                  <a:moveTo>
                    <a:pt x="1021" y="0"/>
                  </a:moveTo>
                  <a:cubicBezTo>
                    <a:pt x="953" y="0"/>
                    <a:pt x="889" y="54"/>
                    <a:pt x="870" y="130"/>
                  </a:cubicBezTo>
                  <a:lnTo>
                    <a:pt x="36" y="2832"/>
                  </a:lnTo>
                  <a:cubicBezTo>
                    <a:pt x="0" y="2928"/>
                    <a:pt x="60" y="3011"/>
                    <a:pt x="155" y="3047"/>
                  </a:cubicBezTo>
                  <a:cubicBezTo>
                    <a:pt x="167" y="3047"/>
                    <a:pt x="179" y="3059"/>
                    <a:pt x="203" y="3059"/>
                  </a:cubicBezTo>
                  <a:cubicBezTo>
                    <a:pt x="274" y="3059"/>
                    <a:pt x="334" y="3011"/>
                    <a:pt x="358" y="2940"/>
                  </a:cubicBezTo>
                  <a:lnTo>
                    <a:pt x="1191" y="237"/>
                  </a:lnTo>
                  <a:cubicBezTo>
                    <a:pt x="1215" y="130"/>
                    <a:pt x="1167" y="23"/>
                    <a:pt x="1072" y="11"/>
                  </a:cubicBezTo>
                  <a:cubicBezTo>
                    <a:pt x="1055" y="4"/>
                    <a:pt x="1038" y="0"/>
                    <a:pt x="102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12347;p79">
              <a:extLst>
                <a:ext uri="{FF2B5EF4-FFF2-40B4-BE49-F238E27FC236}">
                  <a16:creationId xmlns:a16="http://schemas.microsoft.com/office/drawing/2014/main" id="{DEF81826-0A96-C6D7-E9B0-5BED57C3C896}"/>
                </a:ext>
              </a:extLst>
            </p:cNvPr>
            <p:cNvSpPr/>
            <p:nvPr/>
          </p:nvSpPr>
          <p:spPr>
            <a:xfrm>
              <a:off x="2290993" y="2100391"/>
              <a:ext cx="37731" cy="121778"/>
            </a:xfrm>
            <a:custGeom>
              <a:avLst/>
              <a:gdLst/>
              <a:ahLst/>
              <a:cxnLst/>
              <a:rect l="l" t="t" r="r" b="b"/>
              <a:pathLst>
                <a:path w="1191" h="3844" extrusionOk="0">
                  <a:moveTo>
                    <a:pt x="721" y="1"/>
                  </a:moveTo>
                  <a:cubicBezTo>
                    <a:pt x="670" y="1"/>
                    <a:pt x="616" y="30"/>
                    <a:pt x="572" y="82"/>
                  </a:cubicBezTo>
                  <a:cubicBezTo>
                    <a:pt x="191" y="629"/>
                    <a:pt x="0" y="1296"/>
                    <a:pt x="60" y="1987"/>
                  </a:cubicBezTo>
                  <a:cubicBezTo>
                    <a:pt x="119" y="2665"/>
                    <a:pt x="417" y="3308"/>
                    <a:pt x="893" y="3796"/>
                  </a:cubicBezTo>
                  <a:cubicBezTo>
                    <a:pt x="917" y="3832"/>
                    <a:pt x="965" y="3844"/>
                    <a:pt x="1012" y="3844"/>
                  </a:cubicBezTo>
                  <a:cubicBezTo>
                    <a:pt x="1060" y="3844"/>
                    <a:pt x="1096" y="3832"/>
                    <a:pt x="1131" y="3796"/>
                  </a:cubicBezTo>
                  <a:cubicBezTo>
                    <a:pt x="1191" y="3725"/>
                    <a:pt x="1191" y="3618"/>
                    <a:pt x="1131" y="3546"/>
                  </a:cubicBezTo>
                  <a:cubicBezTo>
                    <a:pt x="250" y="2665"/>
                    <a:pt x="131" y="1284"/>
                    <a:pt x="857" y="272"/>
                  </a:cubicBezTo>
                  <a:cubicBezTo>
                    <a:pt x="917" y="201"/>
                    <a:pt x="893" y="94"/>
                    <a:pt x="810" y="34"/>
                  </a:cubicBezTo>
                  <a:cubicBezTo>
                    <a:pt x="783" y="12"/>
                    <a:pt x="752" y="1"/>
                    <a:pt x="72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12348;p79">
              <a:extLst>
                <a:ext uri="{FF2B5EF4-FFF2-40B4-BE49-F238E27FC236}">
                  <a16:creationId xmlns:a16="http://schemas.microsoft.com/office/drawing/2014/main" id="{70BCD8F7-A402-636C-0B97-0990BD4BDE05}"/>
                </a:ext>
              </a:extLst>
            </p:cNvPr>
            <p:cNvSpPr/>
            <p:nvPr/>
          </p:nvSpPr>
          <p:spPr>
            <a:xfrm>
              <a:off x="2353592" y="2091362"/>
              <a:ext cx="68302" cy="20307"/>
            </a:xfrm>
            <a:custGeom>
              <a:avLst/>
              <a:gdLst/>
              <a:ahLst/>
              <a:cxnLst/>
              <a:rect l="l" t="t" r="r" b="b"/>
              <a:pathLst>
                <a:path w="2156" h="641" extrusionOk="0">
                  <a:moveTo>
                    <a:pt x="971" y="1"/>
                  </a:moveTo>
                  <a:cubicBezTo>
                    <a:pt x="708" y="1"/>
                    <a:pt x="417" y="59"/>
                    <a:pt x="120" y="224"/>
                  </a:cubicBezTo>
                  <a:cubicBezTo>
                    <a:pt x="24" y="271"/>
                    <a:pt x="1" y="379"/>
                    <a:pt x="60" y="462"/>
                  </a:cubicBezTo>
                  <a:cubicBezTo>
                    <a:pt x="90" y="522"/>
                    <a:pt x="144" y="554"/>
                    <a:pt x="201" y="554"/>
                  </a:cubicBezTo>
                  <a:cubicBezTo>
                    <a:pt x="234" y="554"/>
                    <a:pt x="268" y="543"/>
                    <a:pt x="298" y="521"/>
                  </a:cubicBezTo>
                  <a:cubicBezTo>
                    <a:pt x="537" y="391"/>
                    <a:pt x="771" y="345"/>
                    <a:pt x="982" y="345"/>
                  </a:cubicBezTo>
                  <a:cubicBezTo>
                    <a:pt x="1488" y="345"/>
                    <a:pt x="1869" y="608"/>
                    <a:pt x="1894" y="617"/>
                  </a:cubicBezTo>
                  <a:cubicBezTo>
                    <a:pt x="1918" y="629"/>
                    <a:pt x="1953" y="640"/>
                    <a:pt x="2001" y="640"/>
                  </a:cubicBezTo>
                  <a:cubicBezTo>
                    <a:pt x="2060" y="640"/>
                    <a:pt x="2096" y="617"/>
                    <a:pt x="2132" y="569"/>
                  </a:cubicBezTo>
                  <a:cubicBezTo>
                    <a:pt x="2156" y="498"/>
                    <a:pt x="2144" y="390"/>
                    <a:pt x="2072" y="331"/>
                  </a:cubicBezTo>
                  <a:cubicBezTo>
                    <a:pt x="2039" y="314"/>
                    <a:pt x="1581" y="1"/>
                    <a:pt x="97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12349;p79">
              <a:extLst>
                <a:ext uri="{FF2B5EF4-FFF2-40B4-BE49-F238E27FC236}">
                  <a16:creationId xmlns:a16="http://schemas.microsoft.com/office/drawing/2014/main" id="{7E8E703A-1E8F-0BF9-A3A9-C0B15606EBF0}"/>
                </a:ext>
              </a:extLst>
            </p:cNvPr>
            <p:cNvSpPr/>
            <p:nvPr/>
          </p:nvSpPr>
          <p:spPr>
            <a:xfrm>
              <a:off x="2321532" y="2064434"/>
              <a:ext cx="230504" cy="260346"/>
            </a:xfrm>
            <a:custGeom>
              <a:avLst/>
              <a:gdLst/>
              <a:ahLst/>
              <a:cxnLst/>
              <a:rect l="l" t="t" r="r" b="b"/>
              <a:pathLst>
                <a:path w="7276" h="8218" extrusionOk="0">
                  <a:moveTo>
                    <a:pt x="3322" y="3038"/>
                  </a:moveTo>
                  <a:cubicBezTo>
                    <a:pt x="3394" y="3038"/>
                    <a:pt x="3489" y="3074"/>
                    <a:pt x="3549" y="3134"/>
                  </a:cubicBezTo>
                  <a:cubicBezTo>
                    <a:pt x="3668" y="3241"/>
                    <a:pt x="3668" y="3431"/>
                    <a:pt x="3525" y="3562"/>
                  </a:cubicBezTo>
                  <a:cubicBezTo>
                    <a:pt x="3465" y="3622"/>
                    <a:pt x="3388" y="3651"/>
                    <a:pt x="3311" y="3651"/>
                  </a:cubicBezTo>
                  <a:cubicBezTo>
                    <a:pt x="3233" y="3651"/>
                    <a:pt x="3156" y="3622"/>
                    <a:pt x="3096" y="3562"/>
                  </a:cubicBezTo>
                  <a:cubicBezTo>
                    <a:pt x="2977" y="3443"/>
                    <a:pt x="2977" y="3253"/>
                    <a:pt x="3096" y="3134"/>
                  </a:cubicBezTo>
                  <a:cubicBezTo>
                    <a:pt x="3156" y="3074"/>
                    <a:pt x="3227" y="3038"/>
                    <a:pt x="3322" y="3038"/>
                  </a:cubicBezTo>
                  <a:close/>
                  <a:moveTo>
                    <a:pt x="2441" y="3919"/>
                  </a:moveTo>
                  <a:cubicBezTo>
                    <a:pt x="2537" y="3919"/>
                    <a:pt x="2608" y="3955"/>
                    <a:pt x="2668" y="4015"/>
                  </a:cubicBezTo>
                  <a:cubicBezTo>
                    <a:pt x="2727" y="4074"/>
                    <a:pt x="2751" y="4146"/>
                    <a:pt x="2751" y="4229"/>
                  </a:cubicBezTo>
                  <a:cubicBezTo>
                    <a:pt x="2739" y="4312"/>
                    <a:pt x="2715" y="4384"/>
                    <a:pt x="2656" y="4443"/>
                  </a:cubicBezTo>
                  <a:cubicBezTo>
                    <a:pt x="2596" y="4503"/>
                    <a:pt x="2516" y="4533"/>
                    <a:pt x="2435" y="4533"/>
                  </a:cubicBezTo>
                  <a:cubicBezTo>
                    <a:pt x="2355" y="4533"/>
                    <a:pt x="2275" y="4503"/>
                    <a:pt x="2215" y="4443"/>
                  </a:cubicBezTo>
                  <a:cubicBezTo>
                    <a:pt x="2096" y="4324"/>
                    <a:pt x="2096" y="4134"/>
                    <a:pt x="2215" y="4015"/>
                  </a:cubicBezTo>
                  <a:cubicBezTo>
                    <a:pt x="2275" y="3955"/>
                    <a:pt x="2358" y="3919"/>
                    <a:pt x="2441" y="3919"/>
                  </a:cubicBezTo>
                  <a:close/>
                  <a:moveTo>
                    <a:pt x="6109" y="5062"/>
                  </a:moveTo>
                  <a:lnTo>
                    <a:pt x="6620" y="5586"/>
                  </a:lnTo>
                  <a:lnTo>
                    <a:pt x="4775" y="7432"/>
                  </a:lnTo>
                  <a:lnTo>
                    <a:pt x="4656" y="7551"/>
                  </a:lnTo>
                  <a:lnTo>
                    <a:pt x="4144" y="7027"/>
                  </a:lnTo>
                  <a:lnTo>
                    <a:pt x="4215" y="6955"/>
                  </a:lnTo>
                  <a:lnTo>
                    <a:pt x="4680" y="6491"/>
                  </a:lnTo>
                  <a:lnTo>
                    <a:pt x="5573" y="5598"/>
                  </a:lnTo>
                  <a:lnTo>
                    <a:pt x="6025" y="5146"/>
                  </a:lnTo>
                  <a:lnTo>
                    <a:pt x="6109" y="5062"/>
                  </a:lnTo>
                  <a:close/>
                  <a:moveTo>
                    <a:pt x="6644" y="6062"/>
                  </a:moveTo>
                  <a:lnTo>
                    <a:pt x="6668" y="6098"/>
                  </a:lnTo>
                  <a:cubicBezTo>
                    <a:pt x="6859" y="6289"/>
                    <a:pt x="6978" y="6551"/>
                    <a:pt x="6978" y="6836"/>
                  </a:cubicBezTo>
                  <a:cubicBezTo>
                    <a:pt x="6978" y="7122"/>
                    <a:pt x="6859" y="7384"/>
                    <a:pt x="6668" y="7586"/>
                  </a:cubicBezTo>
                  <a:cubicBezTo>
                    <a:pt x="6478" y="7777"/>
                    <a:pt x="6204" y="7896"/>
                    <a:pt x="5930" y="7896"/>
                  </a:cubicBezTo>
                  <a:cubicBezTo>
                    <a:pt x="5644" y="7896"/>
                    <a:pt x="5370" y="7789"/>
                    <a:pt x="5180" y="7586"/>
                  </a:cubicBezTo>
                  <a:lnTo>
                    <a:pt x="5156" y="7551"/>
                  </a:lnTo>
                  <a:lnTo>
                    <a:pt x="6644" y="6062"/>
                  </a:lnTo>
                  <a:close/>
                  <a:moveTo>
                    <a:pt x="1942" y="1"/>
                  </a:moveTo>
                  <a:cubicBezTo>
                    <a:pt x="1249" y="1"/>
                    <a:pt x="584" y="249"/>
                    <a:pt x="72" y="693"/>
                  </a:cubicBezTo>
                  <a:cubicBezTo>
                    <a:pt x="1" y="752"/>
                    <a:pt x="1" y="859"/>
                    <a:pt x="60" y="931"/>
                  </a:cubicBezTo>
                  <a:cubicBezTo>
                    <a:pt x="91" y="968"/>
                    <a:pt x="135" y="986"/>
                    <a:pt x="181" y="986"/>
                  </a:cubicBezTo>
                  <a:cubicBezTo>
                    <a:pt x="222" y="986"/>
                    <a:pt x="264" y="971"/>
                    <a:pt x="298" y="943"/>
                  </a:cubicBezTo>
                  <a:cubicBezTo>
                    <a:pt x="775" y="540"/>
                    <a:pt x="1365" y="340"/>
                    <a:pt x="1953" y="340"/>
                  </a:cubicBezTo>
                  <a:cubicBezTo>
                    <a:pt x="2601" y="340"/>
                    <a:pt x="3247" y="582"/>
                    <a:pt x="3739" y="1062"/>
                  </a:cubicBezTo>
                  <a:cubicBezTo>
                    <a:pt x="4144" y="1467"/>
                    <a:pt x="4406" y="1967"/>
                    <a:pt x="4477" y="2538"/>
                  </a:cubicBezTo>
                  <a:cubicBezTo>
                    <a:pt x="4620" y="3491"/>
                    <a:pt x="5013" y="4336"/>
                    <a:pt x="5668" y="5003"/>
                  </a:cubicBezTo>
                  <a:lnTo>
                    <a:pt x="5454" y="5229"/>
                  </a:lnTo>
                  <a:lnTo>
                    <a:pt x="3882" y="3669"/>
                  </a:lnTo>
                  <a:cubicBezTo>
                    <a:pt x="4037" y="3419"/>
                    <a:pt x="3989" y="3098"/>
                    <a:pt x="3787" y="2884"/>
                  </a:cubicBezTo>
                  <a:cubicBezTo>
                    <a:pt x="3656" y="2753"/>
                    <a:pt x="3486" y="2687"/>
                    <a:pt x="3318" y="2687"/>
                  </a:cubicBezTo>
                  <a:cubicBezTo>
                    <a:pt x="3150" y="2687"/>
                    <a:pt x="2983" y="2753"/>
                    <a:pt x="2858" y="2884"/>
                  </a:cubicBezTo>
                  <a:cubicBezTo>
                    <a:pt x="2656" y="3086"/>
                    <a:pt x="2608" y="3419"/>
                    <a:pt x="2751" y="3669"/>
                  </a:cubicBezTo>
                  <a:cubicBezTo>
                    <a:pt x="2656" y="3610"/>
                    <a:pt x="2549" y="3574"/>
                    <a:pt x="2429" y="3574"/>
                  </a:cubicBezTo>
                  <a:cubicBezTo>
                    <a:pt x="2251" y="3574"/>
                    <a:pt x="2084" y="3657"/>
                    <a:pt x="1965" y="3776"/>
                  </a:cubicBezTo>
                  <a:cubicBezTo>
                    <a:pt x="1715" y="4027"/>
                    <a:pt x="1715" y="4443"/>
                    <a:pt x="1965" y="4693"/>
                  </a:cubicBezTo>
                  <a:cubicBezTo>
                    <a:pt x="2096" y="4824"/>
                    <a:pt x="2263" y="4884"/>
                    <a:pt x="2429" y="4884"/>
                  </a:cubicBezTo>
                  <a:cubicBezTo>
                    <a:pt x="2537" y="4884"/>
                    <a:pt x="2656" y="4860"/>
                    <a:pt x="2739" y="4800"/>
                  </a:cubicBezTo>
                  <a:cubicBezTo>
                    <a:pt x="2834" y="4884"/>
                    <a:pt x="2906" y="4967"/>
                    <a:pt x="2989" y="5039"/>
                  </a:cubicBezTo>
                  <a:cubicBezTo>
                    <a:pt x="3025" y="5062"/>
                    <a:pt x="3072" y="5086"/>
                    <a:pt x="3108" y="5086"/>
                  </a:cubicBezTo>
                  <a:cubicBezTo>
                    <a:pt x="3156" y="5086"/>
                    <a:pt x="3203" y="5062"/>
                    <a:pt x="3227" y="5027"/>
                  </a:cubicBezTo>
                  <a:cubicBezTo>
                    <a:pt x="3287" y="4943"/>
                    <a:pt x="3287" y="4848"/>
                    <a:pt x="3215" y="4789"/>
                  </a:cubicBezTo>
                  <a:cubicBezTo>
                    <a:pt x="3144" y="4705"/>
                    <a:pt x="3049" y="4634"/>
                    <a:pt x="2977" y="4562"/>
                  </a:cubicBezTo>
                  <a:cubicBezTo>
                    <a:pt x="3037" y="4455"/>
                    <a:pt x="3072" y="4348"/>
                    <a:pt x="3072" y="4229"/>
                  </a:cubicBezTo>
                  <a:cubicBezTo>
                    <a:pt x="3072" y="4110"/>
                    <a:pt x="3037" y="3991"/>
                    <a:pt x="2977" y="3907"/>
                  </a:cubicBezTo>
                  <a:lnTo>
                    <a:pt x="2977" y="3907"/>
                  </a:lnTo>
                  <a:cubicBezTo>
                    <a:pt x="3084" y="3967"/>
                    <a:pt x="3203" y="3991"/>
                    <a:pt x="3311" y="3991"/>
                  </a:cubicBezTo>
                  <a:cubicBezTo>
                    <a:pt x="3430" y="3991"/>
                    <a:pt x="3525" y="3967"/>
                    <a:pt x="3632" y="3907"/>
                  </a:cubicBezTo>
                  <a:lnTo>
                    <a:pt x="5192" y="5467"/>
                  </a:lnTo>
                  <a:lnTo>
                    <a:pt x="4537" y="6122"/>
                  </a:lnTo>
                  <a:lnTo>
                    <a:pt x="3751" y="5336"/>
                  </a:lnTo>
                  <a:cubicBezTo>
                    <a:pt x="3721" y="5300"/>
                    <a:pt x="3677" y="5283"/>
                    <a:pt x="3632" y="5283"/>
                  </a:cubicBezTo>
                  <a:cubicBezTo>
                    <a:pt x="3587" y="5283"/>
                    <a:pt x="3543" y="5300"/>
                    <a:pt x="3513" y="5336"/>
                  </a:cubicBezTo>
                  <a:cubicBezTo>
                    <a:pt x="3442" y="5396"/>
                    <a:pt x="3442" y="5515"/>
                    <a:pt x="3513" y="5574"/>
                  </a:cubicBezTo>
                  <a:lnTo>
                    <a:pt x="4299" y="6360"/>
                  </a:lnTo>
                  <a:lnTo>
                    <a:pt x="4084" y="6586"/>
                  </a:lnTo>
                  <a:cubicBezTo>
                    <a:pt x="3394" y="5932"/>
                    <a:pt x="2537" y="5515"/>
                    <a:pt x="1620" y="5396"/>
                  </a:cubicBezTo>
                  <a:cubicBezTo>
                    <a:pt x="1286" y="5348"/>
                    <a:pt x="941" y="5229"/>
                    <a:pt x="644" y="5050"/>
                  </a:cubicBezTo>
                  <a:cubicBezTo>
                    <a:pt x="621" y="5035"/>
                    <a:pt x="595" y="5029"/>
                    <a:pt x="568" y="5029"/>
                  </a:cubicBezTo>
                  <a:cubicBezTo>
                    <a:pt x="510" y="5029"/>
                    <a:pt x="446" y="5061"/>
                    <a:pt x="405" y="5110"/>
                  </a:cubicBezTo>
                  <a:cubicBezTo>
                    <a:pt x="358" y="5181"/>
                    <a:pt x="394" y="5289"/>
                    <a:pt x="465" y="5348"/>
                  </a:cubicBezTo>
                  <a:cubicBezTo>
                    <a:pt x="810" y="5562"/>
                    <a:pt x="1179" y="5681"/>
                    <a:pt x="1560" y="5741"/>
                  </a:cubicBezTo>
                  <a:cubicBezTo>
                    <a:pt x="2394" y="5836"/>
                    <a:pt x="3191" y="6229"/>
                    <a:pt x="3823" y="6824"/>
                  </a:cubicBezTo>
                  <a:lnTo>
                    <a:pt x="3751" y="6896"/>
                  </a:lnTo>
                  <a:cubicBezTo>
                    <a:pt x="3692" y="6955"/>
                    <a:pt x="3692" y="7075"/>
                    <a:pt x="3751" y="7134"/>
                  </a:cubicBezTo>
                  <a:lnTo>
                    <a:pt x="4525" y="7908"/>
                  </a:lnTo>
                  <a:cubicBezTo>
                    <a:pt x="4561" y="7944"/>
                    <a:pt x="4596" y="7956"/>
                    <a:pt x="4644" y="7956"/>
                  </a:cubicBezTo>
                  <a:cubicBezTo>
                    <a:pt x="4692" y="7956"/>
                    <a:pt x="4739" y="7944"/>
                    <a:pt x="4763" y="7908"/>
                  </a:cubicBezTo>
                  <a:lnTo>
                    <a:pt x="4882" y="7789"/>
                  </a:lnTo>
                  <a:lnTo>
                    <a:pt x="4918" y="7825"/>
                  </a:lnTo>
                  <a:cubicBezTo>
                    <a:pt x="5180" y="8087"/>
                    <a:pt x="5525" y="8217"/>
                    <a:pt x="5894" y="8217"/>
                  </a:cubicBezTo>
                  <a:cubicBezTo>
                    <a:pt x="6263" y="8217"/>
                    <a:pt x="6620" y="8075"/>
                    <a:pt x="6882" y="7825"/>
                  </a:cubicBezTo>
                  <a:cubicBezTo>
                    <a:pt x="7144" y="7551"/>
                    <a:pt x="7275" y="7205"/>
                    <a:pt x="7275" y="6836"/>
                  </a:cubicBezTo>
                  <a:cubicBezTo>
                    <a:pt x="7275" y="6467"/>
                    <a:pt x="7180" y="6122"/>
                    <a:pt x="6906" y="5860"/>
                  </a:cubicBezTo>
                  <a:lnTo>
                    <a:pt x="6882" y="5824"/>
                  </a:lnTo>
                  <a:lnTo>
                    <a:pt x="6990" y="5705"/>
                  </a:lnTo>
                  <a:cubicBezTo>
                    <a:pt x="7049" y="5646"/>
                    <a:pt x="7049" y="5527"/>
                    <a:pt x="6990" y="5467"/>
                  </a:cubicBezTo>
                  <a:lnTo>
                    <a:pt x="6216" y="4693"/>
                  </a:lnTo>
                  <a:cubicBezTo>
                    <a:pt x="6192" y="4669"/>
                    <a:pt x="6144" y="4646"/>
                    <a:pt x="6097" y="4646"/>
                  </a:cubicBezTo>
                  <a:cubicBezTo>
                    <a:pt x="6061" y="4646"/>
                    <a:pt x="6013" y="4669"/>
                    <a:pt x="5989" y="4693"/>
                  </a:cubicBezTo>
                  <a:lnTo>
                    <a:pt x="5906" y="4765"/>
                  </a:lnTo>
                  <a:cubicBezTo>
                    <a:pt x="5311" y="4157"/>
                    <a:pt x="4942" y="3372"/>
                    <a:pt x="4823" y="2491"/>
                  </a:cubicBezTo>
                  <a:cubicBezTo>
                    <a:pt x="4739" y="1848"/>
                    <a:pt x="4454" y="1276"/>
                    <a:pt x="3977" y="824"/>
                  </a:cubicBezTo>
                  <a:cubicBezTo>
                    <a:pt x="3453" y="324"/>
                    <a:pt x="2775" y="26"/>
                    <a:pt x="2037" y="2"/>
                  </a:cubicBezTo>
                  <a:cubicBezTo>
                    <a:pt x="2005" y="1"/>
                    <a:pt x="1973" y="1"/>
                    <a:pt x="194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8" name="Google Shape;10494;p76">
            <a:extLst>
              <a:ext uri="{FF2B5EF4-FFF2-40B4-BE49-F238E27FC236}">
                <a16:creationId xmlns:a16="http://schemas.microsoft.com/office/drawing/2014/main" id="{39D7ECD4-DE3F-9B41-247C-F440EAD21909}"/>
              </a:ext>
            </a:extLst>
          </p:cNvPr>
          <p:cNvGrpSpPr/>
          <p:nvPr/>
        </p:nvGrpSpPr>
        <p:grpSpPr>
          <a:xfrm>
            <a:off x="4934783" y="3630471"/>
            <a:ext cx="493172" cy="394412"/>
            <a:chOff x="3584280" y="3699191"/>
            <a:chExt cx="358069" cy="317995"/>
          </a:xfrm>
          <a:solidFill>
            <a:srgbClr val="C00000"/>
          </a:solidFill>
        </p:grpSpPr>
        <p:sp>
          <p:nvSpPr>
            <p:cNvPr id="2249" name="Google Shape;10495;p76">
              <a:extLst>
                <a:ext uri="{FF2B5EF4-FFF2-40B4-BE49-F238E27FC236}">
                  <a16:creationId xmlns:a16="http://schemas.microsoft.com/office/drawing/2014/main" id="{D4F348A5-06A5-DA80-AA30-12860F0B8D04}"/>
                </a:ext>
              </a:extLst>
            </p:cNvPr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10496;p76">
              <a:extLst>
                <a:ext uri="{FF2B5EF4-FFF2-40B4-BE49-F238E27FC236}">
                  <a16:creationId xmlns:a16="http://schemas.microsoft.com/office/drawing/2014/main" id="{2CAB53F7-6DD8-166E-CFD6-994C249D6522}"/>
                </a:ext>
              </a:extLst>
            </p:cNvPr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10497;p76">
              <a:extLst>
                <a:ext uri="{FF2B5EF4-FFF2-40B4-BE49-F238E27FC236}">
                  <a16:creationId xmlns:a16="http://schemas.microsoft.com/office/drawing/2014/main" id="{80E5AD4D-564B-0862-F641-FE425F50BED0}"/>
                </a:ext>
              </a:extLst>
            </p:cNvPr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10498;p76">
              <a:extLst>
                <a:ext uri="{FF2B5EF4-FFF2-40B4-BE49-F238E27FC236}">
                  <a16:creationId xmlns:a16="http://schemas.microsoft.com/office/drawing/2014/main" id="{93C8B94C-9FF1-B168-0A8B-5B777A4C3B7B}"/>
                </a:ext>
              </a:extLst>
            </p:cNvPr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4726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9">
          <a:extLst>
            <a:ext uri="{FF2B5EF4-FFF2-40B4-BE49-F238E27FC236}">
              <a16:creationId xmlns:a16="http://schemas.microsoft.com/office/drawing/2014/main" id="{A080BA98-7B69-0386-A8AA-77D95444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60">
            <a:extLst>
              <a:ext uri="{FF2B5EF4-FFF2-40B4-BE49-F238E27FC236}">
                <a16:creationId xmlns:a16="http://schemas.microsoft.com/office/drawing/2014/main" id="{D400B362-E989-1F18-16EF-381B42044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550" y="6639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dirty="0"/>
              <a:t>Συμπεράσματα και Περιορισμοί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4480F1-36A9-8988-661C-08396BA92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038070"/>
              </p:ext>
            </p:extLst>
          </p:nvPr>
        </p:nvGraphicFramePr>
        <p:xfrm>
          <a:off x="633454" y="833948"/>
          <a:ext cx="3684104" cy="3528263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3684104">
                  <a:extLst>
                    <a:ext uri="{9D8B030D-6E8A-4147-A177-3AD203B41FA5}">
                      <a16:colId xmlns:a16="http://schemas.microsoft.com/office/drawing/2014/main" val="1519279101"/>
                    </a:ext>
                  </a:extLst>
                </a:gridCol>
              </a:tblGrid>
              <a:tr h="398504">
                <a:tc>
                  <a:txBody>
                    <a:bodyPr/>
                    <a:lstStyle/>
                    <a:p>
                      <a:pPr algn="ctr"/>
                      <a:r>
                        <a:rPr lang="el-GR" b="1" dirty="0">
                          <a:solidFill>
                            <a:schemeClr val="tx1"/>
                          </a:solidFill>
                        </a:rPr>
                        <a:t>Βασικά Συμπεράσματα</a:t>
                      </a: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31667"/>
                  </a:ext>
                </a:extLst>
              </a:tr>
              <a:tr h="3129759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925770"/>
                  </a:ext>
                </a:extLst>
              </a:tr>
            </a:tbl>
          </a:graphicData>
        </a:graphic>
      </p:graphicFrame>
      <p:grpSp>
        <p:nvGrpSpPr>
          <p:cNvPr id="5" name="Google Shape;13527;p81">
            <a:extLst>
              <a:ext uri="{FF2B5EF4-FFF2-40B4-BE49-F238E27FC236}">
                <a16:creationId xmlns:a16="http://schemas.microsoft.com/office/drawing/2014/main" id="{FABEAA27-2F8D-CE14-158B-D0CAD52ED52F}"/>
              </a:ext>
            </a:extLst>
          </p:cNvPr>
          <p:cNvGrpSpPr/>
          <p:nvPr/>
        </p:nvGrpSpPr>
        <p:grpSpPr>
          <a:xfrm>
            <a:off x="869224" y="1362211"/>
            <a:ext cx="256800" cy="357024"/>
            <a:chOff x="3910637" y="3352690"/>
            <a:chExt cx="256800" cy="357024"/>
          </a:xfrm>
          <a:solidFill>
            <a:schemeClr val="tx1"/>
          </a:solidFill>
        </p:grpSpPr>
        <p:sp>
          <p:nvSpPr>
            <p:cNvPr id="6" name="Google Shape;13528;p81">
              <a:extLst>
                <a:ext uri="{FF2B5EF4-FFF2-40B4-BE49-F238E27FC236}">
                  <a16:creationId xmlns:a16="http://schemas.microsoft.com/office/drawing/2014/main" id="{39805BA2-B8D4-B6E4-1EE2-E59008778FEA}"/>
                </a:ext>
              </a:extLst>
            </p:cNvPr>
            <p:cNvSpPr/>
            <p:nvPr/>
          </p:nvSpPr>
          <p:spPr>
            <a:xfrm>
              <a:off x="3910637" y="3352690"/>
              <a:ext cx="256800" cy="357024"/>
            </a:xfrm>
            <a:custGeom>
              <a:avLst/>
              <a:gdLst/>
              <a:ahLst/>
              <a:cxnLst/>
              <a:rect l="l" t="t" r="r" b="b"/>
              <a:pathLst>
                <a:path w="8025" h="11157" extrusionOk="0">
                  <a:moveTo>
                    <a:pt x="4001" y="310"/>
                  </a:moveTo>
                  <a:cubicBezTo>
                    <a:pt x="4596" y="310"/>
                    <a:pt x="5144" y="608"/>
                    <a:pt x="5477" y="1120"/>
                  </a:cubicBezTo>
                  <a:cubicBezTo>
                    <a:pt x="5501" y="1155"/>
                    <a:pt x="5560" y="1191"/>
                    <a:pt x="5608" y="1191"/>
                  </a:cubicBezTo>
                  <a:lnTo>
                    <a:pt x="5656" y="1191"/>
                  </a:lnTo>
                  <a:cubicBezTo>
                    <a:pt x="6668" y="1191"/>
                    <a:pt x="7501" y="2025"/>
                    <a:pt x="7501" y="3037"/>
                  </a:cubicBezTo>
                  <a:cubicBezTo>
                    <a:pt x="7501" y="3346"/>
                    <a:pt x="7418" y="3656"/>
                    <a:pt x="7263" y="3930"/>
                  </a:cubicBezTo>
                  <a:lnTo>
                    <a:pt x="7215" y="3882"/>
                  </a:lnTo>
                  <a:cubicBezTo>
                    <a:pt x="7186" y="3852"/>
                    <a:pt x="7144" y="3837"/>
                    <a:pt x="7101" y="3837"/>
                  </a:cubicBezTo>
                  <a:cubicBezTo>
                    <a:pt x="7058" y="3837"/>
                    <a:pt x="7013" y="3852"/>
                    <a:pt x="6977" y="3882"/>
                  </a:cubicBezTo>
                  <a:cubicBezTo>
                    <a:pt x="6918" y="3942"/>
                    <a:pt x="6918" y="4049"/>
                    <a:pt x="6977" y="4120"/>
                  </a:cubicBezTo>
                  <a:cubicBezTo>
                    <a:pt x="7418" y="4549"/>
                    <a:pt x="7656" y="5132"/>
                    <a:pt x="7656" y="5763"/>
                  </a:cubicBezTo>
                  <a:cubicBezTo>
                    <a:pt x="7692" y="7025"/>
                    <a:pt x="6668" y="8049"/>
                    <a:pt x="5418" y="8049"/>
                  </a:cubicBezTo>
                  <a:cubicBezTo>
                    <a:pt x="5179" y="8049"/>
                    <a:pt x="4953" y="8025"/>
                    <a:pt x="4727" y="7942"/>
                  </a:cubicBezTo>
                  <a:lnTo>
                    <a:pt x="4715" y="7513"/>
                  </a:lnTo>
                  <a:cubicBezTo>
                    <a:pt x="4763" y="7490"/>
                    <a:pt x="4810" y="7442"/>
                    <a:pt x="4834" y="7394"/>
                  </a:cubicBezTo>
                  <a:cubicBezTo>
                    <a:pt x="4894" y="7335"/>
                    <a:pt x="4894" y="7228"/>
                    <a:pt x="4834" y="7156"/>
                  </a:cubicBezTo>
                  <a:cubicBezTo>
                    <a:pt x="4804" y="7126"/>
                    <a:pt x="4763" y="7112"/>
                    <a:pt x="4720" y="7112"/>
                  </a:cubicBezTo>
                  <a:cubicBezTo>
                    <a:pt x="4676" y="7112"/>
                    <a:pt x="4632" y="7126"/>
                    <a:pt x="4596" y="7156"/>
                  </a:cubicBezTo>
                  <a:cubicBezTo>
                    <a:pt x="4382" y="7371"/>
                    <a:pt x="4120" y="7466"/>
                    <a:pt x="3834" y="7466"/>
                  </a:cubicBezTo>
                  <a:cubicBezTo>
                    <a:pt x="3667" y="7466"/>
                    <a:pt x="3524" y="7442"/>
                    <a:pt x="3370" y="7371"/>
                  </a:cubicBezTo>
                  <a:cubicBezTo>
                    <a:pt x="3350" y="7357"/>
                    <a:pt x="3327" y="7351"/>
                    <a:pt x="3304" y="7351"/>
                  </a:cubicBezTo>
                  <a:cubicBezTo>
                    <a:pt x="3244" y="7351"/>
                    <a:pt x="3181" y="7390"/>
                    <a:pt x="3155" y="7442"/>
                  </a:cubicBezTo>
                  <a:cubicBezTo>
                    <a:pt x="3108" y="7513"/>
                    <a:pt x="3155" y="7621"/>
                    <a:pt x="3227" y="7668"/>
                  </a:cubicBezTo>
                  <a:cubicBezTo>
                    <a:pt x="3358" y="7728"/>
                    <a:pt x="3489" y="7763"/>
                    <a:pt x="3644" y="7787"/>
                  </a:cubicBezTo>
                  <a:lnTo>
                    <a:pt x="3608" y="8347"/>
                  </a:lnTo>
                  <a:cubicBezTo>
                    <a:pt x="3513" y="8359"/>
                    <a:pt x="3405" y="8359"/>
                    <a:pt x="3298" y="8359"/>
                  </a:cubicBezTo>
                  <a:cubicBezTo>
                    <a:pt x="2036" y="8359"/>
                    <a:pt x="1024" y="7335"/>
                    <a:pt x="1024" y="6085"/>
                  </a:cubicBezTo>
                  <a:cubicBezTo>
                    <a:pt x="1024" y="6013"/>
                    <a:pt x="1024" y="5942"/>
                    <a:pt x="1036" y="5858"/>
                  </a:cubicBezTo>
                  <a:cubicBezTo>
                    <a:pt x="1036" y="5823"/>
                    <a:pt x="1024" y="5775"/>
                    <a:pt x="988" y="5739"/>
                  </a:cubicBezTo>
                  <a:cubicBezTo>
                    <a:pt x="560" y="5251"/>
                    <a:pt x="322" y="4644"/>
                    <a:pt x="322" y="3989"/>
                  </a:cubicBezTo>
                  <a:cubicBezTo>
                    <a:pt x="322" y="2906"/>
                    <a:pt x="988" y="1929"/>
                    <a:pt x="1989" y="1548"/>
                  </a:cubicBezTo>
                  <a:lnTo>
                    <a:pt x="1989" y="1548"/>
                  </a:lnTo>
                  <a:cubicBezTo>
                    <a:pt x="1965" y="1656"/>
                    <a:pt x="1941" y="1775"/>
                    <a:pt x="1929" y="1870"/>
                  </a:cubicBezTo>
                  <a:cubicBezTo>
                    <a:pt x="1917" y="1965"/>
                    <a:pt x="1989" y="2037"/>
                    <a:pt x="2084" y="2048"/>
                  </a:cubicBezTo>
                  <a:lnTo>
                    <a:pt x="2096" y="2048"/>
                  </a:lnTo>
                  <a:cubicBezTo>
                    <a:pt x="2179" y="2048"/>
                    <a:pt x="2239" y="1989"/>
                    <a:pt x="2262" y="1906"/>
                  </a:cubicBezTo>
                  <a:cubicBezTo>
                    <a:pt x="2274" y="1715"/>
                    <a:pt x="2322" y="1536"/>
                    <a:pt x="2393" y="1370"/>
                  </a:cubicBezTo>
                  <a:lnTo>
                    <a:pt x="2393" y="1358"/>
                  </a:lnTo>
                  <a:cubicBezTo>
                    <a:pt x="2679" y="715"/>
                    <a:pt x="3298" y="310"/>
                    <a:pt x="4001" y="310"/>
                  </a:cubicBezTo>
                  <a:close/>
                  <a:moveTo>
                    <a:pt x="4394" y="7704"/>
                  </a:moveTo>
                  <a:lnTo>
                    <a:pt x="4536" y="10847"/>
                  </a:lnTo>
                  <a:lnTo>
                    <a:pt x="3834" y="10847"/>
                  </a:lnTo>
                  <a:lnTo>
                    <a:pt x="3989" y="7811"/>
                  </a:lnTo>
                  <a:cubicBezTo>
                    <a:pt x="4120" y="7799"/>
                    <a:pt x="4251" y="7763"/>
                    <a:pt x="4394" y="7704"/>
                  </a:cubicBezTo>
                  <a:close/>
                  <a:moveTo>
                    <a:pt x="4013" y="1"/>
                  </a:moveTo>
                  <a:cubicBezTo>
                    <a:pt x="3215" y="1"/>
                    <a:pt x="2501" y="465"/>
                    <a:pt x="2143" y="1155"/>
                  </a:cubicBezTo>
                  <a:cubicBezTo>
                    <a:pt x="881" y="1536"/>
                    <a:pt x="0" y="2679"/>
                    <a:pt x="0" y="4001"/>
                  </a:cubicBezTo>
                  <a:cubicBezTo>
                    <a:pt x="0" y="4704"/>
                    <a:pt x="250" y="5382"/>
                    <a:pt x="703" y="5918"/>
                  </a:cubicBezTo>
                  <a:lnTo>
                    <a:pt x="703" y="6097"/>
                  </a:lnTo>
                  <a:cubicBezTo>
                    <a:pt x="703" y="7549"/>
                    <a:pt x="1869" y="8704"/>
                    <a:pt x="3298" y="8704"/>
                  </a:cubicBezTo>
                  <a:cubicBezTo>
                    <a:pt x="3405" y="8704"/>
                    <a:pt x="3501" y="8704"/>
                    <a:pt x="3596" y="8692"/>
                  </a:cubicBezTo>
                  <a:lnTo>
                    <a:pt x="3596" y="8692"/>
                  </a:lnTo>
                  <a:lnTo>
                    <a:pt x="3501" y="10835"/>
                  </a:lnTo>
                  <a:lnTo>
                    <a:pt x="3298" y="10835"/>
                  </a:lnTo>
                  <a:cubicBezTo>
                    <a:pt x="3215" y="10835"/>
                    <a:pt x="3143" y="10907"/>
                    <a:pt x="3143" y="11002"/>
                  </a:cubicBezTo>
                  <a:cubicBezTo>
                    <a:pt x="3143" y="11085"/>
                    <a:pt x="3215" y="11157"/>
                    <a:pt x="3298" y="11157"/>
                  </a:cubicBezTo>
                  <a:lnTo>
                    <a:pt x="5048" y="11157"/>
                  </a:lnTo>
                  <a:cubicBezTo>
                    <a:pt x="5132" y="11157"/>
                    <a:pt x="5203" y="11085"/>
                    <a:pt x="5203" y="11002"/>
                  </a:cubicBezTo>
                  <a:cubicBezTo>
                    <a:pt x="5203" y="10907"/>
                    <a:pt x="5132" y="10835"/>
                    <a:pt x="5048" y="10835"/>
                  </a:cubicBezTo>
                  <a:lnTo>
                    <a:pt x="4846" y="10835"/>
                  </a:lnTo>
                  <a:lnTo>
                    <a:pt x="4715" y="8275"/>
                  </a:lnTo>
                  <a:lnTo>
                    <a:pt x="4715" y="8275"/>
                  </a:lnTo>
                  <a:cubicBezTo>
                    <a:pt x="4941" y="8335"/>
                    <a:pt x="5168" y="8359"/>
                    <a:pt x="5382" y="8359"/>
                  </a:cubicBezTo>
                  <a:cubicBezTo>
                    <a:pt x="6834" y="8359"/>
                    <a:pt x="7989" y="7192"/>
                    <a:pt x="7989" y="5763"/>
                  </a:cubicBezTo>
                  <a:cubicBezTo>
                    <a:pt x="8025" y="5204"/>
                    <a:pt x="7846" y="4656"/>
                    <a:pt x="7513" y="4215"/>
                  </a:cubicBezTo>
                  <a:cubicBezTo>
                    <a:pt x="7739" y="3870"/>
                    <a:pt x="7858" y="3465"/>
                    <a:pt x="7858" y="3049"/>
                  </a:cubicBezTo>
                  <a:cubicBezTo>
                    <a:pt x="7858" y="1858"/>
                    <a:pt x="6906" y="894"/>
                    <a:pt x="5715" y="882"/>
                  </a:cubicBezTo>
                  <a:cubicBezTo>
                    <a:pt x="5322" y="322"/>
                    <a:pt x="4691" y="1"/>
                    <a:pt x="4013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529;p81">
              <a:extLst>
                <a:ext uri="{FF2B5EF4-FFF2-40B4-BE49-F238E27FC236}">
                  <a16:creationId xmlns:a16="http://schemas.microsoft.com/office/drawing/2014/main" id="{2C8CA9AF-94E5-3E56-4B40-46866199BC8B}"/>
                </a:ext>
              </a:extLst>
            </p:cNvPr>
            <p:cNvSpPr/>
            <p:nvPr/>
          </p:nvSpPr>
          <p:spPr>
            <a:xfrm>
              <a:off x="3960909" y="3498226"/>
              <a:ext cx="60992" cy="60992"/>
            </a:xfrm>
            <a:custGeom>
              <a:avLst/>
              <a:gdLst/>
              <a:ahLst/>
              <a:cxnLst/>
              <a:rect l="l" t="t" r="r" b="b"/>
              <a:pathLst>
                <a:path w="1906" h="1906" extrusionOk="0">
                  <a:moveTo>
                    <a:pt x="168" y="1"/>
                  </a:moveTo>
                  <a:cubicBezTo>
                    <a:pt x="84" y="1"/>
                    <a:pt x="1" y="84"/>
                    <a:pt x="1" y="167"/>
                  </a:cubicBezTo>
                  <a:cubicBezTo>
                    <a:pt x="1" y="1120"/>
                    <a:pt x="775" y="1906"/>
                    <a:pt x="1751" y="1906"/>
                  </a:cubicBezTo>
                  <a:cubicBezTo>
                    <a:pt x="1834" y="1906"/>
                    <a:pt x="1906" y="1834"/>
                    <a:pt x="1906" y="1751"/>
                  </a:cubicBezTo>
                  <a:cubicBezTo>
                    <a:pt x="1906" y="1656"/>
                    <a:pt x="1834" y="1584"/>
                    <a:pt x="1751" y="1584"/>
                  </a:cubicBezTo>
                  <a:cubicBezTo>
                    <a:pt x="977" y="1584"/>
                    <a:pt x="334" y="953"/>
                    <a:pt x="334" y="167"/>
                  </a:cubicBez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530;p81">
              <a:extLst>
                <a:ext uri="{FF2B5EF4-FFF2-40B4-BE49-F238E27FC236}">
                  <a16:creationId xmlns:a16="http://schemas.microsoft.com/office/drawing/2014/main" id="{42930B0E-87C2-5E76-996C-275C40E14AC6}"/>
                </a:ext>
              </a:extLst>
            </p:cNvPr>
            <p:cNvSpPr/>
            <p:nvPr/>
          </p:nvSpPr>
          <p:spPr>
            <a:xfrm>
              <a:off x="4083981" y="3408690"/>
              <a:ext cx="44224" cy="43872"/>
            </a:xfrm>
            <a:custGeom>
              <a:avLst/>
              <a:gdLst/>
              <a:ahLst/>
              <a:cxnLst/>
              <a:rect l="l" t="t" r="r" b="b"/>
              <a:pathLst>
                <a:path w="1382" h="1371" extrusionOk="0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cubicBezTo>
                    <a:pt x="1" y="263"/>
                    <a:pt x="72" y="334"/>
                    <a:pt x="167" y="334"/>
                  </a:cubicBezTo>
                  <a:cubicBezTo>
                    <a:pt x="655" y="334"/>
                    <a:pt x="1036" y="739"/>
                    <a:pt x="1036" y="1215"/>
                  </a:cubicBezTo>
                  <a:cubicBezTo>
                    <a:pt x="1036" y="1299"/>
                    <a:pt x="1120" y="1370"/>
                    <a:pt x="1203" y="1370"/>
                  </a:cubicBezTo>
                  <a:cubicBezTo>
                    <a:pt x="1298" y="1370"/>
                    <a:pt x="1370" y="1299"/>
                    <a:pt x="1370" y="1215"/>
                  </a:cubicBezTo>
                  <a:cubicBezTo>
                    <a:pt x="1382" y="560"/>
                    <a:pt x="834" y="1"/>
                    <a:pt x="16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2491;p63">
            <a:extLst>
              <a:ext uri="{FF2B5EF4-FFF2-40B4-BE49-F238E27FC236}">
                <a16:creationId xmlns:a16="http://schemas.microsoft.com/office/drawing/2014/main" id="{5345ADC0-55BE-0137-4FD4-2500C1A5609F}"/>
              </a:ext>
            </a:extLst>
          </p:cNvPr>
          <p:cNvGrpSpPr/>
          <p:nvPr/>
        </p:nvGrpSpPr>
        <p:grpSpPr>
          <a:xfrm>
            <a:off x="810684" y="2199234"/>
            <a:ext cx="373880" cy="372516"/>
            <a:chOff x="6467912" y="2113338"/>
            <a:chExt cx="318603" cy="317440"/>
          </a:xfrm>
          <a:solidFill>
            <a:schemeClr val="tx1"/>
          </a:solidFill>
        </p:grpSpPr>
        <p:sp>
          <p:nvSpPr>
            <p:cNvPr id="11" name="Google Shape;2492;p63">
              <a:extLst>
                <a:ext uri="{FF2B5EF4-FFF2-40B4-BE49-F238E27FC236}">
                  <a16:creationId xmlns:a16="http://schemas.microsoft.com/office/drawing/2014/main" id="{BC6D5F5B-C623-B6D1-F724-FD86C60137B9}"/>
                </a:ext>
              </a:extLst>
            </p:cNvPr>
            <p:cNvSpPr/>
            <p:nvPr/>
          </p:nvSpPr>
          <p:spPr>
            <a:xfrm>
              <a:off x="6467912" y="2113338"/>
              <a:ext cx="318603" cy="317440"/>
            </a:xfrm>
            <a:custGeom>
              <a:avLst/>
              <a:gdLst/>
              <a:ahLst/>
              <a:cxnLst/>
              <a:rect l="l" t="t" r="r" b="b"/>
              <a:pathLst>
                <a:path w="20555" h="20480" extrusionOk="0">
                  <a:moveTo>
                    <a:pt x="16961" y="644"/>
                  </a:moveTo>
                  <a:cubicBezTo>
                    <a:pt x="18542" y="644"/>
                    <a:pt x="19910" y="1938"/>
                    <a:pt x="19910" y="3593"/>
                  </a:cubicBezTo>
                  <a:cubicBezTo>
                    <a:pt x="19910" y="5174"/>
                    <a:pt x="18542" y="6537"/>
                    <a:pt x="16961" y="6537"/>
                  </a:cubicBezTo>
                  <a:cubicBezTo>
                    <a:pt x="15311" y="6537"/>
                    <a:pt x="14017" y="5174"/>
                    <a:pt x="14017" y="3593"/>
                  </a:cubicBezTo>
                  <a:cubicBezTo>
                    <a:pt x="14017" y="1938"/>
                    <a:pt x="15311" y="644"/>
                    <a:pt x="16961" y="644"/>
                  </a:cubicBezTo>
                  <a:close/>
                  <a:moveTo>
                    <a:pt x="5681" y="6537"/>
                  </a:moveTo>
                  <a:lnTo>
                    <a:pt x="7980" y="10562"/>
                  </a:lnTo>
                  <a:cubicBezTo>
                    <a:pt x="7762" y="10636"/>
                    <a:pt x="7618" y="10705"/>
                    <a:pt x="7405" y="10849"/>
                  </a:cubicBezTo>
                  <a:lnTo>
                    <a:pt x="5106" y="6825"/>
                  </a:lnTo>
                  <a:cubicBezTo>
                    <a:pt x="5318" y="6756"/>
                    <a:pt x="5537" y="6612"/>
                    <a:pt x="5681" y="6537"/>
                  </a:cubicBezTo>
                  <a:close/>
                  <a:moveTo>
                    <a:pt x="14880" y="6537"/>
                  </a:moveTo>
                  <a:cubicBezTo>
                    <a:pt x="15092" y="6612"/>
                    <a:pt x="15236" y="6756"/>
                    <a:pt x="15455" y="6825"/>
                  </a:cubicBezTo>
                  <a:lnTo>
                    <a:pt x="13155" y="10849"/>
                  </a:lnTo>
                  <a:cubicBezTo>
                    <a:pt x="13011" y="10705"/>
                    <a:pt x="12793" y="10636"/>
                    <a:pt x="12580" y="10562"/>
                  </a:cubicBezTo>
                  <a:lnTo>
                    <a:pt x="14880" y="6537"/>
                  </a:lnTo>
                  <a:close/>
                  <a:moveTo>
                    <a:pt x="3668" y="0"/>
                  </a:moveTo>
                  <a:cubicBezTo>
                    <a:pt x="1656" y="0"/>
                    <a:pt x="0" y="1581"/>
                    <a:pt x="0" y="3593"/>
                  </a:cubicBezTo>
                  <a:cubicBezTo>
                    <a:pt x="0" y="5531"/>
                    <a:pt x="1656" y="7187"/>
                    <a:pt x="3668" y="7187"/>
                  </a:cubicBezTo>
                  <a:cubicBezTo>
                    <a:pt x="3956" y="7187"/>
                    <a:pt x="4243" y="7112"/>
                    <a:pt x="4531" y="7043"/>
                  </a:cubicBezTo>
                  <a:lnTo>
                    <a:pt x="6899" y="11280"/>
                  </a:lnTo>
                  <a:cubicBezTo>
                    <a:pt x="5750" y="12217"/>
                    <a:pt x="5031" y="13655"/>
                    <a:pt x="5031" y="15236"/>
                  </a:cubicBezTo>
                  <a:cubicBezTo>
                    <a:pt x="5031" y="18111"/>
                    <a:pt x="7405" y="20479"/>
                    <a:pt x="10280" y="20479"/>
                  </a:cubicBezTo>
                  <a:cubicBezTo>
                    <a:pt x="11430" y="20479"/>
                    <a:pt x="12580" y="20123"/>
                    <a:pt x="13442" y="19404"/>
                  </a:cubicBezTo>
                  <a:cubicBezTo>
                    <a:pt x="13586" y="19260"/>
                    <a:pt x="13655" y="19117"/>
                    <a:pt x="13511" y="18973"/>
                  </a:cubicBezTo>
                  <a:cubicBezTo>
                    <a:pt x="13468" y="18884"/>
                    <a:pt x="13368" y="18821"/>
                    <a:pt x="13263" y="18821"/>
                  </a:cubicBezTo>
                  <a:cubicBezTo>
                    <a:pt x="13199" y="18821"/>
                    <a:pt x="13134" y="18844"/>
                    <a:pt x="13080" y="18898"/>
                  </a:cubicBezTo>
                  <a:cubicBezTo>
                    <a:pt x="12292" y="19473"/>
                    <a:pt x="11286" y="19835"/>
                    <a:pt x="10280" y="19835"/>
                  </a:cubicBezTo>
                  <a:cubicBezTo>
                    <a:pt x="7762" y="19835"/>
                    <a:pt x="5681" y="17748"/>
                    <a:pt x="5681" y="15236"/>
                  </a:cubicBezTo>
                  <a:cubicBezTo>
                    <a:pt x="5681" y="12718"/>
                    <a:pt x="7762" y="10636"/>
                    <a:pt x="10280" y="10636"/>
                  </a:cubicBezTo>
                  <a:cubicBezTo>
                    <a:pt x="12793" y="10636"/>
                    <a:pt x="14880" y="12718"/>
                    <a:pt x="14880" y="15236"/>
                  </a:cubicBezTo>
                  <a:cubicBezTo>
                    <a:pt x="14880" y="16242"/>
                    <a:pt x="14517" y="17173"/>
                    <a:pt x="13942" y="18036"/>
                  </a:cubicBezTo>
                  <a:cubicBezTo>
                    <a:pt x="13799" y="18180"/>
                    <a:pt x="13873" y="18323"/>
                    <a:pt x="14017" y="18467"/>
                  </a:cubicBezTo>
                  <a:cubicBezTo>
                    <a:pt x="14073" y="18523"/>
                    <a:pt x="14139" y="18546"/>
                    <a:pt x="14203" y="18546"/>
                  </a:cubicBezTo>
                  <a:cubicBezTo>
                    <a:pt x="14305" y="18546"/>
                    <a:pt x="14403" y="18486"/>
                    <a:pt x="14448" y="18398"/>
                  </a:cubicBezTo>
                  <a:cubicBezTo>
                    <a:pt x="15167" y="17461"/>
                    <a:pt x="15524" y="16386"/>
                    <a:pt x="15524" y="15236"/>
                  </a:cubicBezTo>
                  <a:cubicBezTo>
                    <a:pt x="15524" y="13655"/>
                    <a:pt x="14805" y="12217"/>
                    <a:pt x="13655" y="11280"/>
                  </a:cubicBezTo>
                  <a:lnTo>
                    <a:pt x="16098" y="7043"/>
                  </a:lnTo>
                  <a:cubicBezTo>
                    <a:pt x="16386" y="7112"/>
                    <a:pt x="16673" y="7187"/>
                    <a:pt x="16961" y="7187"/>
                  </a:cubicBezTo>
                  <a:cubicBezTo>
                    <a:pt x="18904" y="7187"/>
                    <a:pt x="20554" y="5531"/>
                    <a:pt x="20554" y="3593"/>
                  </a:cubicBezTo>
                  <a:cubicBezTo>
                    <a:pt x="20554" y="1581"/>
                    <a:pt x="18904" y="0"/>
                    <a:pt x="16961" y="0"/>
                  </a:cubicBezTo>
                  <a:cubicBezTo>
                    <a:pt x="14949" y="0"/>
                    <a:pt x="13368" y="1581"/>
                    <a:pt x="13368" y="3593"/>
                  </a:cubicBezTo>
                  <a:cubicBezTo>
                    <a:pt x="13368" y="4525"/>
                    <a:pt x="13730" y="5462"/>
                    <a:pt x="14374" y="6106"/>
                  </a:cubicBezTo>
                  <a:lnTo>
                    <a:pt x="12005" y="10274"/>
                  </a:lnTo>
                  <a:cubicBezTo>
                    <a:pt x="11430" y="10130"/>
                    <a:pt x="10855" y="9987"/>
                    <a:pt x="10280" y="9987"/>
                  </a:cubicBezTo>
                  <a:cubicBezTo>
                    <a:pt x="9705" y="9987"/>
                    <a:pt x="9130" y="10130"/>
                    <a:pt x="8624" y="10274"/>
                  </a:cubicBezTo>
                  <a:lnTo>
                    <a:pt x="6181" y="6106"/>
                  </a:lnTo>
                  <a:cubicBezTo>
                    <a:pt x="6830" y="5462"/>
                    <a:pt x="7262" y="4525"/>
                    <a:pt x="7262" y="3593"/>
                  </a:cubicBezTo>
                  <a:cubicBezTo>
                    <a:pt x="7262" y="2875"/>
                    <a:pt x="7043" y="2156"/>
                    <a:pt x="6612" y="1581"/>
                  </a:cubicBezTo>
                  <a:cubicBezTo>
                    <a:pt x="6569" y="1492"/>
                    <a:pt x="6468" y="1429"/>
                    <a:pt x="6364" y="1429"/>
                  </a:cubicBezTo>
                  <a:cubicBezTo>
                    <a:pt x="6300" y="1429"/>
                    <a:pt x="6235" y="1452"/>
                    <a:pt x="6181" y="1506"/>
                  </a:cubicBezTo>
                  <a:cubicBezTo>
                    <a:pt x="6037" y="1581"/>
                    <a:pt x="5968" y="1794"/>
                    <a:pt x="6112" y="1938"/>
                  </a:cubicBezTo>
                  <a:cubicBezTo>
                    <a:pt x="6399" y="2444"/>
                    <a:pt x="6612" y="3018"/>
                    <a:pt x="6612" y="3593"/>
                  </a:cubicBezTo>
                  <a:cubicBezTo>
                    <a:pt x="6612" y="5174"/>
                    <a:pt x="5249" y="6537"/>
                    <a:pt x="3668" y="6537"/>
                  </a:cubicBezTo>
                  <a:cubicBezTo>
                    <a:pt x="2013" y="6537"/>
                    <a:pt x="719" y="5174"/>
                    <a:pt x="719" y="3593"/>
                  </a:cubicBezTo>
                  <a:cubicBezTo>
                    <a:pt x="719" y="1938"/>
                    <a:pt x="2013" y="644"/>
                    <a:pt x="3668" y="644"/>
                  </a:cubicBezTo>
                  <a:cubicBezTo>
                    <a:pt x="4243" y="644"/>
                    <a:pt x="4743" y="788"/>
                    <a:pt x="5249" y="1075"/>
                  </a:cubicBezTo>
                  <a:cubicBezTo>
                    <a:pt x="5305" y="1131"/>
                    <a:pt x="5371" y="1154"/>
                    <a:pt x="5435" y="1154"/>
                  </a:cubicBezTo>
                  <a:cubicBezTo>
                    <a:pt x="5537" y="1154"/>
                    <a:pt x="5635" y="1094"/>
                    <a:pt x="5681" y="1006"/>
                  </a:cubicBezTo>
                  <a:cubicBezTo>
                    <a:pt x="5824" y="862"/>
                    <a:pt x="5750" y="644"/>
                    <a:pt x="5606" y="575"/>
                  </a:cubicBezTo>
                  <a:cubicBezTo>
                    <a:pt x="5031" y="144"/>
                    <a:pt x="4312" y="0"/>
                    <a:pt x="366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93;p63">
              <a:extLst>
                <a:ext uri="{FF2B5EF4-FFF2-40B4-BE49-F238E27FC236}">
                  <a16:creationId xmlns:a16="http://schemas.microsoft.com/office/drawing/2014/main" id="{CDFE31C9-8DE9-7F14-E2ED-DB5300C0EEFC}"/>
                </a:ext>
              </a:extLst>
            </p:cNvPr>
            <p:cNvSpPr/>
            <p:nvPr/>
          </p:nvSpPr>
          <p:spPr>
            <a:xfrm>
              <a:off x="6601584" y="2385131"/>
              <a:ext cx="10075" cy="9997"/>
            </a:xfrm>
            <a:custGeom>
              <a:avLst/>
              <a:gdLst/>
              <a:ahLst/>
              <a:cxnLst/>
              <a:rect l="l" t="t" r="r" b="b"/>
              <a:pathLst>
                <a:path w="650" h="645" extrusionOk="0">
                  <a:moveTo>
                    <a:pt x="363" y="1"/>
                  </a:moveTo>
                  <a:cubicBezTo>
                    <a:pt x="144" y="1"/>
                    <a:pt x="0" y="144"/>
                    <a:pt x="0" y="357"/>
                  </a:cubicBezTo>
                  <a:cubicBezTo>
                    <a:pt x="0" y="501"/>
                    <a:pt x="144" y="645"/>
                    <a:pt x="363" y="645"/>
                  </a:cubicBezTo>
                  <a:cubicBezTo>
                    <a:pt x="506" y="645"/>
                    <a:pt x="650" y="501"/>
                    <a:pt x="650" y="357"/>
                  </a:cubicBezTo>
                  <a:cubicBezTo>
                    <a:pt x="650" y="144"/>
                    <a:pt x="506" y="1"/>
                    <a:pt x="363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94;p63">
              <a:extLst>
                <a:ext uri="{FF2B5EF4-FFF2-40B4-BE49-F238E27FC236}">
                  <a16:creationId xmlns:a16="http://schemas.microsoft.com/office/drawing/2014/main" id="{374D14A5-68D0-BC4F-A1FE-381CEF112A98}"/>
                </a:ext>
              </a:extLst>
            </p:cNvPr>
            <p:cNvSpPr/>
            <p:nvPr/>
          </p:nvSpPr>
          <p:spPr>
            <a:xfrm>
              <a:off x="6581527" y="2365089"/>
              <a:ext cx="10090" cy="9982"/>
            </a:xfrm>
            <a:custGeom>
              <a:avLst/>
              <a:gdLst/>
              <a:ahLst/>
              <a:cxnLst/>
              <a:rect l="l" t="t" r="r" b="b"/>
              <a:pathLst>
                <a:path w="651" h="644" extrusionOk="0">
                  <a:moveTo>
                    <a:pt x="288" y="0"/>
                  </a:moveTo>
                  <a:cubicBezTo>
                    <a:pt x="144" y="0"/>
                    <a:pt x="1" y="144"/>
                    <a:pt x="1" y="287"/>
                  </a:cubicBezTo>
                  <a:cubicBezTo>
                    <a:pt x="1" y="500"/>
                    <a:pt x="144" y="644"/>
                    <a:pt x="288" y="644"/>
                  </a:cubicBezTo>
                  <a:cubicBezTo>
                    <a:pt x="507" y="644"/>
                    <a:pt x="650" y="500"/>
                    <a:pt x="650" y="287"/>
                  </a:cubicBezTo>
                  <a:cubicBezTo>
                    <a:pt x="650" y="144"/>
                    <a:pt x="507" y="0"/>
                    <a:pt x="28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0293;p76">
            <a:extLst>
              <a:ext uri="{FF2B5EF4-FFF2-40B4-BE49-F238E27FC236}">
                <a16:creationId xmlns:a16="http://schemas.microsoft.com/office/drawing/2014/main" id="{8173E237-7F3B-29DC-436B-488AAE7BFC54}"/>
              </a:ext>
            </a:extLst>
          </p:cNvPr>
          <p:cNvGrpSpPr/>
          <p:nvPr/>
        </p:nvGrpSpPr>
        <p:grpSpPr>
          <a:xfrm>
            <a:off x="841846" y="3051749"/>
            <a:ext cx="401443" cy="357024"/>
            <a:chOff x="2497275" y="2744159"/>
            <a:chExt cx="370930" cy="370549"/>
          </a:xfrm>
          <a:solidFill>
            <a:schemeClr val="tx1"/>
          </a:solidFill>
        </p:grpSpPr>
        <p:sp>
          <p:nvSpPr>
            <p:cNvPr id="15" name="Google Shape;10294;p76">
              <a:extLst>
                <a:ext uri="{FF2B5EF4-FFF2-40B4-BE49-F238E27FC236}">
                  <a16:creationId xmlns:a16="http://schemas.microsoft.com/office/drawing/2014/main" id="{949E3A67-2BC2-4B2B-6680-1F2E24F862E7}"/>
                </a:ext>
              </a:extLst>
            </p:cNvPr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295;p76">
              <a:extLst>
                <a:ext uri="{FF2B5EF4-FFF2-40B4-BE49-F238E27FC236}">
                  <a16:creationId xmlns:a16="http://schemas.microsoft.com/office/drawing/2014/main" id="{51326D4A-AE07-EAC0-08BA-3E7CCAF05B28}"/>
                </a:ext>
              </a:extLst>
            </p:cNvPr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296;p76">
              <a:extLst>
                <a:ext uri="{FF2B5EF4-FFF2-40B4-BE49-F238E27FC236}">
                  <a16:creationId xmlns:a16="http://schemas.microsoft.com/office/drawing/2014/main" id="{D262ED09-8168-97D8-29B4-69F50AED1EAC}"/>
                </a:ext>
              </a:extLst>
            </p:cNvPr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297;p76">
              <a:extLst>
                <a:ext uri="{FF2B5EF4-FFF2-40B4-BE49-F238E27FC236}">
                  <a16:creationId xmlns:a16="http://schemas.microsoft.com/office/drawing/2014/main" id="{57A70D13-A8F9-4410-79B8-4B176711EA46}"/>
                </a:ext>
              </a:extLst>
            </p:cNvPr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298;p76">
              <a:extLst>
                <a:ext uri="{FF2B5EF4-FFF2-40B4-BE49-F238E27FC236}">
                  <a16:creationId xmlns:a16="http://schemas.microsoft.com/office/drawing/2014/main" id="{0886FEB2-3E9D-5234-A252-A0D14FE2E1B5}"/>
                </a:ext>
              </a:extLst>
            </p:cNvPr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299;p76">
              <a:extLst>
                <a:ext uri="{FF2B5EF4-FFF2-40B4-BE49-F238E27FC236}">
                  <a16:creationId xmlns:a16="http://schemas.microsoft.com/office/drawing/2014/main" id="{A5E16C99-8577-CEEE-84E5-854BCA78CCAC}"/>
                </a:ext>
              </a:extLst>
            </p:cNvPr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2794;p80">
            <a:extLst>
              <a:ext uri="{FF2B5EF4-FFF2-40B4-BE49-F238E27FC236}">
                <a16:creationId xmlns:a16="http://schemas.microsoft.com/office/drawing/2014/main" id="{D72AE9A5-1925-3AD1-C597-44970440D426}"/>
              </a:ext>
            </a:extLst>
          </p:cNvPr>
          <p:cNvGrpSpPr/>
          <p:nvPr/>
        </p:nvGrpSpPr>
        <p:grpSpPr>
          <a:xfrm>
            <a:off x="841846" y="3804757"/>
            <a:ext cx="403682" cy="304963"/>
            <a:chOff x="1367060" y="2422129"/>
            <a:chExt cx="269261" cy="352050"/>
          </a:xfrm>
          <a:solidFill>
            <a:schemeClr val="tx1"/>
          </a:solidFill>
        </p:grpSpPr>
        <p:sp>
          <p:nvSpPr>
            <p:cNvPr id="22" name="Google Shape;12795;p80">
              <a:extLst>
                <a:ext uri="{FF2B5EF4-FFF2-40B4-BE49-F238E27FC236}">
                  <a16:creationId xmlns:a16="http://schemas.microsoft.com/office/drawing/2014/main" id="{A2C419D5-6ACB-1896-352B-8BFEC5B56830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796;p80">
              <a:extLst>
                <a:ext uri="{FF2B5EF4-FFF2-40B4-BE49-F238E27FC236}">
                  <a16:creationId xmlns:a16="http://schemas.microsoft.com/office/drawing/2014/main" id="{4A4E37AB-7292-DA1F-66F4-D57FF02B0AE6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797;p80">
              <a:extLst>
                <a:ext uri="{FF2B5EF4-FFF2-40B4-BE49-F238E27FC236}">
                  <a16:creationId xmlns:a16="http://schemas.microsoft.com/office/drawing/2014/main" id="{8CFD291A-0793-4111-54E6-66190F5272AA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798;p80">
              <a:extLst>
                <a:ext uri="{FF2B5EF4-FFF2-40B4-BE49-F238E27FC236}">
                  <a16:creationId xmlns:a16="http://schemas.microsoft.com/office/drawing/2014/main" id="{DD096DDB-6273-2DFA-ECEE-AD85318E4930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799;p80">
              <a:extLst>
                <a:ext uri="{FF2B5EF4-FFF2-40B4-BE49-F238E27FC236}">
                  <a16:creationId xmlns:a16="http://schemas.microsoft.com/office/drawing/2014/main" id="{846CB4FC-4245-BE2C-AFBC-C6AA3817D7C3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800;p80">
              <a:extLst>
                <a:ext uri="{FF2B5EF4-FFF2-40B4-BE49-F238E27FC236}">
                  <a16:creationId xmlns:a16="http://schemas.microsoft.com/office/drawing/2014/main" id="{20C3348D-7A54-772E-E9CE-8F9940CE2D8C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801;p80">
              <a:extLst>
                <a:ext uri="{FF2B5EF4-FFF2-40B4-BE49-F238E27FC236}">
                  <a16:creationId xmlns:a16="http://schemas.microsoft.com/office/drawing/2014/main" id="{A0428991-FB74-8B58-7D3A-1024E5CFAA4A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802;p80">
              <a:extLst>
                <a:ext uri="{FF2B5EF4-FFF2-40B4-BE49-F238E27FC236}">
                  <a16:creationId xmlns:a16="http://schemas.microsoft.com/office/drawing/2014/main" id="{BA9BD873-7303-A2CA-DB4B-1D46A05D1EA9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803;p80">
              <a:extLst>
                <a:ext uri="{FF2B5EF4-FFF2-40B4-BE49-F238E27FC236}">
                  <a16:creationId xmlns:a16="http://schemas.microsoft.com/office/drawing/2014/main" id="{813907D9-7506-03FB-7624-B29E0949A0EE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804;p80">
              <a:extLst>
                <a:ext uri="{FF2B5EF4-FFF2-40B4-BE49-F238E27FC236}">
                  <a16:creationId xmlns:a16="http://schemas.microsoft.com/office/drawing/2014/main" id="{922123FE-DE50-4383-13BE-F7CE144E7E65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805;p80">
              <a:extLst>
                <a:ext uri="{FF2B5EF4-FFF2-40B4-BE49-F238E27FC236}">
                  <a16:creationId xmlns:a16="http://schemas.microsoft.com/office/drawing/2014/main" id="{020DF471-6FB5-B909-FF17-0586D054EF14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06;p80">
              <a:extLst>
                <a:ext uri="{FF2B5EF4-FFF2-40B4-BE49-F238E27FC236}">
                  <a16:creationId xmlns:a16="http://schemas.microsoft.com/office/drawing/2014/main" id="{5064BCFD-68FF-A561-770E-DCF93CAF4114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807;p80">
              <a:extLst>
                <a:ext uri="{FF2B5EF4-FFF2-40B4-BE49-F238E27FC236}">
                  <a16:creationId xmlns:a16="http://schemas.microsoft.com/office/drawing/2014/main" id="{28C68A63-392B-0B12-A7E4-0B544C2D3E09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808;p80">
              <a:extLst>
                <a:ext uri="{FF2B5EF4-FFF2-40B4-BE49-F238E27FC236}">
                  <a16:creationId xmlns:a16="http://schemas.microsoft.com/office/drawing/2014/main" id="{6219E99A-181B-FB02-4F56-B12D383692C1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C800E69-6DFD-C9EF-6905-7B869A41A1F5}"/>
              </a:ext>
            </a:extLst>
          </p:cNvPr>
          <p:cNvSpPr txBox="1"/>
          <p:nvPr/>
        </p:nvSpPr>
        <p:spPr>
          <a:xfrm>
            <a:off x="1417424" y="1349630"/>
            <a:ext cx="2822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Η πηγή άνθρακα και η διαθεσιμότητα οξυγόνου επηρεάζουν τις προβλέψεις της </a:t>
            </a:r>
            <a:r>
              <a:rPr lang="en-US" sz="1200" dirty="0">
                <a:solidFill>
                  <a:schemeClr val="tx1"/>
                </a:solidFill>
              </a:rPr>
              <a:t>FBA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A00ADD-DBD3-ED66-0AE0-62F941801FAA}"/>
              </a:ext>
            </a:extLst>
          </p:cNvPr>
          <p:cNvSpPr txBox="1"/>
          <p:nvPr/>
        </p:nvSpPr>
        <p:spPr>
          <a:xfrm>
            <a:off x="5526898" y="3022023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Περιορισμένα και ετερογενή fluxomics δεδομένα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5555C5-9632-15CE-258B-FA09AD163F7E}"/>
              </a:ext>
            </a:extLst>
          </p:cNvPr>
          <p:cNvSpPr txBox="1"/>
          <p:nvPr/>
        </p:nvSpPr>
        <p:spPr>
          <a:xfrm>
            <a:off x="1414773" y="3022023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Η αναερόβια γλυκόζη ήταν η πιο περιοριστική συνθήκη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C3879B-D711-9D5E-2922-2EBB677F97D0}"/>
              </a:ext>
            </a:extLst>
          </p:cNvPr>
          <p:cNvSpPr txBox="1"/>
          <p:nvPr/>
        </p:nvSpPr>
        <p:spPr>
          <a:xfrm>
            <a:off x="1414774" y="3680593"/>
            <a:ext cx="2822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Οι παραγόμενες μετρικές μπορούν να αξιοποιηθούν  μελλοντικά σε Μηχανική Μάθηση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1AE8576-0FFE-1669-D786-D6E0B1321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24231"/>
              </p:ext>
            </p:extLst>
          </p:nvPr>
        </p:nvGraphicFramePr>
        <p:xfrm>
          <a:off x="4649212" y="833947"/>
          <a:ext cx="3684104" cy="3528263"/>
        </p:xfrm>
        <a:graphic>
          <a:graphicData uri="http://schemas.openxmlformats.org/drawingml/2006/table">
            <a:tbl>
              <a:tblPr firstRow="1" bandRow="1">
                <a:tableStyleId>{7DB40B1C-C6FC-4F9A-9B64-01A4D7B7A8F9}</a:tableStyleId>
              </a:tblPr>
              <a:tblGrid>
                <a:gridCol w="3684104">
                  <a:extLst>
                    <a:ext uri="{9D8B030D-6E8A-4147-A177-3AD203B41FA5}">
                      <a16:colId xmlns:a16="http://schemas.microsoft.com/office/drawing/2014/main" val="1519279101"/>
                    </a:ext>
                  </a:extLst>
                </a:gridCol>
              </a:tblGrid>
              <a:tr h="398504">
                <a:tc>
                  <a:txBody>
                    <a:bodyPr/>
                    <a:lstStyle/>
                    <a:p>
                      <a:pPr algn="ctr"/>
                      <a:r>
                        <a:rPr lang="el-GR" b="1" dirty="0">
                          <a:solidFill>
                            <a:schemeClr val="tx1"/>
                          </a:solidFill>
                        </a:rPr>
                        <a:t>Κύριοι Περιορισμοί</a:t>
                      </a:r>
                    </a:p>
                  </a:txBody>
                  <a:tcP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31667"/>
                  </a:ext>
                </a:extLst>
              </a:tr>
              <a:tr h="3129759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925770"/>
                  </a:ext>
                </a:extLst>
              </a:tr>
            </a:tbl>
          </a:graphicData>
        </a:graphic>
      </p:graphicFrame>
      <p:grpSp>
        <p:nvGrpSpPr>
          <p:cNvPr id="45" name="Google Shape;10494;p76">
            <a:extLst>
              <a:ext uri="{FF2B5EF4-FFF2-40B4-BE49-F238E27FC236}">
                <a16:creationId xmlns:a16="http://schemas.microsoft.com/office/drawing/2014/main" id="{2E286B8A-F9A6-E9A7-D1C5-BEA35500670F}"/>
              </a:ext>
            </a:extLst>
          </p:cNvPr>
          <p:cNvGrpSpPr/>
          <p:nvPr/>
        </p:nvGrpSpPr>
        <p:grpSpPr>
          <a:xfrm>
            <a:off x="4893305" y="1394888"/>
            <a:ext cx="416445" cy="347702"/>
            <a:chOff x="3584280" y="3699191"/>
            <a:chExt cx="358069" cy="317995"/>
          </a:xfrm>
          <a:solidFill>
            <a:schemeClr val="tx1"/>
          </a:solidFill>
        </p:grpSpPr>
        <p:sp>
          <p:nvSpPr>
            <p:cNvPr id="46" name="Google Shape;10495;p76">
              <a:extLst>
                <a:ext uri="{FF2B5EF4-FFF2-40B4-BE49-F238E27FC236}">
                  <a16:creationId xmlns:a16="http://schemas.microsoft.com/office/drawing/2014/main" id="{B3B1FFED-D7A7-878A-9F9C-3CDB04C86519}"/>
                </a:ext>
              </a:extLst>
            </p:cNvPr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496;p76">
              <a:extLst>
                <a:ext uri="{FF2B5EF4-FFF2-40B4-BE49-F238E27FC236}">
                  <a16:creationId xmlns:a16="http://schemas.microsoft.com/office/drawing/2014/main" id="{AF0018EB-586C-DC0F-1979-5804EFC538EB}"/>
                </a:ext>
              </a:extLst>
            </p:cNvPr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497;p76">
              <a:extLst>
                <a:ext uri="{FF2B5EF4-FFF2-40B4-BE49-F238E27FC236}">
                  <a16:creationId xmlns:a16="http://schemas.microsoft.com/office/drawing/2014/main" id="{0D63E03F-50B5-7984-D9B7-E238A7046E7F}"/>
                </a:ext>
              </a:extLst>
            </p:cNvPr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498;p76">
              <a:extLst>
                <a:ext uri="{FF2B5EF4-FFF2-40B4-BE49-F238E27FC236}">
                  <a16:creationId xmlns:a16="http://schemas.microsoft.com/office/drawing/2014/main" id="{C73E0AAA-FE70-A0B0-948A-F9CF9C055D71}"/>
                </a:ext>
              </a:extLst>
            </p:cNvPr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13910;p82">
            <a:extLst>
              <a:ext uri="{FF2B5EF4-FFF2-40B4-BE49-F238E27FC236}">
                <a16:creationId xmlns:a16="http://schemas.microsoft.com/office/drawing/2014/main" id="{EE2C6363-B8A9-9E75-9838-ABE7BC9B280E}"/>
              </a:ext>
            </a:extLst>
          </p:cNvPr>
          <p:cNvGrpSpPr/>
          <p:nvPr/>
        </p:nvGrpSpPr>
        <p:grpSpPr>
          <a:xfrm>
            <a:off x="4893305" y="3010496"/>
            <a:ext cx="416445" cy="407138"/>
            <a:chOff x="6099375" y="2456075"/>
            <a:chExt cx="337684" cy="314194"/>
          </a:xfrm>
          <a:solidFill>
            <a:schemeClr val="tx1"/>
          </a:solidFill>
        </p:grpSpPr>
        <p:sp>
          <p:nvSpPr>
            <p:cNvPr id="51" name="Google Shape;13911;p82">
              <a:extLst>
                <a:ext uri="{FF2B5EF4-FFF2-40B4-BE49-F238E27FC236}">
                  <a16:creationId xmlns:a16="http://schemas.microsoft.com/office/drawing/2014/main" id="{AEA208AB-0619-E8C0-9666-9F5DC450488E}"/>
                </a:ext>
              </a:extLst>
            </p:cNvPr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912;p82">
              <a:extLst>
                <a:ext uri="{FF2B5EF4-FFF2-40B4-BE49-F238E27FC236}">
                  <a16:creationId xmlns:a16="http://schemas.microsoft.com/office/drawing/2014/main" id="{31833514-EB23-1EA0-E7EA-484ABADF50B6}"/>
                </a:ext>
              </a:extLst>
            </p:cNvPr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12794;p80">
            <a:extLst>
              <a:ext uri="{FF2B5EF4-FFF2-40B4-BE49-F238E27FC236}">
                <a16:creationId xmlns:a16="http://schemas.microsoft.com/office/drawing/2014/main" id="{B63186AA-FC6A-B366-9776-294EA3604B89}"/>
              </a:ext>
            </a:extLst>
          </p:cNvPr>
          <p:cNvGrpSpPr/>
          <p:nvPr/>
        </p:nvGrpSpPr>
        <p:grpSpPr>
          <a:xfrm>
            <a:off x="4893305" y="3838067"/>
            <a:ext cx="403682" cy="304963"/>
            <a:chOff x="1367060" y="2422129"/>
            <a:chExt cx="269261" cy="352050"/>
          </a:xfrm>
          <a:solidFill>
            <a:schemeClr val="tx1"/>
          </a:solidFill>
        </p:grpSpPr>
        <p:sp>
          <p:nvSpPr>
            <p:cNvPr id="54" name="Google Shape;12795;p80">
              <a:extLst>
                <a:ext uri="{FF2B5EF4-FFF2-40B4-BE49-F238E27FC236}">
                  <a16:creationId xmlns:a16="http://schemas.microsoft.com/office/drawing/2014/main" id="{C4861CE2-5EF0-10DA-E3EB-0D0DAD0A7802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796;p80">
              <a:extLst>
                <a:ext uri="{FF2B5EF4-FFF2-40B4-BE49-F238E27FC236}">
                  <a16:creationId xmlns:a16="http://schemas.microsoft.com/office/drawing/2014/main" id="{4C5FC770-BB75-3C9B-B6F0-220B792F9DAF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797;p80">
              <a:extLst>
                <a:ext uri="{FF2B5EF4-FFF2-40B4-BE49-F238E27FC236}">
                  <a16:creationId xmlns:a16="http://schemas.microsoft.com/office/drawing/2014/main" id="{5ED12BBA-A344-A729-0788-02E719B59D31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798;p80">
              <a:extLst>
                <a:ext uri="{FF2B5EF4-FFF2-40B4-BE49-F238E27FC236}">
                  <a16:creationId xmlns:a16="http://schemas.microsoft.com/office/drawing/2014/main" id="{E7BBC294-8814-EE66-23EC-743FB94B73F7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799;p80">
              <a:extLst>
                <a:ext uri="{FF2B5EF4-FFF2-40B4-BE49-F238E27FC236}">
                  <a16:creationId xmlns:a16="http://schemas.microsoft.com/office/drawing/2014/main" id="{979D167C-17F9-BF4C-8ACC-C604A60D0272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800;p80">
              <a:extLst>
                <a:ext uri="{FF2B5EF4-FFF2-40B4-BE49-F238E27FC236}">
                  <a16:creationId xmlns:a16="http://schemas.microsoft.com/office/drawing/2014/main" id="{7ED3B077-92C0-4899-2EDC-F7ACDB2EB28C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801;p80">
              <a:extLst>
                <a:ext uri="{FF2B5EF4-FFF2-40B4-BE49-F238E27FC236}">
                  <a16:creationId xmlns:a16="http://schemas.microsoft.com/office/drawing/2014/main" id="{62BFE1D0-11C2-91AB-1B6C-B896F6184096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802;p80">
              <a:extLst>
                <a:ext uri="{FF2B5EF4-FFF2-40B4-BE49-F238E27FC236}">
                  <a16:creationId xmlns:a16="http://schemas.microsoft.com/office/drawing/2014/main" id="{35149D56-05F7-F3CA-C118-7809A6BBB69D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803;p80">
              <a:extLst>
                <a:ext uri="{FF2B5EF4-FFF2-40B4-BE49-F238E27FC236}">
                  <a16:creationId xmlns:a16="http://schemas.microsoft.com/office/drawing/2014/main" id="{E6A2352C-C826-2C27-5D34-C59D40586C7E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804;p80">
              <a:extLst>
                <a:ext uri="{FF2B5EF4-FFF2-40B4-BE49-F238E27FC236}">
                  <a16:creationId xmlns:a16="http://schemas.microsoft.com/office/drawing/2014/main" id="{3244CC70-1960-4401-9075-88B40067F84A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12805;p80">
              <a:extLst>
                <a:ext uri="{FF2B5EF4-FFF2-40B4-BE49-F238E27FC236}">
                  <a16:creationId xmlns:a16="http://schemas.microsoft.com/office/drawing/2014/main" id="{B55FA3DC-51ED-BF32-374E-F70497376182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12806;p80">
              <a:extLst>
                <a:ext uri="{FF2B5EF4-FFF2-40B4-BE49-F238E27FC236}">
                  <a16:creationId xmlns:a16="http://schemas.microsoft.com/office/drawing/2014/main" id="{28B98A43-6A75-D1EF-B7C3-18FAE9F1C5AA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12807;p80">
              <a:extLst>
                <a:ext uri="{FF2B5EF4-FFF2-40B4-BE49-F238E27FC236}">
                  <a16:creationId xmlns:a16="http://schemas.microsoft.com/office/drawing/2014/main" id="{E5A24621-BCC1-2E3E-EBFA-AAEDAC51CBFD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12808;p80">
              <a:extLst>
                <a:ext uri="{FF2B5EF4-FFF2-40B4-BE49-F238E27FC236}">
                  <a16:creationId xmlns:a16="http://schemas.microsoft.com/office/drawing/2014/main" id="{C073821A-BE55-3EE6-151B-83B0C5C67472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4" name="Minus Sign 2243">
            <a:extLst>
              <a:ext uri="{FF2B5EF4-FFF2-40B4-BE49-F238E27FC236}">
                <a16:creationId xmlns:a16="http://schemas.microsoft.com/office/drawing/2014/main" id="{84C3F680-9FC4-B6AE-16AC-06DF9F9DFEBE}"/>
              </a:ext>
            </a:extLst>
          </p:cNvPr>
          <p:cNvSpPr/>
          <p:nvPr/>
        </p:nvSpPr>
        <p:spPr>
          <a:xfrm rot="19967929">
            <a:off x="4715793" y="3890565"/>
            <a:ext cx="739028" cy="186109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grpSp>
        <p:nvGrpSpPr>
          <p:cNvPr id="2245" name="Google Shape;2522;p63">
            <a:extLst>
              <a:ext uri="{FF2B5EF4-FFF2-40B4-BE49-F238E27FC236}">
                <a16:creationId xmlns:a16="http://schemas.microsoft.com/office/drawing/2014/main" id="{B2BB10A4-0C97-7EE5-BB83-B622703C8B80}"/>
              </a:ext>
            </a:extLst>
          </p:cNvPr>
          <p:cNvGrpSpPr/>
          <p:nvPr/>
        </p:nvGrpSpPr>
        <p:grpSpPr>
          <a:xfrm>
            <a:off x="4883306" y="2199234"/>
            <a:ext cx="372625" cy="372516"/>
            <a:chOff x="2364148" y="2113338"/>
            <a:chExt cx="317533" cy="317440"/>
          </a:xfrm>
          <a:solidFill>
            <a:schemeClr val="tx1"/>
          </a:solidFill>
        </p:grpSpPr>
        <p:sp>
          <p:nvSpPr>
            <p:cNvPr id="2246" name="Google Shape;2523;p63">
              <a:extLst>
                <a:ext uri="{FF2B5EF4-FFF2-40B4-BE49-F238E27FC236}">
                  <a16:creationId xmlns:a16="http://schemas.microsoft.com/office/drawing/2014/main" id="{EB03DD4B-AE00-D052-CC31-DC710505CDD9}"/>
                </a:ext>
              </a:extLst>
            </p:cNvPr>
            <p:cNvSpPr/>
            <p:nvPr/>
          </p:nvSpPr>
          <p:spPr>
            <a:xfrm>
              <a:off x="2427682" y="2113338"/>
              <a:ext cx="154814" cy="153729"/>
            </a:xfrm>
            <a:custGeom>
              <a:avLst/>
              <a:gdLst/>
              <a:ahLst/>
              <a:cxnLst/>
              <a:rect l="l" t="t" r="r" b="b"/>
              <a:pathLst>
                <a:path w="9988" h="9918" extrusionOk="0">
                  <a:moveTo>
                    <a:pt x="4956" y="644"/>
                  </a:moveTo>
                  <a:cubicBezTo>
                    <a:pt x="7400" y="644"/>
                    <a:pt x="9343" y="2587"/>
                    <a:pt x="9343" y="4956"/>
                  </a:cubicBezTo>
                  <a:cubicBezTo>
                    <a:pt x="9343" y="7330"/>
                    <a:pt x="7400" y="9268"/>
                    <a:pt x="4956" y="9268"/>
                  </a:cubicBezTo>
                  <a:cubicBezTo>
                    <a:pt x="2588" y="9268"/>
                    <a:pt x="644" y="7330"/>
                    <a:pt x="644" y="4956"/>
                  </a:cubicBezTo>
                  <a:cubicBezTo>
                    <a:pt x="644" y="2587"/>
                    <a:pt x="2588" y="644"/>
                    <a:pt x="4956" y="644"/>
                  </a:cubicBezTo>
                  <a:close/>
                  <a:moveTo>
                    <a:pt x="4956" y="0"/>
                  </a:moveTo>
                  <a:cubicBezTo>
                    <a:pt x="2226" y="0"/>
                    <a:pt x="1" y="2225"/>
                    <a:pt x="1" y="4956"/>
                  </a:cubicBezTo>
                  <a:cubicBezTo>
                    <a:pt x="1" y="7687"/>
                    <a:pt x="2226" y="9918"/>
                    <a:pt x="4956" y="9918"/>
                  </a:cubicBezTo>
                  <a:cubicBezTo>
                    <a:pt x="7762" y="9918"/>
                    <a:pt x="9987" y="7687"/>
                    <a:pt x="9987" y="4956"/>
                  </a:cubicBezTo>
                  <a:cubicBezTo>
                    <a:pt x="9987" y="2225"/>
                    <a:pt x="7762" y="0"/>
                    <a:pt x="4956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524;p63">
              <a:extLst>
                <a:ext uri="{FF2B5EF4-FFF2-40B4-BE49-F238E27FC236}">
                  <a16:creationId xmlns:a16="http://schemas.microsoft.com/office/drawing/2014/main" id="{257D2CB9-B9DA-55F7-BAD8-CBF320A80BDC}"/>
                </a:ext>
              </a:extLst>
            </p:cNvPr>
            <p:cNvSpPr/>
            <p:nvPr/>
          </p:nvSpPr>
          <p:spPr>
            <a:xfrm>
              <a:off x="2364148" y="2283714"/>
              <a:ext cx="231710" cy="147064"/>
            </a:xfrm>
            <a:custGeom>
              <a:avLst/>
              <a:gdLst/>
              <a:ahLst/>
              <a:cxnLst/>
              <a:rect l="l" t="t" r="r" b="b"/>
              <a:pathLst>
                <a:path w="14949" h="9488" extrusionOk="0">
                  <a:moveTo>
                    <a:pt x="9055" y="719"/>
                  </a:moveTo>
                  <a:cubicBezTo>
                    <a:pt x="10062" y="719"/>
                    <a:pt x="10999" y="863"/>
                    <a:pt x="11930" y="1151"/>
                  </a:cubicBezTo>
                  <a:lnTo>
                    <a:pt x="9055" y="5032"/>
                  </a:lnTo>
                  <a:lnTo>
                    <a:pt x="6256" y="1151"/>
                  </a:lnTo>
                  <a:cubicBezTo>
                    <a:pt x="7187" y="863"/>
                    <a:pt x="8124" y="719"/>
                    <a:pt x="9055" y="719"/>
                  </a:cubicBezTo>
                  <a:close/>
                  <a:moveTo>
                    <a:pt x="5681" y="1438"/>
                  </a:moveTo>
                  <a:lnTo>
                    <a:pt x="8768" y="5681"/>
                  </a:lnTo>
                  <a:lnTo>
                    <a:pt x="8768" y="8125"/>
                  </a:lnTo>
                  <a:lnTo>
                    <a:pt x="6399" y="4888"/>
                  </a:lnTo>
                  <a:lnTo>
                    <a:pt x="6399" y="4244"/>
                  </a:lnTo>
                  <a:cubicBezTo>
                    <a:pt x="6399" y="4025"/>
                    <a:pt x="6256" y="3882"/>
                    <a:pt x="6037" y="3882"/>
                  </a:cubicBezTo>
                  <a:lnTo>
                    <a:pt x="4456" y="3882"/>
                  </a:lnTo>
                  <a:lnTo>
                    <a:pt x="3594" y="2732"/>
                  </a:lnTo>
                  <a:cubicBezTo>
                    <a:pt x="4243" y="2157"/>
                    <a:pt x="4887" y="1726"/>
                    <a:pt x="5681" y="1438"/>
                  </a:cubicBezTo>
                  <a:close/>
                  <a:moveTo>
                    <a:pt x="9055" y="1"/>
                  </a:moveTo>
                  <a:cubicBezTo>
                    <a:pt x="7906" y="1"/>
                    <a:pt x="6756" y="288"/>
                    <a:pt x="5681" y="719"/>
                  </a:cubicBezTo>
                  <a:lnTo>
                    <a:pt x="5606" y="719"/>
                  </a:lnTo>
                  <a:cubicBezTo>
                    <a:pt x="4674" y="1151"/>
                    <a:pt x="3737" y="1726"/>
                    <a:pt x="2950" y="2375"/>
                  </a:cubicBezTo>
                  <a:cubicBezTo>
                    <a:pt x="2950" y="2444"/>
                    <a:pt x="2950" y="2444"/>
                    <a:pt x="2875" y="2444"/>
                  </a:cubicBezTo>
                  <a:cubicBezTo>
                    <a:pt x="1081" y="4100"/>
                    <a:pt x="0" y="6544"/>
                    <a:pt x="0" y="9131"/>
                  </a:cubicBezTo>
                  <a:cubicBezTo>
                    <a:pt x="0" y="9344"/>
                    <a:pt x="144" y="9487"/>
                    <a:pt x="288" y="9487"/>
                  </a:cubicBezTo>
                  <a:cubicBezTo>
                    <a:pt x="506" y="9487"/>
                    <a:pt x="650" y="9344"/>
                    <a:pt x="650" y="9131"/>
                  </a:cubicBezTo>
                  <a:cubicBezTo>
                    <a:pt x="650" y="6831"/>
                    <a:pt x="1581" y="4675"/>
                    <a:pt x="3093" y="3163"/>
                  </a:cubicBezTo>
                  <a:lnTo>
                    <a:pt x="4025" y="4388"/>
                  </a:lnTo>
                  <a:cubicBezTo>
                    <a:pt x="4100" y="4457"/>
                    <a:pt x="4169" y="4531"/>
                    <a:pt x="4312" y="4531"/>
                  </a:cubicBezTo>
                  <a:lnTo>
                    <a:pt x="5750" y="4531"/>
                  </a:lnTo>
                  <a:lnTo>
                    <a:pt x="5750" y="4963"/>
                  </a:lnTo>
                  <a:lnTo>
                    <a:pt x="5750" y="5175"/>
                  </a:lnTo>
                  <a:lnTo>
                    <a:pt x="8843" y="9344"/>
                  </a:lnTo>
                  <a:lnTo>
                    <a:pt x="8843" y="9418"/>
                  </a:lnTo>
                  <a:lnTo>
                    <a:pt x="8912" y="9418"/>
                  </a:lnTo>
                  <a:cubicBezTo>
                    <a:pt x="8986" y="9418"/>
                    <a:pt x="8986" y="9418"/>
                    <a:pt x="8986" y="9487"/>
                  </a:cubicBezTo>
                  <a:lnTo>
                    <a:pt x="9199" y="9487"/>
                  </a:lnTo>
                  <a:lnTo>
                    <a:pt x="9199" y="9418"/>
                  </a:lnTo>
                  <a:lnTo>
                    <a:pt x="9274" y="9418"/>
                  </a:lnTo>
                  <a:cubicBezTo>
                    <a:pt x="9343" y="9418"/>
                    <a:pt x="9343" y="9418"/>
                    <a:pt x="9343" y="9344"/>
                  </a:cubicBezTo>
                  <a:lnTo>
                    <a:pt x="12361" y="5175"/>
                  </a:lnTo>
                  <a:cubicBezTo>
                    <a:pt x="12436" y="5106"/>
                    <a:pt x="12436" y="5032"/>
                    <a:pt x="12436" y="4963"/>
                  </a:cubicBezTo>
                  <a:lnTo>
                    <a:pt x="12436" y="4531"/>
                  </a:lnTo>
                  <a:lnTo>
                    <a:pt x="12936" y="4531"/>
                  </a:lnTo>
                  <a:cubicBezTo>
                    <a:pt x="13080" y="4531"/>
                    <a:pt x="13224" y="4388"/>
                    <a:pt x="13224" y="4244"/>
                  </a:cubicBezTo>
                  <a:cubicBezTo>
                    <a:pt x="13224" y="4025"/>
                    <a:pt x="13080" y="3882"/>
                    <a:pt x="12936" y="3882"/>
                  </a:cubicBezTo>
                  <a:lnTo>
                    <a:pt x="12149" y="3882"/>
                  </a:lnTo>
                  <a:cubicBezTo>
                    <a:pt x="11930" y="3882"/>
                    <a:pt x="11786" y="4025"/>
                    <a:pt x="11786" y="4244"/>
                  </a:cubicBezTo>
                  <a:lnTo>
                    <a:pt x="11786" y="4888"/>
                  </a:lnTo>
                  <a:lnTo>
                    <a:pt x="9418" y="8125"/>
                  </a:lnTo>
                  <a:lnTo>
                    <a:pt x="9418" y="5681"/>
                  </a:lnTo>
                  <a:lnTo>
                    <a:pt x="12505" y="1438"/>
                  </a:lnTo>
                  <a:cubicBezTo>
                    <a:pt x="13155" y="1726"/>
                    <a:pt x="13799" y="2088"/>
                    <a:pt x="14374" y="2519"/>
                  </a:cubicBezTo>
                  <a:cubicBezTo>
                    <a:pt x="14428" y="2573"/>
                    <a:pt x="14493" y="2596"/>
                    <a:pt x="14556" y="2596"/>
                  </a:cubicBezTo>
                  <a:cubicBezTo>
                    <a:pt x="14661" y="2596"/>
                    <a:pt x="14762" y="2534"/>
                    <a:pt x="14805" y="2444"/>
                  </a:cubicBezTo>
                  <a:cubicBezTo>
                    <a:pt x="14949" y="2301"/>
                    <a:pt x="14880" y="2157"/>
                    <a:pt x="14736" y="2013"/>
                  </a:cubicBezTo>
                  <a:cubicBezTo>
                    <a:pt x="13155" y="719"/>
                    <a:pt x="11143" y="1"/>
                    <a:pt x="9055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525;p63">
              <a:extLst>
                <a:ext uri="{FF2B5EF4-FFF2-40B4-BE49-F238E27FC236}">
                  <a16:creationId xmlns:a16="http://schemas.microsoft.com/office/drawing/2014/main" id="{2E8765A4-C546-B5D3-A915-2F7F15064394}"/>
                </a:ext>
              </a:extLst>
            </p:cNvPr>
            <p:cNvSpPr/>
            <p:nvPr/>
          </p:nvSpPr>
          <p:spPr>
            <a:xfrm>
              <a:off x="2451025" y="2162349"/>
              <a:ext cx="108113" cy="47864"/>
            </a:xfrm>
            <a:custGeom>
              <a:avLst/>
              <a:gdLst/>
              <a:ahLst/>
              <a:cxnLst/>
              <a:rect l="l" t="t" r="r" b="b"/>
              <a:pathLst>
                <a:path w="6975" h="3088" extrusionOk="0">
                  <a:moveTo>
                    <a:pt x="5969" y="719"/>
                  </a:moveTo>
                  <a:cubicBezTo>
                    <a:pt x="6181" y="719"/>
                    <a:pt x="6325" y="863"/>
                    <a:pt x="6325" y="1075"/>
                  </a:cubicBezTo>
                  <a:lnTo>
                    <a:pt x="6325" y="2081"/>
                  </a:lnTo>
                  <a:cubicBezTo>
                    <a:pt x="6325" y="2300"/>
                    <a:pt x="6181" y="2444"/>
                    <a:pt x="5969" y="2444"/>
                  </a:cubicBezTo>
                  <a:lnTo>
                    <a:pt x="4388" y="2444"/>
                  </a:lnTo>
                  <a:cubicBezTo>
                    <a:pt x="4244" y="2081"/>
                    <a:pt x="3882" y="1794"/>
                    <a:pt x="3450" y="1794"/>
                  </a:cubicBezTo>
                  <a:cubicBezTo>
                    <a:pt x="3094" y="1794"/>
                    <a:pt x="2663" y="2081"/>
                    <a:pt x="2588" y="2444"/>
                  </a:cubicBezTo>
                  <a:lnTo>
                    <a:pt x="1007" y="2444"/>
                  </a:lnTo>
                  <a:cubicBezTo>
                    <a:pt x="794" y="2444"/>
                    <a:pt x="651" y="2300"/>
                    <a:pt x="651" y="2081"/>
                  </a:cubicBezTo>
                  <a:lnTo>
                    <a:pt x="651" y="1075"/>
                  </a:lnTo>
                  <a:cubicBezTo>
                    <a:pt x="651" y="863"/>
                    <a:pt x="794" y="719"/>
                    <a:pt x="1007" y="719"/>
                  </a:cubicBezTo>
                  <a:close/>
                  <a:moveTo>
                    <a:pt x="1007" y="0"/>
                  </a:moveTo>
                  <a:cubicBezTo>
                    <a:pt x="432" y="0"/>
                    <a:pt x="1" y="500"/>
                    <a:pt x="1" y="1075"/>
                  </a:cubicBezTo>
                  <a:lnTo>
                    <a:pt x="1" y="2081"/>
                  </a:lnTo>
                  <a:cubicBezTo>
                    <a:pt x="1" y="2656"/>
                    <a:pt x="432" y="3088"/>
                    <a:pt x="1007" y="3088"/>
                  </a:cubicBezTo>
                  <a:lnTo>
                    <a:pt x="2807" y="3088"/>
                  </a:lnTo>
                  <a:cubicBezTo>
                    <a:pt x="3019" y="3088"/>
                    <a:pt x="3163" y="2944"/>
                    <a:pt x="3163" y="2800"/>
                  </a:cubicBezTo>
                  <a:cubicBezTo>
                    <a:pt x="3163" y="2587"/>
                    <a:pt x="3307" y="2444"/>
                    <a:pt x="3450" y="2444"/>
                  </a:cubicBezTo>
                  <a:cubicBezTo>
                    <a:pt x="3669" y="2444"/>
                    <a:pt x="3813" y="2587"/>
                    <a:pt x="3813" y="2800"/>
                  </a:cubicBezTo>
                  <a:cubicBezTo>
                    <a:pt x="3813" y="2944"/>
                    <a:pt x="3956" y="3088"/>
                    <a:pt x="4169" y="3088"/>
                  </a:cubicBezTo>
                  <a:lnTo>
                    <a:pt x="5969" y="3088"/>
                  </a:lnTo>
                  <a:cubicBezTo>
                    <a:pt x="6544" y="3088"/>
                    <a:pt x="6975" y="2656"/>
                    <a:pt x="6975" y="2081"/>
                  </a:cubicBezTo>
                  <a:lnTo>
                    <a:pt x="6975" y="1075"/>
                  </a:lnTo>
                  <a:cubicBezTo>
                    <a:pt x="6975" y="500"/>
                    <a:pt x="6544" y="0"/>
                    <a:pt x="5969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526;p63">
              <a:extLst>
                <a:ext uri="{FF2B5EF4-FFF2-40B4-BE49-F238E27FC236}">
                  <a16:creationId xmlns:a16="http://schemas.microsoft.com/office/drawing/2014/main" id="{094709DA-AA34-335A-3E03-447B5F88161A}"/>
                </a:ext>
              </a:extLst>
            </p:cNvPr>
            <p:cNvSpPr/>
            <p:nvPr/>
          </p:nvSpPr>
          <p:spPr>
            <a:xfrm>
              <a:off x="2573568" y="2267052"/>
              <a:ext cx="108113" cy="163726"/>
            </a:xfrm>
            <a:custGeom>
              <a:avLst/>
              <a:gdLst/>
              <a:ahLst/>
              <a:cxnLst/>
              <a:rect l="l" t="t" r="r" b="b"/>
              <a:pathLst>
                <a:path w="6975" h="10563" extrusionOk="0">
                  <a:moveTo>
                    <a:pt x="4025" y="645"/>
                  </a:moveTo>
                  <a:lnTo>
                    <a:pt x="4025" y="4025"/>
                  </a:lnTo>
                  <a:cubicBezTo>
                    <a:pt x="4025" y="4169"/>
                    <a:pt x="4100" y="4313"/>
                    <a:pt x="4243" y="4382"/>
                  </a:cubicBezTo>
                  <a:cubicBezTo>
                    <a:pt x="5318" y="4669"/>
                    <a:pt x="6181" y="5606"/>
                    <a:pt x="6325" y="6756"/>
                  </a:cubicBezTo>
                  <a:lnTo>
                    <a:pt x="5318" y="6756"/>
                  </a:lnTo>
                  <a:cubicBezTo>
                    <a:pt x="5175" y="6756"/>
                    <a:pt x="5031" y="6900"/>
                    <a:pt x="5031" y="7044"/>
                  </a:cubicBezTo>
                  <a:cubicBezTo>
                    <a:pt x="5031" y="7256"/>
                    <a:pt x="5175" y="7400"/>
                    <a:pt x="5318" y="7400"/>
                  </a:cubicBezTo>
                  <a:lnTo>
                    <a:pt x="6325" y="7400"/>
                  </a:lnTo>
                  <a:cubicBezTo>
                    <a:pt x="6112" y="8837"/>
                    <a:pt x="4962" y="9918"/>
                    <a:pt x="3525" y="9918"/>
                  </a:cubicBezTo>
                  <a:cubicBezTo>
                    <a:pt x="2013" y="9918"/>
                    <a:pt x="863" y="8837"/>
                    <a:pt x="719" y="7400"/>
                  </a:cubicBezTo>
                  <a:lnTo>
                    <a:pt x="4025" y="7400"/>
                  </a:lnTo>
                  <a:cubicBezTo>
                    <a:pt x="4169" y="7400"/>
                    <a:pt x="4312" y="7256"/>
                    <a:pt x="4312" y="7044"/>
                  </a:cubicBezTo>
                  <a:cubicBezTo>
                    <a:pt x="4312" y="6900"/>
                    <a:pt x="4169" y="6756"/>
                    <a:pt x="4025" y="6756"/>
                  </a:cubicBezTo>
                  <a:lnTo>
                    <a:pt x="719" y="6756"/>
                  </a:lnTo>
                  <a:cubicBezTo>
                    <a:pt x="794" y="5606"/>
                    <a:pt x="1656" y="4669"/>
                    <a:pt x="2731" y="4382"/>
                  </a:cubicBezTo>
                  <a:cubicBezTo>
                    <a:pt x="2875" y="4313"/>
                    <a:pt x="3019" y="4169"/>
                    <a:pt x="3019" y="4025"/>
                  </a:cubicBezTo>
                  <a:lnTo>
                    <a:pt x="3019" y="645"/>
                  </a:lnTo>
                  <a:close/>
                  <a:moveTo>
                    <a:pt x="2662" y="1"/>
                  </a:moveTo>
                  <a:cubicBezTo>
                    <a:pt x="2444" y="1"/>
                    <a:pt x="2300" y="144"/>
                    <a:pt x="2300" y="357"/>
                  </a:cubicBezTo>
                  <a:lnTo>
                    <a:pt x="2300" y="3807"/>
                  </a:lnTo>
                  <a:cubicBezTo>
                    <a:pt x="937" y="4313"/>
                    <a:pt x="0" y="5606"/>
                    <a:pt x="0" y="7044"/>
                  </a:cubicBezTo>
                  <a:cubicBezTo>
                    <a:pt x="0" y="8981"/>
                    <a:pt x="1581" y="10562"/>
                    <a:pt x="3525" y="10562"/>
                  </a:cubicBezTo>
                  <a:cubicBezTo>
                    <a:pt x="5393" y="10562"/>
                    <a:pt x="6974" y="8981"/>
                    <a:pt x="6974" y="7044"/>
                  </a:cubicBezTo>
                  <a:cubicBezTo>
                    <a:pt x="6974" y="5606"/>
                    <a:pt x="6037" y="4313"/>
                    <a:pt x="4674" y="3807"/>
                  </a:cubicBezTo>
                  <a:lnTo>
                    <a:pt x="4674" y="357"/>
                  </a:lnTo>
                  <a:cubicBezTo>
                    <a:pt x="4674" y="144"/>
                    <a:pt x="4531" y="1"/>
                    <a:pt x="4312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1" name="TextBox 2250">
            <a:extLst>
              <a:ext uri="{FF2B5EF4-FFF2-40B4-BE49-F238E27FC236}">
                <a16:creationId xmlns:a16="http://schemas.microsoft.com/office/drawing/2014/main" id="{8607E04D-4A84-546A-73FE-A74F4B08E458}"/>
              </a:ext>
            </a:extLst>
          </p:cNvPr>
          <p:cNvSpPr txBox="1"/>
          <p:nvPr/>
        </p:nvSpPr>
        <p:spPr>
          <a:xfrm>
            <a:off x="5526900" y="1349630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FBA = υπολογιστική πρόβλεψη, όχι πειραματική μέτρηση</a:t>
            </a:r>
          </a:p>
        </p:txBody>
      </p:sp>
      <p:sp>
        <p:nvSpPr>
          <p:cNvPr id="2253" name="TextBox 2252">
            <a:extLst>
              <a:ext uri="{FF2B5EF4-FFF2-40B4-BE49-F238E27FC236}">
                <a16:creationId xmlns:a16="http://schemas.microsoft.com/office/drawing/2014/main" id="{2D5F37D5-402D-63BF-B7CE-5630EF458E96}"/>
              </a:ext>
            </a:extLst>
          </p:cNvPr>
          <p:cNvSpPr txBox="1"/>
          <p:nvPr/>
        </p:nvSpPr>
        <p:spPr>
          <a:xfrm>
            <a:off x="5526899" y="2094519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Εξάρτηση από μοντέλο, περιορισμούς και αντικειμενική συνάρτηση</a:t>
            </a:r>
          </a:p>
        </p:txBody>
      </p:sp>
      <p:sp>
        <p:nvSpPr>
          <p:cNvPr id="2255" name="TextBox 2254">
            <a:extLst>
              <a:ext uri="{FF2B5EF4-FFF2-40B4-BE49-F238E27FC236}">
                <a16:creationId xmlns:a16="http://schemas.microsoft.com/office/drawing/2014/main" id="{0732373A-00E6-9D27-BCAF-160AFA3BD455}"/>
              </a:ext>
            </a:extLst>
          </p:cNvPr>
          <p:cNvSpPr txBox="1"/>
          <p:nvPr/>
        </p:nvSpPr>
        <p:spPr>
          <a:xfrm>
            <a:off x="1414773" y="2077095"/>
            <a:ext cx="2822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iML1515 και iJO1366:  </a:t>
            </a:r>
          </a:p>
          <a:p>
            <a:r>
              <a:rPr lang="el-GR" sz="1200" dirty="0">
                <a:solidFill>
                  <a:schemeClr val="tx1"/>
                </a:solidFill>
              </a:rPr>
              <a:t>παρόμοιες τάσεις, διαφορετικές ποσοτικές τιμές</a:t>
            </a:r>
          </a:p>
        </p:txBody>
      </p:sp>
      <p:sp>
        <p:nvSpPr>
          <p:cNvPr id="2257" name="TextBox 2256">
            <a:extLst>
              <a:ext uri="{FF2B5EF4-FFF2-40B4-BE49-F238E27FC236}">
                <a16:creationId xmlns:a16="http://schemas.microsoft.com/office/drawing/2014/main" id="{34927D48-2FB2-1CDF-31AF-E9863226EAC2}"/>
              </a:ext>
            </a:extLst>
          </p:cNvPr>
          <p:cNvSpPr txBox="1"/>
          <p:nvPr/>
        </p:nvSpPr>
        <p:spPr>
          <a:xfrm>
            <a:off x="5526898" y="3692572"/>
            <a:ext cx="2822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1"/>
                </a:solidFill>
              </a:rPr>
              <a:t>Δεν εκπαιδεύτηκε μοντέλο Μηχανικής Μάθησης</a:t>
            </a:r>
          </a:p>
        </p:txBody>
      </p:sp>
      <p:sp>
        <p:nvSpPr>
          <p:cNvPr id="2263" name="TextBox 2262">
            <a:extLst>
              <a:ext uri="{FF2B5EF4-FFF2-40B4-BE49-F238E27FC236}">
                <a16:creationId xmlns:a16="http://schemas.microsoft.com/office/drawing/2014/main" id="{02D34E11-3998-4D67-3F87-B7F6B13F9E27}"/>
              </a:ext>
            </a:extLst>
          </p:cNvPr>
          <p:cNvSpPr txBox="1"/>
          <p:nvPr/>
        </p:nvSpPr>
        <p:spPr>
          <a:xfrm>
            <a:off x="633453" y="4557244"/>
            <a:ext cx="7635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>
                <a:solidFill>
                  <a:schemeClr val="tx1"/>
                </a:solidFill>
              </a:rPr>
              <a:t>Τελικό μήνυμα: </a:t>
            </a:r>
          </a:p>
          <a:p>
            <a:r>
              <a:rPr lang="el-GR" dirty="0">
                <a:solidFill>
                  <a:schemeClr val="tx1"/>
                </a:solidFill>
              </a:rPr>
              <a:t>Αναπαραγώγιμη υπολογιστική βάση για μελλοντική fluxomics και Machine Learning ανάλυση.</a:t>
            </a:r>
          </a:p>
        </p:txBody>
      </p:sp>
      <p:sp>
        <p:nvSpPr>
          <p:cNvPr id="2267" name="Google Shape;10251;p76">
            <a:extLst>
              <a:ext uri="{FF2B5EF4-FFF2-40B4-BE49-F238E27FC236}">
                <a16:creationId xmlns:a16="http://schemas.microsoft.com/office/drawing/2014/main" id="{8A923444-E1F7-3D36-88FB-078AE6D348D7}"/>
              </a:ext>
            </a:extLst>
          </p:cNvPr>
          <p:cNvSpPr/>
          <p:nvPr/>
        </p:nvSpPr>
        <p:spPr>
          <a:xfrm>
            <a:off x="180475" y="4557065"/>
            <a:ext cx="536075" cy="440458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6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45"/>
          <p:cNvSpPr txBox="1">
            <a:spLocks noGrp="1"/>
          </p:cNvSpPr>
          <p:nvPr>
            <p:ph type="title"/>
          </p:nvPr>
        </p:nvSpPr>
        <p:spPr>
          <a:xfrm>
            <a:off x="1267607" y="1576569"/>
            <a:ext cx="4656000" cy="17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Ερωτήσεις;;</a:t>
            </a:r>
            <a:endParaRPr dirty="0"/>
          </a:p>
        </p:txBody>
      </p:sp>
      <p:grpSp>
        <p:nvGrpSpPr>
          <p:cNvPr id="2" name="Google Shape;10240;p76">
            <a:extLst>
              <a:ext uri="{FF2B5EF4-FFF2-40B4-BE49-F238E27FC236}">
                <a16:creationId xmlns:a16="http://schemas.microsoft.com/office/drawing/2014/main" id="{DA5327ED-0F20-813A-2A18-23275F20F63A}"/>
              </a:ext>
            </a:extLst>
          </p:cNvPr>
          <p:cNvGrpSpPr/>
          <p:nvPr/>
        </p:nvGrpSpPr>
        <p:grpSpPr>
          <a:xfrm>
            <a:off x="3316658" y="2886971"/>
            <a:ext cx="557897" cy="477598"/>
            <a:chOff x="3049653" y="2321468"/>
            <a:chExt cx="362991" cy="290018"/>
          </a:xfrm>
          <a:solidFill>
            <a:schemeClr val="tx1"/>
          </a:solidFill>
        </p:grpSpPr>
        <p:sp>
          <p:nvSpPr>
            <p:cNvPr id="3" name="Google Shape;10241;p76">
              <a:extLst>
                <a:ext uri="{FF2B5EF4-FFF2-40B4-BE49-F238E27FC236}">
                  <a16:creationId xmlns:a16="http://schemas.microsoft.com/office/drawing/2014/main" id="{887A3A51-2B5A-4585-CCFD-917AFABE7715}"/>
                </a:ext>
              </a:extLst>
            </p:cNvPr>
            <p:cNvSpPr/>
            <p:nvPr/>
          </p:nvSpPr>
          <p:spPr>
            <a:xfrm>
              <a:off x="3280290" y="2429690"/>
              <a:ext cx="29913" cy="73957"/>
            </a:xfrm>
            <a:custGeom>
              <a:avLst/>
              <a:gdLst/>
              <a:ahLst/>
              <a:cxnLst/>
              <a:rect l="l" t="t" r="r" b="b"/>
              <a:pathLst>
                <a:path w="942" h="2329" extrusionOk="0">
                  <a:moveTo>
                    <a:pt x="200" y="1"/>
                  </a:moveTo>
                  <a:cubicBezTo>
                    <a:pt x="158" y="1"/>
                    <a:pt x="114" y="16"/>
                    <a:pt x="72" y="45"/>
                  </a:cubicBezTo>
                  <a:cubicBezTo>
                    <a:pt x="13" y="93"/>
                    <a:pt x="13" y="200"/>
                    <a:pt x="72" y="283"/>
                  </a:cubicBezTo>
                  <a:cubicBezTo>
                    <a:pt x="572" y="772"/>
                    <a:pt x="572" y="1569"/>
                    <a:pt x="72" y="2046"/>
                  </a:cubicBezTo>
                  <a:cubicBezTo>
                    <a:pt x="1" y="2129"/>
                    <a:pt x="1" y="2224"/>
                    <a:pt x="72" y="2284"/>
                  </a:cubicBezTo>
                  <a:cubicBezTo>
                    <a:pt x="102" y="2313"/>
                    <a:pt x="144" y="2328"/>
                    <a:pt x="187" y="2328"/>
                  </a:cubicBezTo>
                  <a:cubicBezTo>
                    <a:pt x="230" y="2328"/>
                    <a:pt x="275" y="2313"/>
                    <a:pt x="310" y="2284"/>
                  </a:cubicBezTo>
                  <a:cubicBezTo>
                    <a:pt x="941" y="1665"/>
                    <a:pt x="941" y="664"/>
                    <a:pt x="310" y="45"/>
                  </a:cubicBezTo>
                  <a:cubicBezTo>
                    <a:pt x="280" y="16"/>
                    <a:pt x="242" y="1"/>
                    <a:pt x="200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242;p76">
              <a:extLst>
                <a:ext uri="{FF2B5EF4-FFF2-40B4-BE49-F238E27FC236}">
                  <a16:creationId xmlns:a16="http://schemas.microsoft.com/office/drawing/2014/main" id="{C7A033AC-9C84-F1CF-97B5-1C965BBE7B80}"/>
                </a:ext>
              </a:extLst>
            </p:cNvPr>
            <p:cNvSpPr/>
            <p:nvPr/>
          </p:nvSpPr>
          <p:spPr>
            <a:xfrm>
              <a:off x="3317729" y="2392250"/>
              <a:ext cx="49570" cy="148836"/>
            </a:xfrm>
            <a:custGeom>
              <a:avLst/>
              <a:gdLst/>
              <a:ahLst/>
              <a:cxnLst/>
              <a:rect l="l" t="t" r="r" b="b"/>
              <a:pathLst>
                <a:path w="1561" h="4687" extrusionOk="0">
                  <a:moveTo>
                    <a:pt x="183" y="1"/>
                  </a:moveTo>
                  <a:cubicBezTo>
                    <a:pt x="140" y="1"/>
                    <a:pt x="96" y="16"/>
                    <a:pt x="60" y="46"/>
                  </a:cubicBezTo>
                  <a:cubicBezTo>
                    <a:pt x="0" y="105"/>
                    <a:pt x="0" y="212"/>
                    <a:pt x="60" y="284"/>
                  </a:cubicBezTo>
                  <a:cubicBezTo>
                    <a:pt x="1191" y="1415"/>
                    <a:pt x="1191" y="3272"/>
                    <a:pt x="60" y="4403"/>
                  </a:cubicBezTo>
                  <a:cubicBezTo>
                    <a:pt x="0" y="4475"/>
                    <a:pt x="0" y="4582"/>
                    <a:pt x="60" y="4641"/>
                  </a:cubicBezTo>
                  <a:cubicBezTo>
                    <a:pt x="90" y="4671"/>
                    <a:pt x="131" y="4686"/>
                    <a:pt x="175" y="4686"/>
                  </a:cubicBezTo>
                  <a:cubicBezTo>
                    <a:pt x="218" y="4686"/>
                    <a:pt x="262" y="4671"/>
                    <a:pt x="298" y="4641"/>
                  </a:cubicBezTo>
                  <a:cubicBezTo>
                    <a:pt x="1560" y="3379"/>
                    <a:pt x="1560" y="1308"/>
                    <a:pt x="298" y="46"/>
                  </a:cubicBezTo>
                  <a:cubicBezTo>
                    <a:pt x="268" y="16"/>
                    <a:pt x="227" y="1"/>
                    <a:pt x="183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243;p76">
              <a:extLst>
                <a:ext uri="{FF2B5EF4-FFF2-40B4-BE49-F238E27FC236}">
                  <a16:creationId xmlns:a16="http://schemas.microsoft.com/office/drawing/2014/main" id="{8548E3C3-A84C-DC67-A291-E6E405F0A418}"/>
                </a:ext>
              </a:extLst>
            </p:cNvPr>
            <p:cNvSpPr/>
            <p:nvPr/>
          </p:nvSpPr>
          <p:spPr>
            <a:xfrm>
              <a:off x="3354406" y="2355954"/>
              <a:ext cx="58239" cy="222317"/>
            </a:xfrm>
            <a:custGeom>
              <a:avLst/>
              <a:gdLst/>
              <a:ahLst/>
              <a:cxnLst/>
              <a:rect l="l" t="t" r="r" b="b"/>
              <a:pathLst>
                <a:path w="1834" h="7001" extrusionOk="0">
                  <a:moveTo>
                    <a:pt x="174" y="1"/>
                  </a:moveTo>
                  <a:cubicBezTo>
                    <a:pt x="131" y="1"/>
                    <a:pt x="90" y="16"/>
                    <a:pt x="60" y="46"/>
                  </a:cubicBezTo>
                  <a:cubicBezTo>
                    <a:pt x="0" y="105"/>
                    <a:pt x="0" y="200"/>
                    <a:pt x="60" y="284"/>
                  </a:cubicBezTo>
                  <a:cubicBezTo>
                    <a:pt x="1834" y="2046"/>
                    <a:pt x="1834" y="4939"/>
                    <a:pt x="60" y="6713"/>
                  </a:cubicBezTo>
                  <a:cubicBezTo>
                    <a:pt x="0" y="6773"/>
                    <a:pt x="0" y="6868"/>
                    <a:pt x="60" y="6951"/>
                  </a:cubicBezTo>
                  <a:cubicBezTo>
                    <a:pt x="88" y="6985"/>
                    <a:pt x="128" y="7000"/>
                    <a:pt x="169" y="7000"/>
                  </a:cubicBezTo>
                  <a:cubicBezTo>
                    <a:pt x="214" y="7000"/>
                    <a:pt x="261" y="6982"/>
                    <a:pt x="298" y="6951"/>
                  </a:cubicBezTo>
                  <a:cubicBezTo>
                    <a:pt x="1227" y="6023"/>
                    <a:pt x="1727" y="4808"/>
                    <a:pt x="1727" y="3498"/>
                  </a:cubicBezTo>
                  <a:cubicBezTo>
                    <a:pt x="1727" y="2189"/>
                    <a:pt x="1227" y="962"/>
                    <a:pt x="298" y="46"/>
                  </a:cubicBezTo>
                  <a:cubicBezTo>
                    <a:pt x="262" y="16"/>
                    <a:pt x="218" y="1"/>
                    <a:pt x="174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244;p76">
              <a:extLst>
                <a:ext uri="{FF2B5EF4-FFF2-40B4-BE49-F238E27FC236}">
                  <a16:creationId xmlns:a16="http://schemas.microsoft.com/office/drawing/2014/main" id="{484AD4F8-03FA-F434-2236-4C60925B607D}"/>
                </a:ext>
              </a:extLst>
            </p:cNvPr>
            <p:cNvSpPr/>
            <p:nvPr/>
          </p:nvSpPr>
          <p:spPr>
            <a:xfrm>
              <a:off x="3049653" y="2321468"/>
              <a:ext cx="210250" cy="290018"/>
            </a:xfrm>
            <a:custGeom>
              <a:avLst/>
              <a:gdLst/>
              <a:ahLst/>
              <a:cxnLst/>
              <a:rect l="l" t="t" r="r" b="b"/>
              <a:pathLst>
                <a:path w="6621" h="9133" extrusionOk="0">
                  <a:moveTo>
                    <a:pt x="5216" y="1072"/>
                  </a:moveTo>
                  <a:lnTo>
                    <a:pt x="5216" y="8097"/>
                  </a:lnTo>
                  <a:cubicBezTo>
                    <a:pt x="4156" y="7751"/>
                    <a:pt x="3287" y="7037"/>
                    <a:pt x="2739" y="6061"/>
                  </a:cubicBezTo>
                  <a:lnTo>
                    <a:pt x="2739" y="3084"/>
                  </a:lnTo>
                  <a:cubicBezTo>
                    <a:pt x="3275" y="2120"/>
                    <a:pt x="4156" y="1405"/>
                    <a:pt x="5216" y="1072"/>
                  </a:cubicBezTo>
                  <a:close/>
                  <a:moveTo>
                    <a:pt x="5716" y="0"/>
                  </a:moveTo>
                  <a:cubicBezTo>
                    <a:pt x="5430" y="0"/>
                    <a:pt x="5216" y="215"/>
                    <a:pt x="5216" y="501"/>
                  </a:cubicBezTo>
                  <a:lnTo>
                    <a:pt x="5216" y="691"/>
                  </a:lnTo>
                  <a:cubicBezTo>
                    <a:pt x="4049" y="1048"/>
                    <a:pt x="3096" y="1810"/>
                    <a:pt x="2489" y="2858"/>
                  </a:cubicBezTo>
                  <a:lnTo>
                    <a:pt x="1227" y="2858"/>
                  </a:lnTo>
                  <a:cubicBezTo>
                    <a:pt x="549" y="2858"/>
                    <a:pt x="13" y="3394"/>
                    <a:pt x="13" y="4061"/>
                  </a:cubicBezTo>
                  <a:lnTo>
                    <a:pt x="13" y="5037"/>
                  </a:lnTo>
                  <a:cubicBezTo>
                    <a:pt x="1" y="5692"/>
                    <a:pt x="489" y="6227"/>
                    <a:pt x="1120" y="6275"/>
                  </a:cubicBezTo>
                  <a:cubicBezTo>
                    <a:pt x="1203" y="6275"/>
                    <a:pt x="1287" y="6216"/>
                    <a:pt x="1299" y="6132"/>
                  </a:cubicBezTo>
                  <a:cubicBezTo>
                    <a:pt x="1299" y="6037"/>
                    <a:pt x="1239" y="5966"/>
                    <a:pt x="1144" y="5954"/>
                  </a:cubicBezTo>
                  <a:cubicBezTo>
                    <a:pt x="703" y="5918"/>
                    <a:pt x="346" y="5537"/>
                    <a:pt x="346" y="5073"/>
                  </a:cubicBezTo>
                  <a:lnTo>
                    <a:pt x="346" y="4084"/>
                  </a:lnTo>
                  <a:cubicBezTo>
                    <a:pt x="346" y="3608"/>
                    <a:pt x="727" y="3215"/>
                    <a:pt x="1227" y="3215"/>
                  </a:cubicBezTo>
                  <a:lnTo>
                    <a:pt x="2418" y="3215"/>
                  </a:lnTo>
                  <a:lnTo>
                    <a:pt x="2418" y="5954"/>
                  </a:lnTo>
                  <a:lnTo>
                    <a:pt x="1918" y="5954"/>
                  </a:lnTo>
                  <a:cubicBezTo>
                    <a:pt x="1834" y="5954"/>
                    <a:pt x="1763" y="6025"/>
                    <a:pt x="1763" y="6108"/>
                  </a:cubicBezTo>
                  <a:cubicBezTo>
                    <a:pt x="1763" y="6204"/>
                    <a:pt x="1834" y="6275"/>
                    <a:pt x="1918" y="6275"/>
                  </a:cubicBezTo>
                  <a:lnTo>
                    <a:pt x="2489" y="6275"/>
                  </a:lnTo>
                  <a:cubicBezTo>
                    <a:pt x="3096" y="7323"/>
                    <a:pt x="4049" y="8097"/>
                    <a:pt x="5216" y="8430"/>
                  </a:cubicBezTo>
                  <a:lnTo>
                    <a:pt x="5216" y="8633"/>
                  </a:lnTo>
                  <a:cubicBezTo>
                    <a:pt x="5216" y="8906"/>
                    <a:pt x="5430" y="9133"/>
                    <a:pt x="5716" y="9133"/>
                  </a:cubicBezTo>
                  <a:lnTo>
                    <a:pt x="6121" y="9133"/>
                  </a:lnTo>
                  <a:cubicBezTo>
                    <a:pt x="6406" y="9133"/>
                    <a:pt x="6621" y="8906"/>
                    <a:pt x="6621" y="8633"/>
                  </a:cubicBezTo>
                  <a:lnTo>
                    <a:pt x="6621" y="4953"/>
                  </a:lnTo>
                  <a:cubicBezTo>
                    <a:pt x="6621" y="4858"/>
                    <a:pt x="6549" y="4787"/>
                    <a:pt x="6466" y="4787"/>
                  </a:cubicBezTo>
                  <a:cubicBezTo>
                    <a:pt x="6371" y="4787"/>
                    <a:pt x="6299" y="4858"/>
                    <a:pt x="6299" y="4953"/>
                  </a:cubicBezTo>
                  <a:lnTo>
                    <a:pt x="6299" y="8633"/>
                  </a:lnTo>
                  <a:cubicBezTo>
                    <a:pt x="6299" y="8728"/>
                    <a:pt x="6228" y="8811"/>
                    <a:pt x="6121" y="8811"/>
                  </a:cubicBezTo>
                  <a:lnTo>
                    <a:pt x="5716" y="8811"/>
                  </a:lnTo>
                  <a:cubicBezTo>
                    <a:pt x="5609" y="8811"/>
                    <a:pt x="5537" y="8728"/>
                    <a:pt x="5537" y="8633"/>
                  </a:cubicBezTo>
                  <a:lnTo>
                    <a:pt x="5537" y="501"/>
                  </a:lnTo>
                  <a:cubicBezTo>
                    <a:pt x="5537" y="393"/>
                    <a:pt x="5609" y="322"/>
                    <a:pt x="5716" y="322"/>
                  </a:cubicBezTo>
                  <a:lnTo>
                    <a:pt x="6121" y="322"/>
                  </a:lnTo>
                  <a:cubicBezTo>
                    <a:pt x="6228" y="322"/>
                    <a:pt x="6299" y="393"/>
                    <a:pt x="6299" y="501"/>
                  </a:cubicBezTo>
                  <a:lnTo>
                    <a:pt x="6299" y="4180"/>
                  </a:lnTo>
                  <a:cubicBezTo>
                    <a:pt x="6299" y="4263"/>
                    <a:pt x="6371" y="4346"/>
                    <a:pt x="6466" y="4346"/>
                  </a:cubicBezTo>
                  <a:cubicBezTo>
                    <a:pt x="6549" y="4346"/>
                    <a:pt x="6621" y="4263"/>
                    <a:pt x="6621" y="4180"/>
                  </a:cubicBezTo>
                  <a:lnTo>
                    <a:pt x="6621" y="501"/>
                  </a:lnTo>
                  <a:cubicBezTo>
                    <a:pt x="6621" y="215"/>
                    <a:pt x="6406" y="0"/>
                    <a:pt x="612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336172A-ABD8-AEB6-F56A-CF8921C91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497" y="264928"/>
            <a:ext cx="3048295" cy="45724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62"/>
          <p:cNvSpPr txBox="1">
            <a:spLocks noGrp="1"/>
          </p:cNvSpPr>
          <p:nvPr>
            <p:ph type="title"/>
          </p:nvPr>
        </p:nvSpPr>
        <p:spPr>
          <a:xfrm>
            <a:off x="1300897" y="1172127"/>
            <a:ext cx="6416342" cy="8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l-GR" sz="4400" dirty="0"/>
              <a:t>Σας ευχαριστώ για την προσοχή σας!</a:t>
            </a:r>
            <a:br>
              <a:rPr lang="en-US" sz="4400" dirty="0"/>
            </a:br>
            <a:endParaRPr sz="4400" dirty="0"/>
          </a:p>
        </p:txBody>
      </p:sp>
      <p:pic>
        <p:nvPicPr>
          <p:cNvPr id="5" name="Google Shape;14213;p83">
            <a:hlinkClick r:id="rId3"/>
            <a:extLst>
              <a:ext uri="{FF2B5EF4-FFF2-40B4-BE49-F238E27FC236}">
                <a16:creationId xmlns:a16="http://schemas.microsoft.com/office/drawing/2014/main" id="{FC958742-C2BE-037A-842B-CBB5A01515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085" y="4091552"/>
            <a:ext cx="1422606" cy="617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ientific Research Thesis Defense by Slidesgo">
  <a:themeElements>
    <a:clrScheme name="Simple Light">
      <a:dk1>
        <a:srgbClr val="17235B"/>
      </a:dk1>
      <a:lt1>
        <a:srgbClr val="DCE5F5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5044</TotalTime>
  <Words>1343</Words>
  <Application>Microsoft Office PowerPoint</Application>
  <PresentationFormat>On-screen Show (16:9)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Manrope</vt:lpstr>
      <vt:lpstr>Archivo ExtraBold</vt:lpstr>
      <vt:lpstr>Nunito Light</vt:lpstr>
      <vt:lpstr>Archivo SemiBold</vt:lpstr>
      <vt:lpstr>Manrope Medium</vt:lpstr>
      <vt:lpstr>Wingdings</vt:lpstr>
      <vt:lpstr>Archivo</vt:lpstr>
      <vt:lpstr>Arial</vt:lpstr>
      <vt:lpstr>Scientific Research Thesis Defense by Slidesgo</vt:lpstr>
      <vt:lpstr>ΜΕΤΑΠΤΥΧΙΑΚΗ ΔΙΠΛΩΜΑΤΙΚΗ ΕΡΓΑΣΙΑ  Εφαρμογές Μηχανικής Μάθησης σε Μεταβολωμικά Δεδομένα  ΠΜΣ Εφαρμοσμένη Βιοπληροφορική και Ανάλυση Δεδομένων  Fluxomics · Μεταβολικά μοντέλα · Υπολογιστική ανάλυση </vt:lpstr>
      <vt:lpstr> Γενικό Υπόβαθρο Από τη Μεταβολωμική στη Fluxomics  Στη βιοχημεία, ένας μεταβολίτης είναι ένα ενδιάμεσο ή τελικό προϊόν του μεταβολισμού. Οι μεταβολίτες είναι μικρά μόρια που παράγονται ή καταναλώνονται στις βιοχημικές αντιδράσεις του κυττάρου.</vt:lpstr>
      <vt:lpstr>PowerPoint Presentation</vt:lpstr>
      <vt:lpstr>PowerPoint Presentation</vt:lpstr>
      <vt:lpstr>Στοιχειομετρική μήτρα S και FBA</vt:lpstr>
      <vt:lpstr>Σκοπός της εργασίας</vt:lpstr>
      <vt:lpstr>Υπολογιστική προσέγγιση - Μεθοδολογία</vt:lpstr>
      <vt:lpstr>Μεταβολικά μοντέλα του Escherichia coli iML1515 και iJO1366</vt:lpstr>
      <vt:lpstr>PowerPoint Presentation</vt:lpstr>
      <vt:lpstr>Αποτελέσματα iML1515: επίδραση θρεπτικού μέσου</vt:lpstr>
      <vt:lpstr>Ενεργές ροές και Αποκλεισμένες αντιδράσεις στο iML1515</vt:lpstr>
      <vt:lpstr>PowerPoint Presentation</vt:lpstr>
      <vt:lpstr>Σύγκριση iML1515 και iJO1366</vt:lpstr>
      <vt:lpstr>Βιβλιογραφική σύγκριση με δημοσιευμένα Fluxomics και ¹³C-MFA</vt:lpstr>
      <vt:lpstr>Σύνδεση με Μηχανική Μάθηση</vt:lpstr>
      <vt:lpstr>Συμπεράσματα και Περιορισμοί</vt:lpstr>
      <vt:lpstr>Ερωτήσεις;;</vt:lpstr>
      <vt:lpstr>Σας ευχαριστώ για την προσοχή σας!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Kiki Zippidou</dc:creator>
  <cp:lastModifiedBy>user4</cp:lastModifiedBy>
  <cp:revision>30</cp:revision>
  <dcterms:modified xsi:type="dcterms:W3CDTF">2026-09-08T07:57:14Z</dcterms:modified>
</cp:coreProperties>
</file>